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445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6583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80" dirty="0">
                <a:solidFill>
                  <a:srgbClr val="5DA69D"/>
                </a:solidFill>
              </a:rPr>
              <a:t>TX-OMICS REVISION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325880"/>
            <a:ext cx="7223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Seven gene sets.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auditable curation.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68096" y="3063240"/>
            <a:ext cx="6446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6E0E3"/>
                </a:solidFill>
              </a:rPr>
              <a:t>A concise record of the publication rules, pathway selection, identity checks, and overlap that produced the stocker-ready inputs.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909560" y="1353312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D96C4C"/>
          </a:solidFill>
          <a:ln w="1016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74152" y="151790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074152" y="207568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6E0E3"/>
                </a:solidFill>
              </a:rPr>
              <a:t>stocker CSVs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738360" y="1353312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1B3443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02952" y="151790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902952" y="207568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6E0E3"/>
                </a:solidFill>
              </a:rPr>
              <a:t>analysis families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09560" y="2862072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1B3443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74152" y="30266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74152" y="358444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6E0E3"/>
                </a:solidFill>
              </a:rPr>
              <a:t>primary sets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738360" y="2862072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1B3443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902952" y="30266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902952" y="358444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6E0E3"/>
                </a:solidFill>
              </a:rPr>
              <a:t>GO term sets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68096" y="6172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B0B8"/>
                </a:solidFill>
              </a:rPr>
              <a:t>Rosensweig–Shah 2026  ·  curation summary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LIBRARY 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19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curation families—analyzed separately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1612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Primary evidence sets and CSW-derived GO term–grouped sets use separate overlap analyses.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21792" y="15910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D96C4C"/>
                </a:solidFill>
              </a:rPr>
              <a:t>FAMILY 1  ·  PRIMARY CURATION SETS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" y="384962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D6F69"/>
                </a:solidFill>
              </a:rPr>
              <a:t>FAMILY 2  ·  CSW-DERIVED GO TERM–GROUPED SETS (FC0.5 / FC1)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745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E1DE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" y="1874520"/>
            <a:ext cx="100584" cy="1737360"/>
          </a:xfrm>
          <a:prstGeom prst="rect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20756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96C4C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6112" y="229514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6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1700784" y="24688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</a:rPr>
              <a:t>genes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96112" y="28346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Mechanistic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96112" y="312724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27A"/>
                </a:solidFill>
              </a:rPr>
              <a:t>Consistent/correlated; published effect fits homeostatic feedback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92424" y="18745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E1DE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92424" y="1874520"/>
            <a:ext cx="100584" cy="1737360"/>
          </a:xfrm>
          <a:prstGeom prst="rect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66744" y="20756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8A238"/>
                </a:solidFill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66744" y="229514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20</a:t>
            </a:r>
            <a:endParaRPr lang="en-US" sz="2900" dirty="0"/>
          </a:p>
        </p:txBody>
      </p:sp>
      <p:sp>
        <p:nvSpPr>
          <p:cNvPr id="19" name="Text 17"/>
          <p:cNvSpPr/>
          <p:nvPr/>
        </p:nvSpPr>
        <p:spPr>
          <a:xfrm>
            <a:off x="4471416" y="24688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</a:rPr>
              <a:t>genes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66744" y="28346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Homeostatic genes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666744" y="312724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27A"/>
                </a:solidFill>
              </a:rPr>
              <a:t>Opposing history ↔ rebound correlations: 15 + 5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63056" y="18745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E1DE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63056" y="1874520"/>
            <a:ext cx="100584" cy="1737360"/>
          </a:xfrm>
          <a:prstGeom prst="rect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37376" y="20756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D6F69"/>
                </a:solidFill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37376" y="229514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97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7242048" y="24688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</a:rPr>
              <a:t>genes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37376" y="28346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CSW 4+ genes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437376" y="312724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27A"/>
                </a:solidFill>
              </a:rPr>
              <a:t>Consistent in ≥4 of 7 datasets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933688" y="18745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E1DE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933688" y="1874520"/>
            <a:ext cx="100584" cy="1737360"/>
          </a:xfrm>
          <a:prstGeom prst="rect">
            <a:avLst/>
          </a:prstGeom>
          <a:solidFill>
            <a:srgbClr val="665C86"/>
          </a:solidFill>
          <a:ln w="12700">
            <a:solidFill>
              <a:srgbClr val="665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208008" y="20756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665C86"/>
                </a:solidFill>
              </a:rPr>
              <a:t>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08008" y="229514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4</a:t>
            </a:r>
            <a:endParaRPr lang="en-US" sz="2900" dirty="0"/>
          </a:p>
        </p:txBody>
      </p:sp>
      <p:sp>
        <p:nvSpPr>
          <p:cNvPr id="33" name="Text 31"/>
          <p:cNvSpPr/>
          <p:nvPr/>
        </p:nvSpPr>
        <p:spPr>
          <a:xfrm>
            <a:off x="10012680" y="24688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</a:rPr>
              <a:t>genes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208008" y="28346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HLH genes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208008" y="312724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27A"/>
                </a:solidFill>
              </a:rPr>
              <a:t>Potential upstream regulators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1792" y="4133088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E1DE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21792" y="4133088"/>
            <a:ext cx="100584" cy="1737360"/>
          </a:xfrm>
          <a:prstGeom prst="rect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96112" y="4334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96C4C"/>
                </a:solidFill>
              </a:rPr>
              <a:t>05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96112" y="455371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99</a:t>
            </a:r>
            <a:endParaRPr lang="en-US" sz="2900" dirty="0"/>
          </a:p>
        </p:txBody>
      </p:sp>
      <p:sp>
        <p:nvSpPr>
          <p:cNvPr id="40" name="Text 38"/>
          <p:cNvSpPr/>
          <p:nvPr/>
        </p:nvSpPr>
        <p:spPr>
          <a:xfrm>
            <a:off x="1700784" y="472744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</a:rPr>
              <a:t>genes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96112" y="509320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Ribosomal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96112" y="5385816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27A"/>
                </a:solidFill>
              </a:rPr>
              <a:t>DAVID term hits; approved keywords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392424" y="4133088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E1DE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392424" y="4133088"/>
            <a:ext cx="100584" cy="1737360"/>
          </a:xfrm>
          <a:prstGeom prst="rect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66744" y="4334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D6F69"/>
                </a:solidFill>
              </a:rPr>
              <a:t>06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66744" y="455371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167</a:t>
            </a:r>
            <a:endParaRPr lang="en-US" sz="2900" dirty="0"/>
          </a:p>
        </p:txBody>
      </p:sp>
      <p:sp>
        <p:nvSpPr>
          <p:cNvPr id="47" name="Text 45"/>
          <p:cNvSpPr/>
          <p:nvPr/>
        </p:nvSpPr>
        <p:spPr>
          <a:xfrm>
            <a:off x="4471416" y="472744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</a:rPr>
              <a:t>genes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666744" y="509320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Mitochondrial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3666744" y="5385816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27A"/>
                </a:solidFill>
              </a:rPr>
              <a:t>DAVID mito/metabolism term hits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163056" y="4133088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E1DE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163056" y="4133088"/>
            <a:ext cx="100584" cy="1737360"/>
          </a:xfrm>
          <a:prstGeom prst="rect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37376" y="4334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8A238"/>
                </a:solidFill>
              </a:rPr>
              <a:t>07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37376" y="455371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5</a:t>
            </a:r>
            <a:endParaRPr lang="en-US" sz="2900" dirty="0"/>
          </a:p>
        </p:txBody>
      </p:sp>
      <p:sp>
        <p:nvSpPr>
          <p:cNvPr id="54" name="Text 52"/>
          <p:cNvSpPr/>
          <p:nvPr/>
        </p:nvSpPr>
        <p:spPr>
          <a:xfrm>
            <a:off x="7242048" y="472744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</a:rPr>
              <a:t>genes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437376" y="509320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Immune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6437376" y="5385816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27A"/>
                </a:solidFill>
              </a:rPr>
              <a:t>DAVID immune / Toll / Imd term hits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8933688" y="4133088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208008" y="4334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DA69D"/>
                </a:solidFill>
              </a:rPr>
              <a:t>RULE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208008" y="46360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Keep them separate</a:t>
            </a:r>
            <a:endParaRPr lang="en-US" sz="1900" dirty="0"/>
          </a:p>
        </p:txBody>
      </p:sp>
      <p:sp>
        <p:nvSpPr>
          <p:cNvPr id="60" name="Text 58"/>
          <p:cNvSpPr/>
          <p:nvPr/>
        </p:nvSpPr>
        <p:spPr>
          <a:xfrm>
            <a:off x="9208008" y="5138928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7D4D8"/>
                </a:solidFill>
              </a:rPr>
              <a:t>Report overlap within each family—never as one seven-set comparison.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621792" y="65105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Rosensweig–Shah 2026  ·  flybase_gene_id is the membership key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CURATION PIPELINE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19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curation tracks converge on one controlled folder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1612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They share identity gates and file standards—but their overlap analyses remain separate.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F5DED6"/>
          </a:solidFill>
          <a:ln w="12700">
            <a:solidFill>
              <a:srgbClr val="F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80594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D96C4C"/>
                </a:solidFill>
              </a:rPr>
              <a:t>FAMILY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19072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Primary curation sets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58368" y="219456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" y="2395728"/>
            <a:ext cx="384048" cy="384048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" y="248716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16736" y="232257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Paper-defined evidence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154680" y="2478024"/>
            <a:ext cx="201168" cy="219456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0" y="219456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21024" y="2395728"/>
            <a:ext cx="384048" cy="384048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21024" y="248716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33088" y="232257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Apply four distinct rules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971032" y="2478024"/>
            <a:ext cx="201168" cy="219456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91072" y="219456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37376" y="2395728"/>
            <a:ext cx="384048" cy="384048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37376" y="248716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49440" y="232257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Resolve FlyBase identity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787384" y="2478024"/>
            <a:ext cx="201168" cy="219456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07424" y="219456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253728" y="2395728"/>
            <a:ext cx="384048" cy="384048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53728" y="248716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765792" y="232257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Publish sets 01–04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340156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DCEDE8"/>
          </a:solidFill>
          <a:ln w="12700">
            <a:solidFill>
              <a:srgbClr val="DCE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3232" y="345186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1D6F69"/>
                </a:solidFill>
              </a:rPr>
              <a:t>FAMILY 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719072" y="3419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GO term–grouped sets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58368" y="384048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04672" y="4041648"/>
            <a:ext cx="384048" cy="384048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04672" y="413308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316736" y="396849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CSW FC0.5 + FC1 tables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3154680" y="4123944"/>
            <a:ext cx="201168" cy="219456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474720" y="384048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21024" y="4041648"/>
            <a:ext cx="384048" cy="384048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21024" y="413308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133088" y="396849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GO/ DAVID · 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FDR ≤10%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5971032" y="4123944"/>
            <a:ext cx="201168" cy="219456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291072" y="384048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437376" y="4041648"/>
            <a:ext cx="384048" cy="384048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37376" y="413308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949440" y="396849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Filter genes by GO term keywords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787384" y="4123944"/>
            <a:ext cx="201168" cy="219456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107424" y="384048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253728" y="4041648"/>
            <a:ext cx="384048" cy="384048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253728" y="413308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765792" y="396849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Publish sets 05–07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640080" y="5257800"/>
            <a:ext cx="10917936" cy="841248"/>
          </a:xfrm>
          <a:prstGeom prst="roundRect">
            <a:avLst>
              <a:gd name="adj" fmla="val 8696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96112" y="54315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902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645920" y="54681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7D4D8"/>
                </a:solidFill>
              </a:rPr>
              <a:t>source observations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547872" y="54315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791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4297680" y="54681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7D4D8"/>
                </a:solidFill>
              </a:rPr>
              <a:t>unique source FBgns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199632" y="54315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A238"/>
                </a:solidFill>
              </a:rPr>
              <a:t>≥2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6949440" y="54681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7D4D8"/>
                </a:solidFill>
              </a:rPr>
              <a:t>minimum pathway frequency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851392" y="54315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9601200" y="54681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7D4D8"/>
                </a:solidFill>
              </a:rPr>
              <a:t>experiments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21792" y="65105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Thresholds remain separate: FC0.5 and FC1 are never collapsed into a max-frequency field.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SETS 01–02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19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Mechanistic and Homeostatic are different evidence categories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1612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six-gene functional set is distinct from the 20-gene opposing history–rebound correlation set.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1792" y="1691640"/>
            <a:ext cx="5321808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D7D8D2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938528"/>
            <a:ext cx="1572768" cy="292608"/>
          </a:xfrm>
          <a:prstGeom prst="roundRect">
            <a:avLst>
              <a:gd name="adj" fmla="val 25000"/>
            </a:avLst>
          </a:prstGeom>
          <a:solidFill>
            <a:srgbClr val="F5DED6"/>
          </a:solidFill>
          <a:ln w="12700">
            <a:solidFill>
              <a:srgbClr val="F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198882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D96C4C"/>
                </a:solidFill>
              </a:rPr>
              <a:t>SET 01  ·  6 GENES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6112" y="23957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</a:rPr>
              <a:t>Mechanistic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96112" y="2852928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6727A"/>
                </a:solidFill>
              </a:rPr>
              <a:t>Consistent or correlated sleep/wake genes with published effects in a direction consistent with potential homeostatic function.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3584448"/>
            <a:ext cx="4434840" cy="1499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Expression is consistent across conditions or correlated with sleep/wake history.</a:t>
            </a:r>
            <a:endParaRPr lang="en-US" sz="1400" dirty="0"/>
          </a:p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Published perturbation affects sleep/wake in a direction compatible with negative feedback.</a:t>
            </a:r>
            <a:endParaRPr lang="en-US" sz="1400" dirty="0"/>
          </a:p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paper highlights six such genes.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539496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D96C4C"/>
                </a:solidFill>
              </a:rPr>
              <a:t>unc79  ·  SIFa  ·  rumpel  ·  AstA-R2  ·  Trhn  ·  RpL23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36208" y="1691640"/>
            <a:ext cx="5321808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D7D8D2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10528" y="1938528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F4E8C9"/>
          </a:solidFill>
          <a:ln w="12700">
            <a:solidFill>
              <a:srgbClr val="F4E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198882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D8A238"/>
                </a:solidFill>
              </a:rPr>
              <a:t>SET 02  ·  20 GENES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10528" y="239572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</a:rPr>
              <a:t>Homeostatic genes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10528" y="299923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15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6510528" y="346557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27A"/>
                </a:solidFill>
              </a:rPr>
              <a:t>History+ / Rebound−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887968" y="299923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D96C4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3100" dirty="0"/>
          </a:p>
        </p:txBody>
      </p:sp>
      <p:sp>
        <p:nvSpPr>
          <p:cNvPr id="20" name="Text 18"/>
          <p:cNvSpPr/>
          <p:nvPr/>
        </p:nvSpPr>
        <p:spPr>
          <a:xfrm>
            <a:off x="8887968" y="346557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27A"/>
                </a:solidFill>
              </a:rPr>
              <a:t>History− / Rebound+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10528" y="4069080"/>
            <a:ext cx="4526280" cy="54864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0528" y="4315968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27A"/>
                </a:solidFill>
              </a:rPr>
              <a:t>Genes correlate with sleep/wake history before sampling and with rebound in the opposite direction afterward.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10528" y="49194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</a:rPr>
              <a:t>Identity correction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10528" y="5230368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Source row trh / FBgn0262139 is resolved from publication context to Trhn / FBgn0035187 (tryptophan hydroxylase). The wrong FBgn is never retained.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21792" y="65105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Rosensweig–Shah 2026  ·  flybase_gene_id is the membership key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SETS 03–04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19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CSW consistency and HLH regulation are separate categories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1612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Set 03 measures recurrence across seven datasets; Set 04 identifies potential upstream regulators.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1792" y="1700784"/>
            <a:ext cx="6812280" cy="4425696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10160">
            <a:solidFill>
              <a:srgbClr val="D7D8D2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947672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DCEDE8"/>
          </a:solidFill>
          <a:ln w="12700">
            <a:solidFill>
              <a:srgbClr val="DCE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199796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1D6F69"/>
                </a:solidFill>
              </a:rPr>
              <a:t>SET 03  ·  97 GENES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6112" y="23957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</a:rPr>
              <a:t>CSW 4+ genes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30449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97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914400" y="35112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27A"/>
                </a:solidFill>
              </a:rPr>
              <a:t>Current output · FC0.5 wake frequency 4–6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93008" y="304495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D96C4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3493008" y="351129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27A"/>
                </a:solidFill>
              </a:rPr>
              <a:t>also qualify at FC1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577840" y="30449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5577840" y="35112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27A"/>
                </a:solidFill>
              </a:rPr>
              <a:t>sleep genes at frequency 4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96112" y="43708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</a:rPr>
              <a:t>Category rule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" y="4736592"/>
            <a:ext cx="5870448" cy="11155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05740" indent="-205740">
              <a:buSzPct val="100000"/>
              <a:buChar char="•"/>
            </a:pPr>
            <a:r>
              <a:rPr lang="en-US" sz="1350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Consistent sleep/wake genes evident across four or more of seven datasets.</a:t>
            </a:r>
            <a:endParaRPr lang="en-US" sz="1350" dirty="0"/>
          </a:p>
          <a:p>
            <a:pPr marL="205740" indent="-205740">
              <a:buSzPct val="100000"/>
              <a:buChar char="•"/>
            </a:pPr>
            <a:r>
              <a:rPr lang="en-US" sz="1350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current output contains 97 FC0.5 wake genes; seven also qualify at FC1.</a:t>
            </a:r>
            <a:endParaRPr lang="en-US" sz="1350" dirty="0"/>
          </a:p>
          <a:p>
            <a:pPr marL="205740" indent="-205740">
              <a:buSzPct val="100000"/>
              <a:buChar char="•"/>
            </a:pPr>
            <a:r>
              <a:rPr lang="en-US" sz="1350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sleep-direction gene reaches frequency 4 in this run.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708392" y="1700784"/>
            <a:ext cx="3849624" cy="4425696"/>
          </a:xfrm>
          <a:prstGeom prst="roundRect">
            <a:avLst>
              <a:gd name="adj" fmla="val 1900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10144" y="1947672"/>
            <a:ext cx="1536192" cy="292608"/>
          </a:xfrm>
          <a:prstGeom prst="roundRect">
            <a:avLst>
              <a:gd name="adj" fmla="val 25000"/>
            </a:avLst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83296" y="1997964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FFFFFF"/>
                </a:solidFill>
              </a:rPr>
              <a:t>SET 04  ·  4 GENES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10144" y="241401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HLH genes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010144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CFDADD"/>
                </a:solidFill>
              </a:rPr>
              <a:t>Named in Results / Table S1 after HOMER identified a CAGCTG E-box upstream of wake-induced genes.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10144" y="40233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bigmax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46920" y="40233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1DC"/>
                </a:solidFill>
              </a:rPr>
              <a:t>FBgn0039509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10144" y="44165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HLH3B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646920" y="44165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1DC"/>
                </a:solidFill>
              </a:rPr>
              <a:t>FBgn0011276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10144" y="4809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E(spl)m3-HLH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646920" y="48097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1DC"/>
                </a:solidFill>
              </a:rPr>
              <a:t>FBgn0002609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10144" y="52029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E(spl)mbeta-HLH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646920" y="520293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1DC"/>
                </a:solidFill>
              </a:rPr>
              <a:t>FBgn0002733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1792" y="65105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Rosensweig–Shah 2026  ·  flybase_gene_id is the membership key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THRESHOLD PROVENANCE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19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CSW-derived GO term–grouped genes retain threshold provenance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1612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Each gene records its source as FC0.5, FC1, or both; only hits from approved FDR-passing terms enter sets 05–07.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682496"/>
            <a:ext cx="438912" cy="43891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79222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25296" y="17373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Submit four CSW masters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35808" y="1792224"/>
            <a:ext cx="164592" cy="182880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55848" y="1682496"/>
            <a:ext cx="438912" cy="43891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55848" y="179222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22776" y="17373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Keep FDR ≤10% terms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733288" y="1792224"/>
            <a:ext cx="164592" cy="182880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53328" y="1682496"/>
            <a:ext cx="438912" cy="43891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53328" y="179222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20256" y="17373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Review term keywords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30768" y="1792224"/>
            <a:ext cx="164592" cy="182880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50808" y="1682496"/>
            <a:ext cx="438912" cy="43891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750808" y="179222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17736" y="17373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Take hit FBgns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792" y="2487168"/>
            <a:ext cx="47731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0160">
            <a:solidFill>
              <a:srgbClr val="D7D8D2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2761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12B"/>
                </a:solidFill>
              </a:rPr>
              <a:t>GO term–grouped outputs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" y="327355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Mitochondrial / metabolism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971800" y="3300984"/>
            <a:ext cx="1764792" cy="256032"/>
          </a:xfrm>
          <a:prstGeom prst="roundRect">
            <a:avLst>
              <a:gd name="adj" fmla="val 2142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971800" y="3300984"/>
            <a:ext cx="1764792" cy="256032"/>
          </a:xfrm>
          <a:prstGeom prst="roundRect">
            <a:avLst>
              <a:gd name="adj" fmla="val 2142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18888" y="32644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6F69"/>
                </a:solidFill>
              </a:rPr>
              <a:t>167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98678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Ribosomal / translation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971800" y="4014216"/>
            <a:ext cx="1764792" cy="256032"/>
          </a:xfrm>
          <a:prstGeom prst="roundRect">
            <a:avLst>
              <a:gd name="adj" fmla="val 2142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971800" y="4014216"/>
            <a:ext cx="1046194" cy="256032"/>
          </a:xfrm>
          <a:prstGeom prst="roundRect">
            <a:avLst>
              <a:gd name="adj" fmla="val 21429"/>
            </a:avLst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18888" y="39776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6C4C"/>
                </a:solidFill>
              </a:rPr>
              <a:t>99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470001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Immune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971800" y="4727448"/>
            <a:ext cx="1764792" cy="256032"/>
          </a:xfrm>
          <a:prstGeom prst="roundRect">
            <a:avLst>
              <a:gd name="adj" fmla="val 2142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971800" y="4727448"/>
            <a:ext cx="137160" cy="256032"/>
          </a:xfrm>
          <a:prstGeom prst="roundRect">
            <a:avLst>
              <a:gd name="adj" fmla="val 40000"/>
            </a:avLst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18888" y="469087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8A238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4400" y="54681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6F69"/>
                </a:solidFill>
              </a:rPr>
              <a:t>All three outputs are wake-direction genes.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650992" y="2487168"/>
            <a:ext cx="5907024" cy="3310128"/>
          </a:xfrm>
          <a:prstGeom prst="roundRect">
            <a:avLst>
              <a:gd name="adj" fmla="val 2210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61888" y="2761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Threshold provenance · 240 unique FBgns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5961888" y="327355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DA69D"/>
                </a:solidFill>
              </a:rPr>
              <a:t>203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6839712" y="32918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FC0.5 only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357616" y="3291840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7D4D8"/>
                </a:solidFill>
              </a:rPr>
              <a:t>Ribosomal and mitochondrial dominate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961888" y="398678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96C4C"/>
                </a:solidFill>
              </a:rPr>
              <a:t>5</a:t>
            </a:r>
            <a:endParaRPr lang="en-US" sz="2500" dirty="0"/>
          </a:p>
        </p:txBody>
      </p:sp>
      <p:sp>
        <p:nvSpPr>
          <p:cNvPr id="42" name="Text 40"/>
          <p:cNvSpPr/>
          <p:nvPr/>
        </p:nvSpPr>
        <p:spPr>
          <a:xfrm>
            <a:off x="6839712" y="40050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FC1 only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357616" y="400507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7D4D8"/>
                </a:solidFill>
              </a:rPr>
              <a:t>BomBc2 · BomS1 · BomS2 · IM14 · Thor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961888" y="470001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8A238"/>
                </a:solidFill>
              </a:rPr>
              <a:t>32</a:t>
            </a:r>
            <a:endParaRPr lang="en-US" sz="2500" dirty="0"/>
          </a:p>
        </p:txBody>
      </p:sp>
      <p:sp>
        <p:nvSpPr>
          <p:cNvPr id="45" name="Text 43"/>
          <p:cNvSpPr/>
          <p:nvPr/>
        </p:nvSpPr>
        <p:spPr>
          <a:xfrm>
            <a:off x="6839712" y="471830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both thresholds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8357616" y="471830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7D4D8"/>
                </a:solidFill>
              </a:rPr>
              <a:t>FC1 ribosomal/mitochondrial genes are also at FC0.5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961888" y="5422392"/>
            <a:ext cx="5047488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961888" y="55412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A69D"/>
                </a:solidFill>
              </a:rPr>
              <a:t>Key takeaway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086600" y="5522976"/>
            <a:ext cx="3913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Only the five immune genes are FC1-exclusive.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621792" y="65105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Rosensweig–Shah 2026  ·  flybase_gene_id is the membership key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FLYBASE AUDIT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19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Identity resolution is conservative by design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1612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Current symbols can pass directly; ambiguous synonyms require biological context or a case-supported source match.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1792" y="1773936"/>
            <a:ext cx="7452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7824" y="2103120"/>
            <a:ext cx="804672" cy="292608"/>
          </a:xfrm>
          <a:prstGeom prst="roundRect">
            <a:avLst>
              <a:gd name="adj" fmla="val 25000"/>
            </a:avLst>
          </a:prstGeom>
          <a:solidFill>
            <a:srgbClr val="DCEDE8"/>
          </a:solidFill>
          <a:ln w="12700">
            <a:solidFill>
              <a:srgbClr val="DCE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50976" y="21534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1D6F69"/>
                </a:solidFill>
              </a:rPr>
              <a:t>PASS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20240" y="197510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212B"/>
                </a:solidFill>
              </a:rPr>
              <a:t>Trhn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063240" y="202082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6F69"/>
                </a:solidFill>
              </a:rPr>
              <a:t>FBgn0035187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53712" y="1993392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Current symbol · tryptophan hydroxylase neuronal · publication-resolved in Homeostatic.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" y="2980944"/>
            <a:ext cx="7452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7824" y="3310128"/>
            <a:ext cx="804672" cy="292608"/>
          </a:xfrm>
          <a:prstGeom prst="roundRect">
            <a:avLst>
              <a:gd name="adj" fmla="val 25000"/>
            </a:avLst>
          </a:prstGeom>
          <a:solidFill>
            <a:srgbClr val="F5DED6"/>
          </a:solidFill>
          <a:ln w="12700">
            <a:solidFill>
              <a:srgbClr val="F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0976" y="336042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D96C4C"/>
                </a:solidFill>
              </a:rPr>
              <a:t>REJECT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20240" y="31821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212B"/>
                </a:solidFill>
              </a:rPr>
              <a:t>trh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063240" y="322783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6C4C"/>
                </a:solidFill>
              </a:rPr>
              <a:t>FBgn0262139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53712" y="3200400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Current symbol · trachealess · must not enter any generated identity field for this publication row.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1792" y="4187952"/>
            <a:ext cx="7452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77824" y="4517136"/>
            <a:ext cx="804672" cy="292608"/>
          </a:xfrm>
          <a:prstGeom prst="roundRect">
            <a:avLst>
              <a:gd name="adj" fmla="val 25000"/>
            </a:avLst>
          </a:prstGeom>
          <a:solidFill>
            <a:srgbClr val="F4E8C9"/>
          </a:solidFill>
          <a:ln w="12700">
            <a:solidFill>
              <a:srgbClr val="F4E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50976" y="456742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D8A238"/>
                </a:solidFill>
              </a:rPr>
              <a:t>REVIEW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20240" y="43891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212B"/>
                </a:solidFill>
              </a:rPr>
              <a:t>Trh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063240" y="443484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8A238"/>
                </a:solidFill>
              </a:rPr>
              <a:t>ambiguous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53712" y="4407408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Synonym of Hn, Trhn, and trh · never auto-approved without biological context.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394192" y="1773936"/>
            <a:ext cx="3163824" cy="3401568"/>
          </a:xfrm>
          <a:prstGeom prst="roundRect">
            <a:avLst>
              <a:gd name="adj" fmla="val 2312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0" y="20756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Approval gates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686800" y="2697480"/>
            <a:ext cx="237744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0980" indent="-220980"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Exact current symbol</a:t>
            </a:r>
            <a:endParaRPr lang="en-US" sz="1450" dirty="0"/>
          </a:p>
          <a:p>
            <a:pPr marL="220980" indent="-220980"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Publication-supported correction</a:t>
            </a:r>
            <a:endParaRPr lang="en-US" sz="1450" dirty="0"/>
          </a:p>
          <a:p>
            <a:pPr marL="220980" indent="-220980"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Unique case-insensitive current-symbol match</a:t>
            </a:r>
            <a:endParaRPr lang="en-US" sz="1450" dirty="0"/>
          </a:p>
          <a:p>
            <a:pPr marL="220980" indent="-220980"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Otherwise: stop for review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686800" y="45902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A69D"/>
                </a:solidFill>
              </a:rPr>
              <a:t>Membership key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86800" y="4855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flybase_gene_id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21792" y="5513832"/>
            <a:ext cx="10936224" cy="566928"/>
          </a:xfrm>
          <a:prstGeom prst="roundRect">
            <a:avLst>
              <a:gd name="adj" fmla="val 12903"/>
            </a:avLst>
          </a:prstGeom>
          <a:solidFill>
            <a:srgbClr val="EEF2EF"/>
          </a:solidFill>
          <a:ln w="10160">
            <a:solidFill>
              <a:srgbClr val="D9E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96112" y="5687568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D6F69"/>
                </a:solidFill>
              </a:rPr>
              <a:t>Symbols are display labels. All overlap, deduplication, and set membership use FBgn only.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21792" y="65105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Rosensweig–Shah 2026  ·  flybase_gene_id is the membership key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PRIMARY-SET OVERLAP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19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Primary-set overlap is limited to three genes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1612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Mechanistic, Homeostatic genes, CSW 4+ genes, and HLH genes are compared only with one another.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1792" y="1700784"/>
            <a:ext cx="7059168" cy="4443984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0160">
            <a:solidFill>
              <a:srgbClr val="D7D8D2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993392"/>
            <a:ext cx="1389888" cy="804672"/>
          </a:xfrm>
          <a:prstGeom prst="roundRect">
            <a:avLst>
              <a:gd name="adj" fmla="val 9091"/>
            </a:avLst>
          </a:prstGeom>
          <a:solidFill>
            <a:srgbClr val="F8F7F2"/>
          </a:solidFill>
          <a:ln w="1016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42416" y="21488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6C4C"/>
                </a:solidFill>
              </a:rPr>
              <a:t>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2416" y="246888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</a:rPr>
              <a:t>Mechanistic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23744" y="1993392"/>
            <a:ext cx="1389888" cy="804672"/>
          </a:xfrm>
          <a:prstGeom prst="roundRect">
            <a:avLst>
              <a:gd name="adj" fmla="val 9091"/>
            </a:avLst>
          </a:prstGeom>
          <a:solidFill>
            <a:srgbClr val="F8F7F2"/>
          </a:solidFill>
          <a:ln w="1016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70048" y="21488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A238"/>
                </a:solidFill>
              </a:rPr>
              <a:t>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70048" y="246888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</a:rPr>
              <a:t>Homeostatic genes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51376" y="1993392"/>
            <a:ext cx="1389888" cy="804672"/>
          </a:xfrm>
          <a:prstGeom prst="roundRect">
            <a:avLst>
              <a:gd name="adj" fmla="val 9091"/>
            </a:avLst>
          </a:prstGeom>
          <a:solidFill>
            <a:srgbClr val="F8F7F2"/>
          </a:solidFill>
          <a:ln w="1016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0" y="21488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6F69"/>
                </a:solidFill>
              </a:rPr>
              <a:t>97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297680" y="246888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</a:rPr>
              <a:t>CSW 4+ genes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79008" y="1993392"/>
            <a:ext cx="1389888" cy="804672"/>
          </a:xfrm>
          <a:prstGeom prst="roundRect">
            <a:avLst>
              <a:gd name="adj" fmla="val 9091"/>
            </a:avLst>
          </a:prstGeom>
          <a:solidFill>
            <a:srgbClr val="F8F7F2"/>
          </a:solidFill>
          <a:ln w="1016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25312" y="21488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65C86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25312" y="246888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</a:rPr>
              <a:t>HLH genes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" y="31638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12B"/>
                </a:solidFill>
              </a:rPr>
              <a:t>Observed shared genes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96112" y="3639312"/>
            <a:ext cx="73152" cy="457200"/>
          </a:xfrm>
          <a:prstGeom prst="rect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365760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Mechanistic  ×  Homeostatic genes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315968" y="36301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6C4C"/>
                </a:solidFill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37760" y="367588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Trhn  ·  AstA-R2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96112" y="4297680"/>
            <a:ext cx="73152" cy="457200"/>
          </a:xfrm>
          <a:prstGeom prst="rect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43000" y="431596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Mechanistic  ×  CSW 4+ genes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315968" y="42885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6F69"/>
                </a:solidFill>
              </a:rPr>
              <a:t>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937760" y="433425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RpL23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96112" y="4956048"/>
            <a:ext cx="73152" cy="457200"/>
          </a:xfrm>
          <a:prstGeom prst="rect">
            <a:avLst/>
          </a:prstGeom>
          <a:solidFill>
            <a:srgbClr val="66727A"/>
          </a:solidFill>
          <a:ln w="12700">
            <a:solidFill>
              <a:srgbClr val="6672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43000" y="497433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All other pairings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315968" y="49469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6727A"/>
                </a:solidFill>
              </a:rPr>
              <a:t>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937760" y="499262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No shared FBgns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7973568" y="1700784"/>
            <a:ext cx="3584448" cy="4443984"/>
          </a:xfrm>
          <a:prstGeom prst="roundRect">
            <a:avLst>
              <a:gd name="adj" fmla="val 2041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302752" y="19933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Within Family 1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302752" y="267004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DA69D"/>
                </a:solidFill>
              </a:rPr>
              <a:t>124</a:t>
            </a:r>
            <a:endParaRPr lang="en-US" sz="2500" dirty="0"/>
          </a:p>
        </p:txBody>
      </p:sp>
      <p:sp>
        <p:nvSpPr>
          <p:cNvPr id="35" name="Text 33"/>
          <p:cNvSpPr/>
          <p:nvPr/>
        </p:nvSpPr>
        <p:spPr>
          <a:xfrm>
            <a:off x="9272016" y="272491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4DFE2"/>
                </a:solidFill>
              </a:rPr>
              <a:t>unique FBgns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02752" y="332841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96C4C"/>
                </a:solidFill>
              </a:rPr>
              <a:t>121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9272016" y="338328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4DFE2"/>
                </a:solidFill>
              </a:rPr>
              <a:t>in exactly one set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02752" y="398678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96C4C"/>
                </a:solidFill>
              </a:rPr>
              <a:t>3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9272016" y="404164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4DFE2"/>
                </a:solidFill>
              </a:rPr>
              <a:t>in exactly two sets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302752" y="464515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96C4C"/>
                </a:solidFill>
              </a:rPr>
              <a:t>0</a:t>
            </a:r>
            <a:endParaRPr lang="en-US" sz="2500" dirty="0"/>
          </a:p>
        </p:txBody>
      </p:sp>
      <p:sp>
        <p:nvSpPr>
          <p:cNvPr id="41" name="Text 39"/>
          <p:cNvSpPr/>
          <p:nvPr/>
        </p:nvSpPr>
        <p:spPr>
          <a:xfrm>
            <a:off x="9272016" y="470001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4DFE2"/>
                </a:solidFill>
              </a:rPr>
              <a:t>in three or four sets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302752" y="5413248"/>
            <a:ext cx="2670048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302752" y="559612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HLH is fully disjoint from the other primary sets.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21792" y="65105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Rosensweig–Shah 2026  ·  flybase_gene_id is the membership key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GO OVERLAP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19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 term–grouped overlap is confined to ribosomal × mitochondrial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1612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three pathway buckets are compared only within Family 2; threshold provenance remains a separate attribute.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1792" y="1700784"/>
            <a:ext cx="7315200" cy="4443984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0160">
            <a:solidFill>
              <a:srgbClr val="D7D8D2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93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12B"/>
                </a:solidFill>
              </a:rPr>
              <a:t>GO term–group membership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852160" y="202996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6727A"/>
                </a:solidFill>
              </a:rPr>
              <a:t>Schematic · counts shown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15568" y="2505456"/>
            <a:ext cx="2907792" cy="2907792"/>
          </a:xfrm>
          <a:prstGeom prst="ellipse">
            <a:avLst/>
          </a:prstGeom>
          <a:solidFill>
            <a:srgbClr val="D96C4C">
              <a:alpha val="76000"/>
            </a:srgbClr>
          </a:solidFill>
          <a:ln w="1778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82112" y="2505456"/>
            <a:ext cx="2907792" cy="2907792"/>
          </a:xfrm>
          <a:prstGeom prst="ellipse">
            <a:avLst/>
          </a:prstGeom>
          <a:solidFill>
            <a:srgbClr val="1D6F69">
              <a:alpha val="76000"/>
            </a:srgbClr>
          </a:solidFill>
          <a:ln w="1778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27648" y="3182112"/>
            <a:ext cx="1005840" cy="1005840"/>
          </a:xfrm>
          <a:prstGeom prst="ellipse">
            <a:avLst/>
          </a:prstGeom>
          <a:solidFill>
            <a:srgbClr val="D8A238">
              <a:alpha val="88000"/>
            </a:srgbClr>
          </a:solidFill>
          <a:ln w="1524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82496" y="355701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212B"/>
                </a:solidFill>
              </a:rPr>
              <a:t>68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64408" y="355701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212B"/>
                </a:solidFill>
              </a:rPr>
              <a:t>31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18888" y="355701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212B"/>
                </a:solidFill>
              </a:rPr>
              <a:t>136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547104" y="349300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12B"/>
                </a:solidFill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99616" y="5349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6C4C"/>
                </a:solidFill>
              </a:rPr>
              <a:t>Ribosomal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D96C4C"/>
                </a:solidFill>
              </a:rPr>
              <a:t>99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98848" y="5349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6F69"/>
                </a:solidFill>
              </a:rPr>
              <a:t>Mitochondrial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D6F69"/>
                </a:solidFill>
              </a:rPr>
              <a:t>167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55080" y="431596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8A238"/>
                </a:solidFill>
              </a:rPr>
              <a:t>Immune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D8A238"/>
                </a:solidFill>
              </a:rPr>
              <a:t>5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2688" y="5806440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D6F69"/>
                </a:solidFill>
              </a:rPr>
              <a:t>240 unique FBgns in Family 2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0" y="1700784"/>
            <a:ext cx="3328416" cy="4443984"/>
          </a:xfrm>
          <a:prstGeom prst="roundRect">
            <a:avLst>
              <a:gd name="adj" fmla="val 2198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40496" y="1993392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What the overlap means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540496" y="2761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96C4C"/>
                </a:solidFill>
              </a:rPr>
              <a:t>31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9253728" y="2779776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4DFE2"/>
                </a:solidFill>
              </a:rPr>
              <a:t>genes occur in both ribosomal and mitochondrial buckets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40496" y="3566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DA69D"/>
                </a:solidFill>
              </a:rPr>
              <a:t>5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9253728" y="3584448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4DFE2"/>
                </a:solidFill>
              </a:rPr>
              <a:t>immune genes are fully disjoint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40496" y="43708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DA69D"/>
                </a:solidFill>
              </a:rPr>
              <a:t>0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9253728" y="4389120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4DFE2"/>
                </a:solidFill>
              </a:rPr>
              <a:t>immune overlaps with either other GO bucket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540496" y="5285232"/>
            <a:ext cx="2432304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540496" y="5468112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The 31-gene overlap is intentional: mitochondrial translation terms match both keyword groups.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21792" y="65105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cross-family overlap is shown: Family 1 and Family 2 answer different curation questions.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6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DA69D"/>
                </a:solidFill>
              </a:rPr>
              <a:t>STOCKER HANDOFF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contract is simple—and strict.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664208"/>
            <a:ext cx="2487168" cy="1261872"/>
          </a:xfrm>
          <a:prstGeom prst="roundRect">
            <a:avLst>
              <a:gd name="adj" fmla="val 5797"/>
            </a:avLst>
          </a:prstGeom>
          <a:solidFill>
            <a:srgbClr val="D96C4C"/>
          </a:solidFill>
          <a:ln w="1016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7824" y="189280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63040" y="1865376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6E0E3"/>
                </a:solidFill>
              </a:rPr>
              <a:t>Exactly seven CSVs in the discovery folder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1664208"/>
            <a:ext cx="2487168" cy="1261872"/>
          </a:xfrm>
          <a:prstGeom prst="roundRect">
            <a:avLst>
              <a:gd name="adj" fmla="val 5797"/>
            </a:avLst>
          </a:prstGeom>
          <a:solidFill>
            <a:srgbClr val="1A3442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48456" y="189280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233672" y="1865376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6E0E3"/>
                </a:solidFill>
              </a:rPr>
              <a:t>Required keys: ext_gene and flybase_gene_id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664208"/>
            <a:ext cx="2487168" cy="1261872"/>
          </a:xfrm>
          <a:prstGeom prst="roundRect">
            <a:avLst>
              <a:gd name="adj" fmla="val 5797"/>
            </a:avLst>
          </a:prstGeom>
          <a:solidFill>
            <a:srgbClr val="1A3442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19088" y="189280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004304" y="1865376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6E0E3"/>
                </a:solidFill>
              </a:rPr>
              <a:t>No overlap, GO, or audit CSVs beside the inputs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35440" y="804672"/>
            <a:ext cx="2304288" cy="4224528"/>
          </a:xfrm>
          <a:prstGeom prst="roundRect">
            <a:avLst>
              <a:gd name="adj" fmla="val 3175"/>
            </a:avLst>
          </a:prstGeom>
          <a:solidFill>
            <a:srgbClr val="F7F3EA"/>
          </a:solidFill>
          <a:ln w="10160">
            <a:solidFill>
              <a:srgbClr val="F7F3EA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28048" y="10972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12B"/>
                </a:solidFill>
              </a:rPr>
              <a:t>Seven inputs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528048" y="1645920"/>
            <a:ext cx="164592" cy="164592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20656" y="161848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01  Mechanistic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528048" y="2066544"/>
            <a:ext cx="164592" cy="164592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20656" y="203911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02  Homeostatic genes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528048" y="2487168"/>
            <a:ext cx="164592" cy="164592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20656" y="24597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03  CSW 4+ genes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528048" y="2907792"/>
            <a:ext cx="164592" cy="164592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820656" y="288036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04  HLH genes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528048" y="3328416"/>
            <a:ext cx="164592" cy="16459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820656" y="330098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05  Ribosomal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528048" y="3749040"/>
            <a:ext cx="164592" cy="16459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820656" y="372160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06  Mitochondrial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528048" y="4169664"/>
            <a:ext cx="164592" cy="16459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820656" y="414223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07  Immune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8368" y="33467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5DA69D"/>
                </a:solidFill>
              </a:rPr>
              <a:t>RUN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" y="3675888"/>
            <a:ext cx="8165592" cy="1078992"/>
          </a:xfrm>
          <a:prstGeom prst="roundRect">
            <a:avLst>
              <a:gd name="adj" fmla="val 5085"/>
            </a:avLst>
          </a:prstGeom>
          <a:solidFill>
            <a:srgbClr val="0A1821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32688" y="3977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7E3E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python -m fl_ai_reagent_stocker run ./data/gene_sets/Tx-Omics_Revision/ \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E3E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 --config ./data/config/stock_split_config_priority_example.json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8368" y="52303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6C4C"/>
                </a:solidFill>
              </a:rPr>
              <a:t>Stability rule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057400" y="52120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6E0E3"/>
                </a:solidFill>
              </a:rPr>
              <a:t>Discovery is recursive: every extra *.csv changes the run. Keep analysis outputs elsewhere.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" y="64556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6AF"/>
                </a:solidFill>
              </a:rPr>
              <a:t>Rosensweig–Shah 2026  ·  Tx-Omics Revision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1296</Words>
  <Application>Microsoft Macintosh PowerPoint</Application>
  <PresentationFormat>Widescreen</PresentationFormat>
  <Paragraphs>290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Avenir Next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Tx-Omics Revision — Gene-set curation</dc:title>
  <dc:subject>Tx-Omics Revision gene-set curation</dc:subject>
  <dc:creator>fl.ai</dc:creator>
  <cp:lastModifiedBy>Shah, Aadish</cp:lastModifiedBy>
  <cp:revision>4</cp:revision>
  <dcterms:created xsi:type="dcterms:W3CDTF">2026-08-12T23:11:50Z</dcterms:created>
  <dcterms:modified xsi:type="dcterms:W3CDTF">2026-08-13T14:20:06Z</dcterms:modified>
</cp:coreProperties>
</file>