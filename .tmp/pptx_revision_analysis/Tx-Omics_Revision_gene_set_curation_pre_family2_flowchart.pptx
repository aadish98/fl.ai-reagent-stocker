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464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658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80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TX-OMICS REVISION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53312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gene sets.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clear definitions.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8096" y="3090672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captures four primary evidence categories. Family 2 contains three CSW-derived GO term groups, with FC0.5 and FC1 provenance shown separately.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1389888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DC6B4D"/>
          </a:solidFill>
          <a:ln w="1016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74152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074152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sets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738360" y="1389888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2952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902952" y="2121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GO-derived 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09560" y="2871216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74152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074152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38360" y="2871216"/>
            <a:ext cx="1572768" cy="1207008"/>
          </a:xfrm>
          <a:prstGeom prst="roundRect">
            <a:avLst>
              <a:gd name="adj" fmla="val 5303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2952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9902952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6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stocker CSVs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CURATION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families, seven non-interchangeable 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set now receives one slide; overlap is reported separately within each family.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2180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2578608" cy="310896"/>
          </a:xfrm>
          <a:prstGeom prst="roundRect">
            <a:avLst>
              <a:gd name="adj" fmla="val 23529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2395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PRIMARY EVIDENCE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791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2606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2084832" y="26609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75888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Consistent/correlated + published homeostatic-consistent effect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31927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084832" y="337413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Homeostatic genes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75888" y="33649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Opposing history versus rebound correlations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10565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89888" y="40325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084832" y="408736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 4+ genes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75888" y="4078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in four or more of seven datasets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2688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89888" y="47457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084832" y="4800600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75888" y="4791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Potential upstream regulators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36208" y="1810512"/>
            <a:ext cx="5303520" cy="4315968"/>
          </a:xfrm>
          <a:prstGeom prst="roundRect">
            <a:avLst>
              <a:gd name="adj" fmla="val 1483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10528" y="2084832"/>
            <a:ext cx="2615184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01968" y="2157984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CSW-DERIVED GO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10528" y="27614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67728" y="26700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863840" y="27340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21824" y="27340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99  ·  FC1 12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3675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35844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7863840" y="36484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021824" y="36484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FC0.5 167  ·  FC1 23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10528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67728" y="4498848"/>
            <a:ext cx="786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7863840" y="45628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21824" y="45628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AE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0  ·  FC1 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510528" y="5522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and FC1 counts are GO-report provenance; a gene may be assigned by both reports.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· 6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or correlated sleep/wake genes with published effects compatible with homeostatic feedback.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749040" cy="4315968"/>
          </a:xfrm>
          <a:prstGeom prst="roundRect">
            <a:avLst>
              <a:gd name="adj" fmla="val 170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paper-highlighted genes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Inclusion requires transcriptomic evidence plus published sleep/wake function.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858768"/>
            <a:ext cx="3090672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4133088"/>
            <a:ext cx="3072384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across sleep/wake conditions or correlated with sleep/wake history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Published perturbation changes sleep/wake</a:t>
            </a:r>
            <a:endParaRPr lang="en-US" sz="1400" dirty="0"/>
          </a:p>
          <a:p>
            <a:pPr marL="213360" indent="-21336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Effect direction fits a potential homeostatic loop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36592" y="193852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5192" y="21214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unc79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65192" y="250545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NALCN complex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19872" y="193852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8472" y="21214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SIFa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48472" y="250545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neuropeptide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36592" y="317296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65192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rumpel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65192" y="373989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glial transporter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19872" y="317296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48472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AstA-R2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48472" y="373989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neuropeptide receptor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36592" y="440740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65192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Trhn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965192" y="497433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serotonin synthesis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119872" y="4407408"/>
            <a:ext cx="3054096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48472" y="4590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RpL23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48472" y="497433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ribosome / translation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736592" y="5669280"/>
            <a:ext cx="6437376" cy="457200"/>
          </a:xfrm>
          <a:prstGeom prst="roundRect">
            <a:avLst>
              <a:gd name="adj" fmla="val 14000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10912" y="5806440"/>
            <a:ext cx="5888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These six are not the 20 opposing history–rebound correlation genes.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Homeostatic genes · 20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correlated with pre-sampling sleep/wake history and post-sampling rebound in the opposite direction.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063240" cy="4315968"/>
          </a:xfrm>
          <a:prstGeom prst="roundRect">
            <a:avLst>
              <a:gd name="adj" fmla="val 209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76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History+ / Rebound−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Positive correlation with prior sleep; negative correlation with rebound.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9264" y="4133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69264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History− / Rebound+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5047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Negative correlation with prior sleep; positive correlation with rebound.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05072" y="1810512"/>
            <a:ext cx="7534656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2084832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F4E8C9"/>
          </a:solidFill>
          <a:ln w="1270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2157984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  ·  HISTORY+ / REBOUND−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0" y="2651760"/>
            <a:ext cx="6912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AstA-R2  ·  bumpel  ·  CG33080  ·  CG41378  ·  CG7460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CG7601  ·  Chrac-14  ·  Cyp28c1  ·  dpr21  ·  kumpel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Obp44a  ·  Sk1  ·  Ssk  ·  Trhn  ·  VGlut2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005072" y="4498848"/>
            <a:ext cx="7534656" cy="1627632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4773168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0" y="484632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 ·  HISTORY− / REBOUND+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0" y="5413248"/>
            <a:ext cx="683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CG42323  ·  CG7079  ·  CG9313  ·  CG9377  ·  Gtpbp1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 4+ genes · 97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Consistent sleep/wake genes evident across four or more of the seven datasets.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657600" cy="4315968"/>
          </a:xfrm>
          <a:prstGeom prst="roundRect">
            <a:avLst>
              <a:gd name="adj" fmla="val 175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7627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9264" y="27797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wake genes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category rule is recurrence across datasets—not GO enrichment.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9264" y="3877056"/>
            <a:ext cx="292608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415137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69264" y="4754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also qualify at FC1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50657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seven are already contained within the 97-gene FC0.5 set.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08576" y="1810512"/>
            <a:ext cx="6931152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Recurrence across seven datasets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1947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55280" y="2779776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0" y="2779776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607040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19472" y="34198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55280" y="3438144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55280" y="3438144"/>
            <a:ext cx="434005" cy="246888"/>
          </a:xfrm>
          <a:prstGeom prst="roundRect">
            <a:avLst>
              <a:gd name="adj" fmla="val 18519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07040" y="3410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19472" y="40782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Frequency 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0" y="4096512"/>
            <a:ext cx="2542032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55280" y="4096512"/>
            <a:ext cx="91440" cy="246888"/>
          </a:xfrm>
          <a:prstGeom prst="roundRect">
            <a:avLst>
              <a:gd name="adj" fmla="val 50000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07040" y="4069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919472" y="4974336"/>
            <a:ext cx="6053328" cy="822960"/>
          </a:xfrm>
          <a:prstGeom prst="roundRect">
            <a:avLst>
              <a:gd name="adj" fmla="val 7778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523036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sleep-upregulated gene met the ≥4-of-7 recurrence criterion.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SET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 · 4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bHLH factors identified as potential upstream regulators of wake-induced gene expression.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22192" cy="4315968"/>
          </a:xfrm>
          <a:prstGeom prst="roundRect">
            <a:avLst>
              <a:gd name="adj" fmla="val 1675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0976" y="210312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2416" y="2176272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REGULATORY LOGIC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50976" y="27432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CAGCTG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50976" y="340156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E-box enriched upstream of wake-induced genes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0976" y="4224528"/>
            <a:ext cx="420624" cy="365760"/>
          </a:xfrm>
          <a:prstGeom prst="chevron">
            <a:avLst/>
          </a:prstGeom>
          <a:solidFill>
            <a:srgbClr val="67AFA6"/>
          </a:solidFill>
          <a:ln w="12700">
            <a:solidFill>
              <a:srgbClr val="67A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72768" y="419709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HOMER motif enrichment → candidate direct regulators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0976" y="52486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Results · Table S1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9744" y="204825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23042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bigmax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29200" y="27980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FBgn0039509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74736" y="204825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23042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HLH3B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4192" y="279806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FBgn0011276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9744" y="360273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3858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E(spl)m3-HLH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29200" y="4352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FBgn0002609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74736" y="3602736"/>
            <a:ext cx="301752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94192" y="3858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E(spl)mbeta-HLH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394192" y="4352544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FBgn0002733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9744" y="5285232"/>
            <a:ext cx="6382512" cy="640080"/>
          </a:xfrm>
          <a:prstGeom prst="roundRect">
            <a:avLst>
              <a:gd name="adj" fmla="val 10000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02352" y="5477256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set is regulatory evidence—not frequency or correlation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/ translation · 99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GO-report assignment is shown here; experiment-level FC0.5 and FC1 regulation is shown on slide 12.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ASSIGNMENT 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47088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542032" y="3831336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4325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542032" y="4398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47088" y="48920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542032" y="4965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assigned by both reports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 FC0.5 + 12 FC1 − 12 both = 99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2103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frequent approved terms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0235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43616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02352" y="32918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Structural constituent of ribosome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310128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38160" y="3310128"/>
            <a:ext cx="2369967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43616" y="3282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92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02352" y="38221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Translation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840480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1983560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643616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77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02352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Cytoplasmic translation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38160" y="4370832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38160" y="4370832"/>
            <a:ext cx="1674434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43616" y="4343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102352" y="488289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Cytosolic ribosome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4901184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38160" y="4901184"/>
            <a:ext cx="1494110" cy="246888"/>
          </a:xfrm>
          <a:prstGeom prst="roundRect">
            <a:avLst>
              <a:gd name="adj" fmla="val 1851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43616" y="4873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58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102352" y="5559552"/>
            <a:ext cx="5907024" cy="402336"/>
          </a:xfrm>
          <a:prstGeom prst="roundRect">
            <a:avLst>
              <a:gd name="adj" fmla="val 15909"/>
            </a:avLst>
          </a:prstGeom>
          <a:solidFill>
            <a:srgbClr val="F5DED6"/>
          </a:solidFill>
          <a:ln w="1016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0096" y="5669280"/>
            <a:ext cx="5431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87 FC0.5-GO-only  ·  0 FC1-GO-only  ·  12 in both GO reports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/ metabolism · 167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GO-report assignment is shown here; experiment-level FC0.5 and FC1 regulation is shown on slide 13.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ASSIGNMENT 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47088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542032" y="3831336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4325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542032" y="4398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47088" y="48920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542032" y="4965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assigned by both reports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167 FC0.5 + 23 FC1 − 23 both = 167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2103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frequent approved terms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02352" y="2761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38160" y="2779776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43616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02352" y="32918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inner membrane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310128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38160" y="3310128"/>
            <a:ext cx="1425557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43616" y="3282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72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02352" y="38221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Oxidative phosphorylation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38160" y="3840480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910773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643616" y="38130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46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02352" y="4352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translation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38160" y="4370832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38160" y="4370832"/>
            <a:ext cx="593982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43616" y="4343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30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102352" y="488289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matrix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138160" y="4901184"/>
            <a:ext cx="2395728" cy="246888"/>
          </a:xfrm>
          <a:prstGeom prst="roundRect">
            <a:avLst>
              <a:gd name="adj" fmla="val 1851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38160" y="4901184"/>
            <a:ext cx="475186" cy="246888"/>
          </a:xfrm>
          <a:prstGeom prst="roundRect">
            <a:avLst>
              <a:gd name="adj" fmla="val 1851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643616" y="4873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24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102352" y="5559552"/>
            <a:ext cx="5907024" cy="402336"/>
          </a:xfrm>
          <a:prstGeom prst="roundRect">
            <a:avLst>
              <a:gd name="adj" fmla="val 15909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0096" y="5669280"/>
            <a:ext cx="54315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144 FC0.5-GO-only  ·  0 FC1-GO-only  ·  23 in both GO reports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 · 5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set was assigned from FC1 GO enrichment; all five genes also meet FC0.5 regulation criteria.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3840480" cy="4370832"/>
          </a:xfrm>
          <a:prstGeom prst="roundRect">
            <a:avLst>
              <a:gd name="adj" fmla="val 1667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84832"/>
            <a:ext cx="1975104" cy="310896"/>
          </a:xfrm>
          <a:prstGeom prst="roundRect">
            <a:avLst>
              <a:gd name="adj" fmla="val 23529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57984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ASSIGNMENT SOURCE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15184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32688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genes in this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382219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47088" y="375818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542032" y="3831336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389120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47088" y="432511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542032" y="4398264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assigned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956048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47088" y="48920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542032" y="4965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assigned by both reports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2688" y="5596128"/>
            <a:ext cx="3246120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57698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FC0.5 + 5 FC1 − 0 both = 5 unique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1810512"/>
            <a:ext cx="6748272" cy="4370832"/>
          </a:xfrm>
          <a:prstGeom prst="roundRect">
            <a:avLst>
              <a:gd name="adj" fmla="val 146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2103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Five genes assigned by the FC1 GO report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5102352" y="2761488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22976" y="27432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BomBc2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102352" y="3291840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2976" y="3273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BomS1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02352" y="3822192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22976" y="3803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BomS2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102352" y="4352544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22976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IM14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102352" y="4882896"/>
            <a:ext cx="256032" cy="256032"/>
          </a:xfrm>
          <a:prstGeom prst="ellipse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22976" y="48646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Thor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26680" y="21031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Approved GO terms · genes per term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7726680" y="2816352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10144" y="277977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Defense response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351008" y="27797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7726680" y="3511296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10144" y="347472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Antibacterial humoral response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351008" y="347472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726680" y="4206240"/>
            <a:ext cx="109728" cy="256032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10144" y="4169664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Response to bacterium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351008" y="41696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726680" y="473659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Genes may occur in more than one approved term.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726680" y="5175504"/>
            <a:ext cx="3264408" cy="640080"/>
          </a:xfrm>
          <a:prstGeom prst="roundRect">
            <a:avLst>
              <a:gd name="adj" fmla="val 10000"/>
            </a:avLst>
          </a:prstGeom>
          <a:solidFill>
            <a:srgbClr val="F4E8C9"/>
          </a:solidFill>
          <a:ln w="1016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18704" y="53766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9A6E1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FC0.5-GO-only  ·  5 FC1-GO-only  ·  0 in both reports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three genes cross primary-set boundaries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Overlap is calculated among Mechanistic, Homeostatic, CSW 4+, and HLH only.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6894576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103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Observed shared genes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9264" y="2779776"/>
            <a:ext cx="73152" cy="530352"/>
          </a:xfrm>
          <a:prstGeom prst="rect">
            <a:avLst/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43584" y="2834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× Homeostatic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224528" y="27614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Trhn  ·  AstA-R2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9264" y="3602736"/>
            <a:ext cx="73152" cy="530352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43584" y="3657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 × CSW 4+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224528" y="358444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RpL23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69264" y="4425696"/>
            <a:ext cx="73152" cy="530352"/>
          </a:xfrm>
          <a:prstGeom prst="rect">
            <a:avLst/>
          </a:prstGeom>
          <a:solidFill>
            <a:srgbClr val="5E6971"/>
          </a:solidFill>
          <a:ln w="12700">
            <a:solidFill>
              <a:srgbClr val="5E69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43584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other pairings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24528" y="44074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shared FBgns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845552" y="1810512"/>
            <a:ext cx="3694176" cy="4315968"/>
          </a:xfrm>
          <a:prstGeom prst="roundRect">
            <a:avLst>
              <a:gd name="adj" fmla="val 1733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74736" y="2103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union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174736" y="27432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162288" y="279806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unique FBgns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174736" y="3383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121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162288" y="343814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exactly one set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174736" y="4023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162288" y="40782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exactly two sets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74736" y="4663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9162288" y="47183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5E0E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three or four sets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174736" y="5504688"/>
            <a:ext cx="2852928" cy="402336"/>
          </a:xfrm>
          <a:prstGeom prst="roundRect">
            <a:avLst>
              <a:gd name="adj" fmla="val 15909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75904" y="5614416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HLH genes are fully disjoint.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GO-derived union contains 240 unique genes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 ribosomal + 167 mitochondrial + 5 immune − 31 shared ribosomal/mitochondrial genes = 240 unique FBgns.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6858000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Venn diagram showing 68 ribosomal-only, 31 shared ribosomal and mitochondrial, 136 mitochondrial-only, and 5 immune-only gen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02092" y="1883664"/>
            <a:ext cx="4979171" cy="34930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2688" y="5559552"/>
            <a:ext cx="6309360" cy="384048"/>
          </a:xfrm>
          <a:prstGeom prst="roundRect">
            <a:avLst>
              <a:gd name="adj" fmla="val 16667"/>
            </a:avLst>
          </a:prstGeom>
          <a:solidFill>
            <a:srgbClr val="DCEDE8"/>
          </a:solidFill>
          <a:ln w="1016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33856" y="5660136"/>
            <a:ext cx="59070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240 = union of Ribosomal, Mitochondrial and Immune genes; each FBgn counted once.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08976" y="1810512"/>
            <a:ext cx="3730752" cy="4315968"/>
          </a:xfrm>
          <a:prstGeom prst="roundRect">
            <a:avLst>
              <a:gd name="adj" fmla="val 1716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103120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GO-assignment provenance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across the 240-gene union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138160" y="305409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67AFA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203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9125712" y="313639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GO only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38160" y="387705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32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9125712" y="395935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both GO reports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38160" y="470001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900" dirty="0"/>
          </a:p>
        </p:txBody>
      </p:sp>
      <p:sp>
        <p:nvSpPr>
          <p:cNvPr id="17" name="Text 14"/>
          <p:cNvSpPr/>
          <p:nvPr/>
        </p:nvSpPr>
        <p:spPr>
          <a:xfrm>
            <a:off x="9125712" y="478231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GO only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38160" y="5577840"/>
            <a:ext cx="2761488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138160" y="574243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Only the five Immune genes are assigned by FC1 GO alone.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05  ·  EXPERIMENTS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Ribosomal / translation · experiment-level regulation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Within each threshold-responsive subset, bars show genes with logFC &gt; threshold and q &lt; 0.05 per experiment; genes may appear in multiple bars.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 ·  N=99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942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49424" y="2670048"/>
            <a:ext cx="929030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40 · 40%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4942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49424" y="3099816"/>
            <a:ext cx="1602577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001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68 · 69%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4942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49424" y="3529584"/>
            <a:ext cx="227612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1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 · 98%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4942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49424" y="3959352"/>
            <a:ext cx="1114836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001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48 · 48%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4942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001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24942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49424" y="4818888"/>
            <a:ext cx="58064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001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 · 25%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24942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249424" y="5248656"/>
            <a:ext cx="859353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001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37 · 37%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268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3620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1052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0196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 ·  N=12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1052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82726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827264" y="2670048"/>
            <a:ext cx="1927738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27785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· 83%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1052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82726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827264" y="3099816"/>
            <a:ext cx="975482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27785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· 42%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1052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27785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· 100%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1052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782726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827264" y="3959352"/>
            <a:ext cx="975482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27785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· 42%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1052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782726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27785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1052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82726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27785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1052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782726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27785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51052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58368" y="6016752"/>
            <a:ext cx="10881360" cy="457200"/>
          </a:xfrm>
          <a:prstGeom prst="roundRect">
            <a:avLst>
              <a:gd name="adj" fmla="val 140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32688" y="6144768"/>
            <a:ext cx="10332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MechSD6 regulates 97/99 FC0.5-responsive genes and all 12 FC1-responsive genes; FC1 signal is mechanical-deprivation focused.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06  ·  EXPERIMENTS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Mitochondrial / metabolism · experiment-level regulation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Within each threshold-responsive subset, bars show genes with logFC &gt; threshold and q &lt; 0.05 per experiment; genes may appear in multiple bars.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 ·  N=167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942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49424" y="2670048"/>
            <a:ext cx="1230965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88 · 53%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4942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49424" y="3099816"/>
            <a:ext cx="1741932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001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126 · 75%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4942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49424" y="3529584"/>
            <a:ext cx="227612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1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163 · 98%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4942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49424" y="3959352"/>
            <a:ext cx="1184514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001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86 · 51%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4942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49424" y="4389120"/>
            <a:ext cx="23226" cy="201168"/>
          </a:xfrm>
          <a:prstGeom prst="roundRect">
            <a:avLst>
              <a:gd name="adj" fmla="val 15747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001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1%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24942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49424" y="4818888"/>
            <a:ext cx="116129" cy="201168"/>
          </a:xfrm>
          <a:prstGeom prst="roundRect">
            <a:avLst>
              <a:gd name="adj" fmla="val 31496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001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 · 5%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268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24942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249424" y="5248656"/>
            <a:ext cx="23226" cy="201168"/>
          </a:xfrm>
          <a:prstGeom prst="roundRect">
            <a:avLst>
              <a:gd name="adj" fmla="val 15747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001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 · 1%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268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3620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51052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0196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 ·  N=24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1052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82726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827264" y="2670048"/>
            <a:ext cx="1927738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27785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 · 83%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1052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82726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827264" y="3099816"/>
            <a:ext cx="975482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27785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· 42%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1052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27785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24 · 100%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1052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82726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827264" y="3959352"/>
            <a:ext cx="580644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27785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 · 25%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1052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82726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27785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1052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82726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27785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1052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782726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27785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51052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58368" y="6016752"/>
            <a:ext cx="10881360" cy="457200"/>
          </a:xfrm>
          <a:prstGeom prst="roundRect">
            <a:avLst>
              <a:gd name="adj" fmla="val 140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32688" y="6144768"/>
            <a:ext cx="10332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MechSD6 regulates 163/167 FC0.5-responsive genes and all 24 FC1-responsive genes; FC1 has no R85C10, ChR or THIP hits.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SET 07  ·  EXPERIMENTS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972800" y="2651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Immune · experiment-level regulation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Within each threshold-responsive subset, bars show genes with logFC &gt; threshold and q &lt; 0.05 per experiment; genes may appear in multiple bars.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FC0.5  ·  N=5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4942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49424" y="2670048"/>
            <a:ext cx="464515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4942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49424" y="3099816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001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24942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249424" y="3529584"/>
            <a:ext cx="1393546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1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· 60%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4942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49424" y="3959352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001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4942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001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24942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001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24942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001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36208" y="1810512"/>
            <a:ext cx="530352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0160">
            <a:solidFill>
              <a:srgbClr val="E2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10528" y="2066544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01968" y="213969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FC1  ·  N=5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510528" y="26517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Baseline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827264" y="267004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827264" y="2670048"/>
            <a:ext cx="464515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77856" y="2642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· 20%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10528" y="308152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3h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827264" y="309981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827264" y="3099816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277856" y="3072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10528" y="35112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6h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827264" y="3529584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827264" y="3529584"/>
            <a:ext cx="1393546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277856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· 60%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10528" y="3941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MechSD 12h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827264" y="3959352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827264" y="3959352"/>
            <a:ext cx="1858061" cy="201168"/>
          </a:xfrm>
          <a:prstGeom prst="roundRect">
            <a:avLst>
              <a:gd name="adj" fmla="val 18182"/>
            </a:avLst>
          </a:prstGeom>
          <a:solidFill>
            <a:srgbClr val="DC6B4D"/>
          </a:solidFill>
          <a:ln w="12700">
            <a:solidFill>
              <a:srgbClr val="DC6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277856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· 80%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10528" y="437083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R85C10&gt;TrpA1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7827264" y="4389120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277856" y="43616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510528" y="48006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R23E10&gt;ChR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827264" y="4818888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277856" y="4791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10528" y="52303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THIP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7827264" y="5248656"/>
            <a:ext cx="2322576" cy="201168"/>
          </a:xfrm>
          <a:prstGeom prst="roundRect">
            <a:avLst>
              <a:gd name="adj" fmla="val 18182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277856" y="52212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C6B4D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 · 0%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10528" y="5577840"/>
            <a:ext cx="4736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E697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category genes meeting threshold in ≥1 experiment; independent of GO-assignment count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58368" y="6016752"/>
            <a:ext cx="10881360" cy="457200"/>
          </a:xfrm>
          <a:prstGeom prst="roundRect">
            <a:avLst>
              <a:gd name="adj" fmla="val 140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32688" y="6144768"/>
            <a:ext cx="10332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five immune genes meet both thresholds in at least one experiment; MechSD3 and MechSD12 each regulate four of five.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1548</Words>
  <Application>Microsoft Macintosh PowerPoint</Application>
  <PresentationFormat>Widescreen</PresentationFormat>
  <Paragraphs>375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Avenir Next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Revision — Gene-set curation</dc:title>
  <dc:subject>Rosensweig–Shah 2026 gene-set curation</dc:subject>
  <dc:creator>fl.ai</dc:creator>
  <cp:lastModifiedBy>Shah, Aadish</cp:lastModifiedBy>
  <cp:revision>2</cp:revision>
  <dcterms:created xsi:type="dcterms:W3CDTF">2026-08-13T15:23:30Z</dcterms:created>
  <dcterms:modified xsi:type="dcterms:W3CDTF">2026-08-13T15:30:52Z</dcterms:modified>
</cp:coreProperties>
</file>