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98113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9808" y="65836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80" dirty="0">
                <a:solidFill>
                  <a:srgbClr val="5DA69D"/>
                </a:solidFill>
              </a:rPr>
              <a:t>TX-OMICS REVISION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325880"/>
            <a:ext cx="72237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Seven gene sets.</a:t>
            </a:r>
            <a:endParaRPr lang="en-US" sz="3900" dirty="0"/>
          </a:p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auditable curation.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68096" y="3063240"/>
            <a:ext cx="6446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D6E0E3"/>
                </a:solidFill>
              </a:rPr>
              <a:t>A concise record of the publication rules, pathway selection, identity checks, and overlap that produced the stocker-ready inputs.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909560" y="1353312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D96C4C"/>
          </a:solidFill>
          <a:ln w="1016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074152" y="151790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7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074152" y="207568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6E0E3"/>
                </a:solidFill>
              </a:rPr>
              <a:t>stocker CSVs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9738360" y="1353312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902952" y="151790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9902952" y="207568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6E0E3"/>
                </a:solidFill>
              </a:rPr>
              <a:t>analysis families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909560" y="2862072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074152" y="30266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4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74152" y="358444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6E0E3"/>
                </a:solidFill>
              </a:rPr>
              <a:t>primary sets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738360" y="2862072"/>
            <a:ext cx="1554480" cy="1234440"/>
          </a:xfrm>
          <a:prstGeom prst="roundRect">
            <a:avLst>
              <a:gd name="adj" fmla="val 5926"/>
            </a:avLst>
          </a:prstGeom>
          <a:solidFill>
            <a:srgbClr val="1B3443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902952" y="30266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902952" y="3584448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D6E0E3"/>
                </a:solidFill>
              </a:rPr>
              <a:t>GO term sets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768096" y="6172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CB0B8"/>
                </a:solidFill>
              </a:rPr>
              <a:t>Rosensweig–Shah 2026  ·  curation summary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LIBRARY 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curation families—analyzed separately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 evidence sets and CSW-derived GO term–grouped sets use separate overlap analyses.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1792" y="1591056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D96C4C"/>
                </a:solidFill>
              </a:rPr>
              <a:t>FAMILY 1  ·  PRIMARY CURATION SETS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21792" y="3849624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30" dirty="0">
                <a:solidFill>
                  <a:srgbClr val="1D6F69"/>
                </a:solidFill>
              </a:rPr>
              <a:t>FAMILY 2  ·  CSW-DERIVED GO TERM–GROUPED SETS (FC0.5 / FC1)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21792" y="1874520"/>
            <a:ext cx="100584" cy="1737360"/>
          </a:xfrm>
          <a:prstGeom prst="rect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2075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96C4C"/>
                </a:solidFill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96112" y="22951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6</a:t>
            </a:r>
            <a:endParaRPr lang="en-US" sz="2900" dirty="0"/>
          </a:p>
        </p:txBody>
      </p:sp>
      <p:sp>
        <p:nvSpPr>
          <p:cNvPr id="12" name="Text 10"/>
          <p:cNvSpPr/>
          <p:nvPr/>
        </p:nvSpPr>
        <p:spPr>
          <a:xfrm>
            <a:off x="1700784" y="24688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96112" y="28346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Mechanistic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96112" y="31272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7A"/>
                </a:solidFill>
              </a:rPr>
              <a:t>Publication core + screen ranks 1–6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392424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392424" y="1874520"/>
            <a:ext cx="100584" cy="1737360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66744" y="2075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8A238"/>
                </a:solidFill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66744" y="22951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20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4471416" y="24688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66744" y="28346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Homeostatic H×R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666744" y="31272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7A"/>
                </a:solidFill>
              </a:rPr>
              <a:t>15 History+/Rebound− + 5 opposite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63056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63056" y="1874520"/>
            <a:ext cx="100584" cy="1737360"/>
          </a:xfrm>
          <a:prstGeom prst="rect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437376" y="2075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D6F69"/>
                </a:solidFill>
              </a:rPr>
              <a:t>03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37376" y="22951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97</a:t>
            </a:r>
            <a:endParaRPr lang="en-US" sz="2900" dirty="0"/>
          </a:p>
        </p:txBody>
      </p:sp>
      <p:sp>
        <p:nvSpPr>
          <p:cNvPr id="26" name="Text 24"/>
          <p:cNvSpPr/>
          <p:nvPr/>
        </p:nvSpPr>
        <p:spPr>
          <a:xfrm>
            <a:off x="7242048" y="24688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37376" y="28346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CSW 4+ (FC0.5)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437376" y="31272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7A"/>
                </a:solidFill>
              </a:rPr>
              <a:t>FC0.5 wake frequency ≥4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933688" y="18745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933688" y="1874520"/>
            <a:ext cx="100584" cy="1737360"/>
          </a:xfrm>
          <a:prstGeom prst="rect">
            <a:avLst/>
          </a:prstGeom>
          <a:solidFill>
            <a:srgbClr val="665C86"/>
          </a:solidFill>
          <a:ln w="12700">
            <a:solidFill>
              <a:srgbClr val="665C8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208008" y="207568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665C86"/>
                </a:solidFill>
              </a:rPr>
              <a:t>04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08008" y="2295144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4</a:t>
            </a:r>
            <a:endParaRPr lang="en-US" sz="2900" dirty="0"/>
          </a:p>
        </p:txBody>
      </p:sp>
      <p:sp>
        <p:nvSpPr>
          <p:cNvPr id="33" name="Text 31"/>
          <p:cNvSpPr/>
          <p:nvPr/>
        </p:nvSpPr>
        <p:spPr>
          <a:xfrm>
            <a:off x="10012680" y="246888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208008" y="283464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HLH regulators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208008" y="3127248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7A"/>
                </a:solidFill>
              </a:rPr>
              <a:t>Four bHLH factors named in paper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1792" y="4133088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21792" y="4133088"/>
            <a:ext cx="100584" cy="1737360"/>
          </a:xfrm>
          <a:prstGeom prst="rect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896112" y="4334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96C4C"/>
                </a:solidFill>
              </a:rPr>
              <a:t>05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96112" y="455371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99</a:t>
            </a:r>
            <a:endParaRPr lang="en-US" sz="2900" dirty="0"/>
          </a:p>
        </p:txBody>
      </p:sp>
      <p:sp>
        <p:nvSpPr>
          <p:cNvPr id="40" name="Text 38"/>
          <p:cNvSpPr/>
          <p:nvPr/>
        </p:nvSpPr>
        <p:spPr>
          <a:xfrm>
            <a:off x="1700784" y="47274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96112" y="50932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Ribosomal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896112" y="5385816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7A"/>
                </a:solidFill>
              </a:rPr>
              <a:t>DAVID term hits; approved keywords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3392424" y="4133088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392424" y="4133088"/>
            <a:ext cx="100584" cy="1737360"/>
          </a:xfrm>
          <a:prstGeom prst="rect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666744" y="4334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1D6F69"/>
                </a:solidFill>
              </a:rPr>
              <a:t>06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66744" y="455371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167</a:t>
            </a:r>
            <a:endParaRPr lang="en-US" sz="2900" dirty="0"/>
          </a:p>
        </p:txBody>
      </p:sp>
      <p:sp>
        <p:nvSpPr>
          <p:cNvPr id="47" name="Text 45"/>
          <p:cNvSpPr/>
          <p:nvPr/>
        </p:nvSpPr>
        <p:spPr>
          <a:xfrm>
            <a:off x="4471416" y="47274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666744" y="50932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Mitochondrial</a:t>
            </a:r>
            <a:endParaRPr lang="en-US" sz="1450" dirty="0"/>
          </a:p>
        </p:txBody>
      </p:sp>
      <p:sp>
        <p:nvSpPr>
          <p:cNvPr id="49" name="Text 47"/>
          <p:cNvSpPr/>
          <p:nvPr/>
        </p:nvSpPr>
        <p:spPr>
          <a:xfrm>
            <a:off x="3666744" y="5385816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7A"/>
                </a:solidFill>
              </a:rPr>
              <a:t>DAVID mito/metabolism term hits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163056" y="4133088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1DED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163056" y="4133088"/>
            <a:ext cx="100584" cy="1737360"/>
          </a:xfrm>
          <a:prstGeom prst="rect">
            <a:avLst/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437376" y="4334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D8A238"/>
                </a:solidFill>
              </a:rPr>
              <a:t>07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437376" y="4553712"/>
            <a:ext cx="1005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</a:rPr>
              <a:t>5</a:t>
            </a:r>
            <a:endParaRPr lang="en-US" sz="2900" dirty="0"/>
          </a:p>
        </p:txBody>
      </p:sp>
      <p:sp>
        <p:nvSpPr>
          <p:cNvPr id="54" name="Text 52"/>
          <p:cNvSpPr/>
          <p:nvPr/>
        </p:nvSpPr>
        <p:spPr>
          <a:xfrm>
            <a:off x="7242048" y="472744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</a:rPr>
              <a:t>genes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437376" y="5093208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Immune</a:t>
            </a:r>
            <a:endParaRPr lang="en-US" sz="1450" dirty="0"/>
          </a:p>
        </p:txBody>
      </p:sp>
      <p:sp>
        <p:nvSpPr>
          <p:cNvPr id="56" name="Text 54"/>
          <p:cNvSpPr/>
          <p:nvPr/>
        </p:nvSpPr>
        <p:spPr>
          <a:xfrm>
            <a:off x="6437376" y="5385816"/>
            <a:ext cx="19568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66727A"/>
                </a:solidFill>
              </a:rPr>
              <a:t>DAVID immune / Toll / Imd term hits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8933688" y="4133088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208008" y="433425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20" dirty="0">
                <a:solidFill>
                  <a:srgbClr val="5DA69D"/>
                </a:solidFill>
              </a:rPr>
              <a:t>RULE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9208008" y="463600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Keep them separate</a:t>
            </a:r>
            <a:endParaRPr lang="en-US" sz="1900" dirty="0"/>
          </a:p>
        </p:txBody>
      </p:sp>
      <p:sp>
        <p:nvSpPr>
          <p:cNvPr id="60" name="Text 58"/>
          <p:cNvSpPr/>
          <p:nvPr/>
        </p:nvSpPr>
        <p:spPr>
          <a:xfrm>
            <a:off x="9208008" y="5138928"/>
            <a:ext cx="195681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C7D4D8"/>
                </a:solidFill>
              </a:rPr>
              <a:t>Report overlap within each family—never as one seven-set comparison.</a:t>
            </a:r>
            <a:endParaRPr lang="en-US" sz="1250" dirty="0"/>
          </a:p>
        </p:txBody>
      </p:sp>
      <p:sp>
        <p:nvSpPr>
          <p:cNvPr id="61" name="Text 59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CURATION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curation tracks converge on one controlled folder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They share identity gates and file standards—but their overlap analyses remain separate.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40080" y="175564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5DED6"/>
          </a:solidFill>
          <a:ln w="1270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13232" y="180594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D96C4C"/>
                </a:solidFill>
              </a:rPr>
              <a:t>FAMILY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719072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Primary curation sets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58368" y="219456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04672" y="2395728"/>
            <a:ext cx="384048" cy="384048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04672" y="24871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316736" y="23225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Paper + screen evidence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3154680" y="247802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3474720" y="219456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621024" y="2395728"/>
            <a:ext cx="384048" cy="384048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21024" y="24871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33088" y="23225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Apply set-specific rules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971032" y="247802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291072" y="219456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437376" y="2395728"/>
            <a:ext cx="384048" cy="384048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37376" y="24871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949440" y="23225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Resolve FlyBase identity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8787384" y="247802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107424" y="219456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253728" y="2395728"/>
            <a:ext cx="384048" cy="384048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253728" y="24871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765792" y="232257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Publish sets 01–04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640080" y="34015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DCEDE8"/>
          </a:solidFill>
          <a:ln w="12700">
            <a:solidFill>
              <a:srgbClr val="DCE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3232" y="345186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1D6F69"/>
                </a:solidFill>
              </a:rPr>
              <a:t>FAMILY 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719072" y="341985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7212B"/>
                </a:solidFill>
              </a:rPr>
              <a:t>GO term–grouped sets</a:t>
            </a:r>
            <a:endParaRPr lang="en-US" sz="1450" dirty="0"/>
          </a:p>
        </p:txBody>
      </p:sp>
      <p:sp>
        <p:nvSpPr>
          <p:cNvPr id="31" name="Shape 29"/>
          <p:cNvSpPr/>
          <p:nvPr/>
        </p:nvSpPr>
        <p:spPr>
          <a:xfrm>
            <a:off x="658368" y="384048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04672" y="4041648"/>
            <a:ext cx="384048" cy="384048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04672" y="41330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1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316736" y="396849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CSW FC0.5 + FC1 tables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3154680" y="412394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474720" y="384048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621024" y="4041648"/>
            <a:ext cx="384048" cy="384048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21024" y="41330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2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33088" y="396849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DAVID · FDR ≤10%</a:t>
            </a:r>
            <a:endParaRPr lang="en-US" sz="1350" dirty="0"/>
          </a:p>
        </p:txBody>
      </p:sp>
      <p:sp>
        <p:nvSpPr>
          <p:cNvPr id="40" name="Shape 38"/>
          <p:cNvSpPr/>
          <p:nvPr/>
        </p:nvSpPr>
        <p:spPr>
          <a:xfrm>
            <a:off x="5971032" y="412394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291072" y="384048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6437376" y="4041648"/>
            <a:ext cx="384048" cy="384048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437376" y="41330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3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6949440" y="396849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7212B"/>
                </a:solidFill>
              </a:rPr>
              <a:t>Review term keywords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8787384" y="4123944"/>
            <a:ext cx="201168" cy="219456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9107424" y="3840480"/>
            <a:ext cx="2414016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0160">
            <a:solidFill>
              <a:srgbClr val="DFDD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9253728" y="4041648"/>
            <a:ext cx="384048" cy="384048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9253728" y="413308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4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765792" y="3968496"/>
            <a:ext cx="15361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Publish sets 05–07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640080" y="5257800"/>
            <a:ext cx="10917936" cy="841248"/>
          </a:xfrm>
          <a:prstGeom prst="roundRect">
            <a:avLst>
              <a:gd name="adj" fmla="val 8696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96112" y="54315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902</a:t>
            </a:r>
            <a:endParaRPr lang="en-US" sz="2200" dirty="0"/>
          </a:p>
        </p:txBody>
      </p:sp>
      <p:sp>
        <p:nvSpPr>
          <p:cNvPr id="52" name="Text 50"/>
          <p:cNvSpPr/>
          <p:nvPr/>
        </p:nvSpPr>
        <p:spPr>
          <a:xfrm>
            <a:off x="1645920" y="54681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7D4D8"/>
                </a:solidFill>
              </a:rPr>
              <a:t>source observations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547872" y="54315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791</a:t>
            </a:r>
            <a:endParaRPr lang="en-US" sz="2200" dirty="0"/>
          </a:p>
        </p:txBody>
      </p:sp>
      <p:sp>
        <p:nvSpPr>
          <p:cNvPr id="54" name="Text 52"/>
          <p:cNvSpPr/>
          <p:nvPr/>
        </p:nvSpPr>
        <p:spPr>
          <a:xfrm>
            <a:off x="4297680" y="54681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7D4D8"/>
                </a:solidFill>
              </a:rPr>
              <a:t>unique source FBgns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199632" y="54315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A238"/>
                </a:solidFill>
              </a:rPr>
              <a:t>≥2</a:t>
            </a:r>
            <a:endParaRPr lang="en-US" sz="2200" dirty="0"/>
          </a:p>
        </p:txBody>
      </p:sp>
      <p:sp>
        <p:nvSpPr>
          <p:cNvPr id="56" name="Text 54"/>
          <p:cNvSpPr/>
          <p:nvPr/>
        </p:nvSpPr>
        <p:spPr>
          <a:xfrm>
            <a:off x="6949440" y="54681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7D4D8"/>
                </a:solidFill>
              </a:rPr>
              <a:t>minimum pathway frequency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851392" y="5431536"/>
            <a:ext cx="822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58" name="Text 56"/>
          <p:cNvSpPr/>
          <p:nvPr/>
        </p:nvSpPr>
        <p:spPr>
          <a:xfrm>
            <a:off x="9601200" y="5468112"/>
            <a:ext cx="1627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C7D4D8"/>
                </a:solidFill>
              </a:rPr>
              <a:t>experiments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Thresholds remain separate: FC0.5 and FC1 are never collapsed into a max-frequency field.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SETS 01–02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Publication sets use explicit, reproducible rules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Sets 01–02 preserve publication evidence and resolve one biologically important identity conflict.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" y="1691640"/>
            <a:ext cx="5321808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938528"/>
            <a:ext cx="1572768" cy="292608"/>
          </a:xfrm>
          <a:prstGeom prst="roundRect">
            <a:avLst>
              <a:gd name="adj" fmla="val 25000"/>
            </a:avLst>
          </a:prstGeom>
          <a:solidFill>
            <a:srgbClr val="F5DED6"/>
          </a:solidFill>
          <a:ln w="12700">
            <a:solidFill>
              <a:srgbClr val="F5DE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988820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D96C4C"/>
                </a:solidFill>
              </a:rPr>
              <a:t>SET 01  ·  6 GENES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239572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</a:rPr>
              <a:t>Mechanistic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96112" y="2852928"/>
            <a:ext cx="4434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6727A"/>
                </a:solidFill>
              </a:rPr>
              <a:t>Publication core joined by FBgn to mechanistic screen ranks 1–6.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3547872"/>
            <a:ext cx="4434840" cy="15727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20980" indent="-220980">
              <a:buSzPct val="100000"/>
              <a:buChar char="•"/>
            </a:pPr>
            <a:r>
              <a:rPr lang="en-US" sz="145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Carry forward mechanism, literature status, Tx-Omics evidence, and fl.ai confidence.</a:t>
            </a:r>
            <a:endParaRPr lang="en-US" sz="1450" dirty="0"/>
          </a:p>
          <a:p>
            <a:pPr marL="220980" indent="-220980">
              <a:buSzPct val="100000"/>
              <a:buChar char="•"/>
            </a:pPr>
            <a:r>
              <a:rPr lang="en-US" sz="145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Evidence labels: consistent, correlated, or curated.</a:t>
            </a:r>
            <a:endParaRPr lang="en-US" sz="1450" dirty="0"/>
          </a:p>
          <a:p>
            <a:pPr marL="220980" indent="-220980">
              <a:buSzPct val="100000"/>
              <a:buChar char="•"/>
            </a:pPr>
            <a:r>
              <a:rPr lang="en-US" sz="145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rank or annotation is inferred outside the source tables.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6112" y="5394960"/>
            <a:ext cx="4434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D96C4C"/>
                </a:solidFill>
              </a:rPr>
              <a:t>unc79  ·  SIFa  ·  rumpel  ·  AstA-R2  ·  Trhn  ·  RpL23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236208" y="1691640"/>
            <a:ext cx="5321808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510528" y="1938528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F4E8C9"/>
          </a:solidFill>
          <a:ln w="12700">
            <a:solidFill>
              <a:srgbClr val="F4E8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0" y="198882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D8A238"/>
                </a:solidFill>
              </a:rPr>
              <a:t>SET 02  ·  20 GENES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510528" y="239572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</a:rPr>
              <a:t>Homeostatic history × rebound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510528" y="29992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D8A23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6510528" y="346557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A"/>
                </a:solidFill>
              </a:rPr>
              <a:t>History+ / Rebound−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887968" y="29992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D96C4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</a:t>
            </a:r>
            <a:endParaRPr lang="en-US" sz="3100" dirty="0"/>
          </a:p>
        </p:txBody>
      </p:sp>
      <p:sp>
        <p:nvSpPr>
          <p:cNvPr id="20" name="Text 18"/>
          <p:cNvSpPr/>
          <p:nvPr/>
        </p:nvSpPr>
        <p:spPr>
          <a:xfrm>
            <a:off x="8887968" y="346557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A"/>
                </a:solidFill>
              </a:rPr>
              <a:t>History− / Rebound+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10528" y="4069080"/>
            <a:ext cx="4526280" cy="54864"/>
          </a:xfrm>
          <a:prstGeom prst="rect">
            <a:avLst/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510528" y="438912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</a:rPr>
              <a:t>Identity correction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0528" y="4754880"/>
            <a:ext cx="4434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66727A"/>
                </a:solidFill>
              </a:rPr>
              <a:t>Source row trh / FBgn0262139 is resolved from publication context to Trhn / FBgn0035187 (tryptophan hydroxylase). The wrong FBgn is never retained.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SETS 03–04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Screen frequency and direct-regulator evidence stay separate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Set 03 is threshold-scoped screen evidence; Set 04 comes directly from the paper.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" y="1700784"/>
            <a:ext cx="6812280" cy="4425696"/>
          </a:xfrm>
          <a:prstGeom prst="roundRect">
            <a:avLst>
              <a:gd name="adj" fmla="val 1653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947672"/>
            <a:ext cx="1627632" cy="292608"/>
          </a:xfrm>
          <a:prstGeom prst="roundRect">
            <a:avLst>
              <a:gd name="adj" fmla="val 25000"/>
            </a:avLst>
          </a:prstGeom>
          <a:solidFill>
            <a:srgbClr val="DCEDE8"/>
          </a:solidFill>
          <a:ln w="12700">
            <a:solidFill>
              <a:srgbClr val="DCE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9264" y="1997964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1D6F69"/>
                </a:solidFill>
              </a:rPr>
              <a:t>SET 03  ·  97 GENES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96112" y="239572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7212B"/>
                </a:solidFill>
              </a:rPr>
              <a:t>CSW 4+ wake-frequency union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14400" y="3044952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97</a:t>
            </a:r>
            <a:endParaRPr lang="en-US" sz="3100" dirty="0"/>
          </a:p>
        </p:txBody>
      </p:sp>
      <p:sp>
        <p:nvSpPr>
          <p:cNvPr id="11" name="Text 9"/>
          <p:cNvSpPr/>
          <p:nvPr/>
        </p:nvSpPr>
        <p:spPr>
          <a:xfrm>
            <a:off x="914400" y="351129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A"/>
                </a:solidFill>
              </a:rPr>
              <a:t>FC0.5 wake frequency 4–6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493008" y="30449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D96C4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</a:t>
            </a:r>
            <a:endParaRPr lang="en-US" sz="3100" dirty="0"/>
          </a:p>
        </p:txBody>
      </p:sp>
      <p:sp>
        <p:nvSpPr>
          <p:cNvPr id="13" name="Text 11"/>
          <p:cNvSpPr/>
          <p:nvPr/>
        </p:nvSpPr>
        <p:spPr>
          <a:xfrm>
            <a:off x="3493008" y="3511296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A"/>
                </a:solidFill>
              </a:rPr>
              <a:t>also qualify at FC1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577840" y="3044952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</a:t>
            </a:r>
            <a:endParaRPr lang="en-US" sz="3100" dirty="0"/>
          </a:p>
        </p:txBody>
      </p:sp>
      <p:sp>
        <p:nvSpPr>
          <p:cNvPr id="15" name="Text 13"/>
          <p:cNvSpPr/>
          <p:nvPr/>
        </p:nvSpPr>
        <p:spPr>
          <a:xfrm>
            <a:off x="5577840" y="351129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66727A"/>
                </a:solidFill>
              </a:rPr>
              <a:t>sleep genes at frequency 4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96112" y="437083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212B"/>
                </a:solidFill>
              </a:rPr>
              <a:t>Union rule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6112" y="4736592"/>
            <a:ext cx="5870448" cy="11155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205740" indent="-205740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Take FC0.5 wake genes at frequency 4, 5, or 6.</a:t>
            </a:r>
            <a:endParaRPr lang="en-US" sz="1350" dirty="0"/>
          </a:p>
          <a:p>
            <a:pPr marL="205740" indent="-205740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Add FC1 wake frequency-4 genes; all seven are already in the FC0.5 set.</a:t>
            </a:r>
            <a:endParaRPr lang="en-US" sz="1350" dirty="0"/>
          </a:p>
          <a:p>
            <a:pPr marL="205740" indent="-205740">
              <a:buSzPct val="100000"/>
              <a:buChar char="•"/>
            </a:pPr>
            <a:r>
              <a:rPr lang="en-US" sz="1350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Keep FC0.5 and FC1 metadata in separate columns.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7708392" y="1700784"/>
            <a:ext cx="3849624" cy="4425696"/>
          </a:xfrm>
          <a:prstGeom prst="roundRect">
            <a:avLst>
              <a:gd name="adj" fmla="val 190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10144" y="1947672"/>
            <a:ext cx="1536192" cy="292608"/>
          </a:xfrm>
          <a:prstGeom prst="roundRect">
            <a:avLst>
              <a:gd name="adj" fmla="val 25000"/>
            </a:avLst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083296" y="1997964"/>
            <a:ext cx="13898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10" dirty="0">
                <a:solidFill>
                  <a:srgbClr val="FFFFFF"/>
                </a:solidFill>
              </a:rPr>
              <a:t>SET 04  ·  4 GENES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10144" y="241401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HLH regulators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010144" y="292608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CFDADD"/>
                </a:solidFill>
              </a:rPr>
              <a:t>Named in Results / Table S1 after HOMER identified a CAGCTG E-box upstream of wake-induced genes.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8010144" y="40233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bigmax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646920" y="402336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A69D"/>
                </a:solidFill>
              </a:rPr>
              <a:t>FBgn0039509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10144" y="441655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HLH3B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646920" y="4416552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A69D"/>
                </a:solidFill>
              </a:rPr>
              <a:t>FBgn0011276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10144" y="480974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E(spl)m3-HLH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46920" y="480974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A69D"/>
                </a:solidFill>
              </a:rPr>
              <a:t>FBgn0002609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10144" y="52029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E(spl)mbeta-HLH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646920" y="520293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DA69D"/>
                </a:solidFill>
              </a:rPr>
              <a:t>FBgn0002733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THRESHOLD PROVENANCE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CSW-derived GO term–grouped genes retain threshold provenance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Each gene records its source as FC0.5, FC1, or both; only hits from approved FDR-passing terms enter sets 05–07.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58368" y="1682496"/>
            <a:ext cx="438912" cy="43891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58368" y="17922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25296" y="1737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Submit four CSW masters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035808" y="1792224"/>
            <a:ext cx="164592" cy="182880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55848" y="1682496"/>
            <a:ext cx="438912" cy="43891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55848" y="17922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22776" y="1737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Keep FDR ≤10% terms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733288" y="1792224"/>
            <a:ext cx="164592" cy="182880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053328" y="1682496"/>
            <a:ext cx="438912" cy="43891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53328" y="17922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20256" y="1737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Review term keywords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430768" y="1792224"/>
            <a:ext cx="164592" cy="182880"/>
          </a:xfrm>
          <a:prstGeom prst="chevron">
            <a:avLst/>
          </a:prstGeom>
          <a:solidFill>
            <a:srgbClr val="D7D8D2"/>
          </a:solidFill>
          <a:ln w="12700">
            <a:solidFill>
              <a:srgbClr val="D7D8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750808" y="1682496"/>
            <a:ext cx="438912" cy="43891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750808" y="1792224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317736" y="173736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Take hit FBgns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1792" y="2487168"/>
            <a:ext cx="4773168" cy="331012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14400" y="276148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12B"/>
                </a:solidFill>
              </a:rPr>
              <a:t>GO term–grouped outputs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14400" y="3273552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Mitochondrial / metabolism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2971800" y="3300984"/>
            <a:ext cx="1764792" cy="256032"/>
          </a:xfrm>
          <a:prstGeom prst="roundRect">
            <a:avLst>
              <a:gd name="adj" fmla="val 2142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971800" y="3300984"/>
            <a:ext cx="1764792" cy="256032"/>
          </a:xfrm>
          <a:prstGeom prst="roundRect">
            <a:avLst>
              <a:gd name="adj" fmla="val 21429"/>
            </a:avLst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818888" y="3264408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D6F69"/>
                </a:solidFill>
              </a:rPr>
              <a:t>167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14400" y="3986784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Ribosomal / translation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2971800" y="4014216"/>
            <a:ext cx="1764792" cy="256032"/>
          </a:xfrm>
          <a:prstGeom prst="roundRect">
            <a:avLst>
              <a:gd name="adj" fmla="val 2142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2971800" y="4014216"/>
            <a:ext cx="1046194" cy="256032"/>
          </a:xfrm>
          <a:prstGeom prst="roundRect">
            <a:avLst>
              <a:gd name="adj" fmla="val 21429"/>
            </a:avLst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18888" y="397764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96C4C"/>
                </a:solidFill>
              </a:rPr>
              <a:t>99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14400" y="4700016"/>
            <a:ext cx="1847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Immune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2971800" y="4727448"/>
            <a:ext cx="1764792" cy="256032"/>
          </a:xfrm>
          <a:prstGeom prst="roundRect">
            <a:avLst>
              <a:gd name="adj" fmla="val 21429"/>
            </a:avLst>
          </a:prstGeom>
          <a:solidFill>
            <a:srgbClr val="ECEBE4"/>
          </a:solidFill>
          <a:ln w="12700">
            <a:solidFill>
              <a:srgbClr val="ECEBE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2971800" y="4727448"/>
            <a:ext cx="137160" cy="256032"/>
          </a:xfrm>
          <a:prstGeom prst="roundRect">
            <a:avLst>
              <a:gd name="adj" fmla="val 40000"/>
            </a:avLst>
          </a:prstGeom>
          <a:solidFill>
            <a:srgbClr val="D8A238"/>
          </a:solidFill>
          <a:ln w="1270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818888" y="469087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D8A238"/>
                </a:solidFill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" y="546811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D6F69"/>
                </a:solidFill>
              </a:rPr>
              <a:t>All three outputs are wake-direction genes.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650992" y="2487168"/>
            <a:ext cx="5907024" cy="3310128"/>
          </a:xfrm>
          <a:prstGeom prst="roundRect">
            <a:avLst>
              <a:gd name="adj" fmla="val 2210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61888" y="27614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</a:rPr>
              <a:t>Threshold provenance · 240 unique FBgns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5961888" y="32735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DA69D"/>
                </a:solidFill>
              </a:rPr>
              <a:t>203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6839712" y="329184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FC0.5 only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357616" y="3291840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7D4D8"/>
                </a:solidFill>
              </a:rPr>
              <a:t>Ribosomal and mitochondrial dominate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5961888" y="398678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96C4C"/>
                </a:solidFill>
              </a:rPr>
              <a:t>5</a:t>
            </a:r>
            <a:endParaRPr lang="en-US" sz="2500" dirty="0"/>
          </a:p>
        </p:txBody>
      </p:sp>
      <p:sp>
        <p:nvSpPr>
          <p:cNvPr id="42" name="Text 40"/>
          <p:cNvSpPr/>
          <p:nvPr/>
        </p:nvSpPr>
        <p:spPr>
          <a:xfrm>
            <a:off x="6839712" y="4005072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FC1 only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8357616" y="4005072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7D4D8"/>
                </a:solidFill>
              </a:rPr>
              <a:t>BomBc2 · BomS1 · BomS2 · IM14 · Thor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5961888" y="470001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8A238"/>
                </a:solidFill>
              </a:rPr>
              <a:t>32</a:t>
            </a:r>
            <a:endParaRPr lang="en-US" sz="2500" dirty="0"/>
          </a:p>
        </p:txBody>
      </p:sp>
      <p:sp>
        <p:nvSpPr>
          <p:cNvPr id="45" name="Text 43"/>
          <p:cNvSpPr/>
          <p:nvPr/>
        </p:nvSpPr>
        <p:spPr>
          <a:xfrm>
            <a:off x="6839712" y="4718304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both thresholds</a:t>
            </a:r>
            <a:endParaRPr lang="en-US" sz="1350" dirty="0"/>
          </a:p>
        </p:txBody>
      </p:sp>
      <p:sp>
        <p:nvSpPr>
          <p:cNvPr id="46" name="Text 44"/>
          <p:cNvSpPr/>
          <p:nvPr/>
        </p:nvSpPr>
        <p:spPr>
          <a:xfrm>
            <a:off x="8357616" y="471830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C7D4D8"/>
                </a:solidFill>
              </a:rPr>
              <a:t>FC1 ribosomal/mitochondrial genes are also at FC0.5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5961888" y="5422392"/>
            <a:ext cx="5047488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961888" y="5541264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A69D"/>
                </a:solidFill>
              </a:rPr>
              <a:t>Key takeaway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086600" y="5522976"/>
            <a:ext cx="39136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Only the five immune genes are FC1-exclusive.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1  ·  PRIMARY-SET OVERLAP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Primary-set overlap is limited to three genes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Mechanistic, Homeostatic, CSW 4+ (FC0.5), and HLH are compared only with one another.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" y="1700784"/>
            <a:ext cx="7059168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993392"/>
            <a:ext cx="1389888" cy="804672"/>
          </a:xfrm>
          <a:prstGeom prst="roundRect">
            <a:avLst>
              <a:gd name="adj" fmla="val 9091"/>
            </a:avLst>
          </a:prstGeom>
          <a:solidFill>
            <a:srgbClr val="F8F7F2"/>
          </a:solidFill>
          <a:ln w="1016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42416" y="2148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6C4C"/>
                </a:solidFill>
              </a:rPr>
              <a:t>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42416" y="24871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12B"/>
                </a:solidFill>
              </a:rPr>
              <a:t>Mechanistic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23744" y="1993392"/>
            <a:ext cx="1389888" cy="804672"/>
          </a:xfrm>
          <a:prstGeom prst="roundRect">
            <a:avLst>
              <a:gd name="adj" fmla="val 9091"/>
            </a:avLst>
          </a:prstGeom>
          <a:solidFill>
            <a:srgbClr val="F8F7F2"/>
          </a:solidFill>
          <a:ln w="1016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70048" y="2148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8A238"/>
                </a:solidFill>
              </a:rPr>
              <a:t>20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70048" y="24871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12B"/>
                </a:solidFill>
              </a:rPr>
              <a:t>Homeostatic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51376" y="1993392"/>
            <a:ext cx="1389888" cy="804672"/>
          </a:xfrm>
          <a:prstGeom prst="roundRect">
            <a:avLst>
              <a:gd name="adj" fmla="val 9091"/>
            </a:avLst>
          </a:prstGeom>
          <a:solidFill>
            <a:srgbClr val="F8F7F2"/>
          </a:solidFill>
          <a:ln w="1016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97680" y="2148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6F69"/>
                </a:solidFill>
              </a:rPr>
              <a:t>97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297680" y="24871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12B"/>
                </a:solidFill>
              </a:rPr>
              <a:t>CSW 4+ · FC0.5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779008" y="1993392"/>
            <a:ext cx="1389888" cy="804672"/>
          </a:xfrm>
          <a:prstGeom prst="roundRect">
            <a:avLst>
              <a:gd name="adj" fmla="val 9091"/>
            </a:avLst>
          </a:prstGeom>
          <a:solidFill>
            <a:srgbClr val="F8F7F2"/>
          </a:solidFill>
          <a:ln w="10160">
            <a:solidFill>
              <a:srgbClr val="E1DE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25312" y="214884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65C86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925312" y="24871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7212B"/>
                </a:solidFill>
              </a:rPr>
              <a:t>HLH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96112" y="316382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212B"/>
                </a:solidFill>
              </a:rPr>
              <a:t>Observed shared genes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896112" y="3639312"/>
            <a:ext cx="73152" cy="457200"/>
          </a:xfrm>
          <a:prstGeom prst="rect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143000" y="3657600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Mechanistic  ×  Homeostatic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315968" y="3630168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D96C4C"/>
                </a:solidFill>
              </a:rPr>
              <a:t>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937760" y="367588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Trhn  ·  AstA-R2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96112" y="4297680"/>
            <a:ext cx="73152" cy="457200"/>
          </a:xfrm>
          <a:prstGeom prst="rect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1143000" y="4315968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Mechanistic  ×  CSW 4+ (FC0.5)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4315968" y="4288536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D6F69"/>
                </a:solidFill>
              </a:rPr>
              <a:t>1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937760" y="4334256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RpL23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896112" y="4956048"/>
            <a:ext cx="73152" cy="457200"/>
          </a:xfrm>
          <a:prstGeom prst="rect">
            <a:avLst/>
          </a:prstGeom>
          <a:solidFill>
            <a:srgbClr val="66727A"/>
          </a:solidFill>
          <a:ln w="12700">
            <a:solidFill>
              <a:srgbClr val="6672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43000" y="4974336"/>
            <a:ext cx="2971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17212B"/>
                </a:solidFill>
              </a:rPr>
              <a:t>All other pairings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315968" y="4946904"/>
            <a:ext cx="502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66727A"/>
                </a:solidFill>
              </a:rPr>
              <a:t>0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937760" y="4992624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66727A"/>
                </a:solidFill>
              </a:rPr>
              <a:t>No shared FBgns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7973568" y="1700784"/>
            <a:ext cx="3584448" cy="4443984"/>
          </a:xfrm>
          <a:prstGeom prst="roundRect">
            <a:avLst>
              <a:gd name="adj" fmla="val 2041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302752" y="1993392"/>
            <a:ext cx="2651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Within Family 1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302752" y="267004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DA69D"/>
                </a:solidFill>
              </a:rPr>
              <a:t>124</a:t>
            </a:r>
            <a:endParaRPr lang="en-US" sz="2500" dirty="0"/>
          </a:p>
        </p:txBody>
      </p:sp>
      <p:sp>
        <p:nvSpPr>
          <p:cNvPr id="35" name="Text 33"/>
          <p:cNvSpPr/>
          <p:nvPr/>
        </p:nvSpPr>
        <p:spPr>
          <a:xfrm>
            <a:off x="9272016" y="2724912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4DFE2"/>
                </a:solidFill>
              </a:rPr>
              <a:t>unique FBgns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302752" y="332841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96C4C"/>
                </a:solidFill>
              </a:rPr>
              <a:t>121</a:t>
            </a:r>
            <a:endParaRPr lang="en-US" sz="2500" dirty="0"/>
          </a:p>
        </p:txBody>
      </p:sp>
      <p:sp>
        <p:nvSpPr>
          <p:cNvPr id="37" name="Text 35"/>
          <p:cNvSpPr/>
          <p:nvPr/>
        </p:nvSpPr>
        <p:spPr>
          <a:xfrm>
            <a:off x="9272016" y="3383280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4DFE2"/>
                </a:solidFill>
              </a:rPr>
              <a:t>in exactly one set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8302752" y="398678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96C4C"/>
                </a:solidFill>
              </a:rPr>
              <a:t>3</a:t>
            </a:r>
            <a:endParaRPr lang="en-US" sz="2500" dirty="0"/>
          </a:p>
        </p:txBody>
      </p:sp>
      <p:sp>
        <p:nvSpPr>
          <p:cNvPr id="39" name="Text 37"/>
          <p:cNvSpPr/>
          <p:nvPr/>
        </p:nvSpPr>
        <p:spPr>
          <a:xfrm>
            <a:off x="9272016" y="4041648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4DFE2"/>
                </a:solidFill>
              </a:rPr>
              <a:t>in exactly two sets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302752" y="46451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96C4C"/>
                </a:solidFill>
              </a:rPr>
              <a:t>0</a:t>
            </a:r>
            <a:endParaRPr lang="en-US" sz="2500" dirty="0"/>
          </a:p>
        </p:txBody>
      </p:sp>
      <p:sp>
        <p:nvSpPr>
          <p:cNvPr id="41" name="Text 39"/>
          <p:cNvSpPr/>
          <p:nvPr/>
        </p:nvSpPr>
        <p:spPr>
          <a:xfrm>
            <a:off x="9272016" y="4700016"/>
            <a:ext cx="1755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D4DFE2"/>
                </a:solidFill>
              </a:rPr>
              <a:t>in three or four sets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302752" y="5413248"/>
            <a:ext cx="2670048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8302752" y="5596128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</a:rPr>
              <a:t>HLH is fully disjoint from the other primary sets.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Rosensweig–Shah 2026  ·  flybase_gene_id is the membership key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C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1792" y="23774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80" dirty="0">
                <a:solidFill>
                  <a:srgbClr val="1D6F69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FAMILY 2  ·  GO OVERLAP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11064240" y="2194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1792" y="603504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721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 term–grouped overlap is confined to ribosomal × mitochondrial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621792" y="1161288"/>
            <a:ext cx="10789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three pathway buckets are compared only within Family 2; threshold provenance remains a separate attribute.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621792" y="1700784"/>
            <a:ext cx="7315200" cy="4443984"/>
          </a:xfrm>
          <a:prstGeom prst="roundRect">
            <a:avLst>
              <a:gd name="adj" fmla="val 1646"/>
            </a:avLst>
          </a:prstGeom>
          <a:solidFill>
            <a:srgbClr val="FFFFFF"/>
          </a:solidFill>
          <a:ln w="10160">
            <a:solidFill>
              <a:srgbClr val="D7D8D2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67512" y="20025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7212B"/>
                </a:solidFill>
              </a:rPr>
              <a:t>GO term–group membership (</a:t>
            </a:r>
            <a:r>
              <a:rPr lang="en-US" sz="1600" b="1" dirty="0"/>
              <a:t>240 unique genes in Family 2)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852160" y="2029968"/>
            <a:ext cx="16642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66727A"/>
                </a:solidFill>
              </a:rPr>
              <a:t>Schematic · counts shown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15568" y="2505456"/>
            <a:ext cx="2907792" cy="2907792"/>
          </a:xfrm>
          <a:prstGeom prst="ellipse">
            <a:avLst/>
          </a:prstGeom>
          <a:solidFill>
            <a:srgbClr val="D96C4C">
              <a:alpha val="76000"/>
            </a:srgbClr>
          </a:solidFill>
          <a:ln w="1778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182112" y="2505456"/>
            <a:ext cx="2907792" cy="2907792"/>
          </a:xfrm>
          <a:prstGeom prst="ellipse">
            <a:avLst/>
          </a:prstGeom>
          <a:solidFill>
            <a:srgbClr val="1D6F69">
              <a:alpha val="76000"/>
            </a:srgbClr>
          </a:solidFill>
          <a:ln w="1778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327648" y="3182112"/>
            <a:ext cx="1005840" cy="1005840"/>
          </a:xfrm>
          <a:prstGeom prst="ellipse">
            <a:avLst/>
          </a:prstGeom>
          <a:solidFill>
            <a:srgbClr val="D8A238">
              <a:alpha val="88000"/>
            </a:srgbClr>
          </a:solidFill>
          <a:ln w="15240">
            <a:solidFill>
              <a:srgbClr val="D8A2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682496" y="3557016"/>
            <a:ext cx="640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212B"/>
                </a:solidFill>
              </a:rPr>
              <a:t>68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64408" y="3557016"/>
            <a:ext cx="658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212B"/>
                </a:solidFill>
              </a:rPr>
              <a:t>31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18888" y="3557016"/>
            <a:ext cx="7132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7212B"/>
                </a:solidFill>
              </a:rPr>
              <a:t>136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47104" y="34930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212B"/>
                </a:solidFill>
              </a:rPr>
              <a:t>5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99616" y="53492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D96C4C"/>
                </a:solidFill>
              </a:rPr>
              <a:t>Ribosomal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D96C4C"/>
                </a:solidFill>
              </a:rPr>
              <a:t>99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498848" y="5349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6F69"/>
                </a:solidFill>
              </a:rPr>
              <a:t>Mitochondrial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D6F69"/>
                </a:solidFill>
              </a:rPr>
              <a:t>167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355080" y="4315968"/>
            <a:ext cx="960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D8A238"/>
                </a:solidFill>
              </a:rPr>
              <a:t>Immune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D8A238"/>
                </a:solidFill>
              </a:rPr>
              <a:t>5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932688" y="5806440"/>
            <a:ext cx="6629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8229600" y="1700784"/>
            <a:ext cx="3328416" cy="4443984"/>
          </a:xfrm>
          <a:prstGeom prst="roundRect">
            <a:avLst>
              <a:gd name="adj" fmla="val 2198"/>
            </a:avLst>
          </a:prstGeom>
          <a:solidFill>
            <a:srgbClr val="122634"/>
          </a:solidFill>
          <a:ln w="10160">
            <a:solidFill>
              <a:srgbClr val="122634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540496" y="1993392"/>
            <a:ext cx="24323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</a:rPr>
              <a:t>What the overlap means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540496" y="276148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D96C4C"/>
                </a:solidFill>
              </a:rPr>
              <a:t>31</a:t>
            </a:r>
            <a:endParaRPr lang="en-US" sz="2500" dirty="0"/>
          </a:p>
        </p:txBody>
      </p:sp>
      <p:sp>
        <p:nvSpPr>
          <p:cNvPr id="23" name="Text 21"/>
          <p:cNvSpPr/>
          <p:nvPr/>
        </p:nvSpPr>
        <p:spPr>
          <a:xfrm>
            <a:off x="9253728" y="2779776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4DFE2"/>
                </a:solidFill>
              </a:rPr>
              <a:t>genes occur in both ribosomal and mitochondrial buckets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40496" y="356616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DA69D"/>
                </a:solidFill>
              </a:rPr>
              <a:t>5</a:t>
            </a:r>
            <a:endParaRPr lang="en-US" sz="2500" dirty="0"/>
          </a:p>
        </p:txBody>
      </p:sp>
      <p:sp>
        <p:nvSpPr>
          <p:cNvPr id="25" name="Text 23"/>
          <p:cNvSpPr/>
          <p:nvPr/>
        </p:nvSpPr>
        <p:spPr>
          <a:xfrm>
            <a:off x="9253728" y="3584448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4DFE2"/>
                </a:solidFill>
              </a:rPr>
              <a:t>immune genes are fully disjoint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540496" y="437083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DA69D"/>
                </a:solidFill>
              </a:rPr>
              <a:t>0</a:t>
            </a:r>
            <a:endParaRPr lang="en-US" sz="2500" dirty="0"/>
          </a:p>
        </p:txBody>
      </p:sp>
      <p:sp>
        <p:nvSpPr>
          <p:cNvPr id="27" name="Text 25"/>
          <p:cNvSpPr/>
          <p:nvPr/>
        </p:nvSpPr>
        <p:spPr>
          <a:xfrm>
            <a:off x="9253728" y="4389120"/>
            <a:ext cx="1755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4DFE2"/>
                </a:solidFill>
              </a:rPr>
              <a:t>immune overlaps with either other GO bucket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540496" y="5285232"/>
            <a:ext cx="2432304" cy="36576"/>
          </a:xfrm>
          <a:prstGeom prst="rect">
            <a:avLst/>
          </a:prstGeom>
          <a:solidFill>
            <a:srgbClr val="35505E"/>
          </a:solidFill>
          <a:ln w="1270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540496" y="5468112"/>
            <a:ext cx="243230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</a:rPr>
              <a:t>The 31-gene overlap is intentional: mitochondrial translation terms match both keyword groups.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21792" y="6510528"/>
            <a:ext cx="10241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2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 cross-family overlap is shown: Family 1 and Family 2 answer different curation questions.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26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5DA69D"/>
                </a:solidFill>
              </a:rPr>
              <a:t>STOCKER HANDOFF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58368" y="804672"/>
            <a:ext cx="6766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contract is simple—and strict.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58368" y="1664208"/>
            <a:ext cx="2487168" cy="1261872"/>
          </a:xfrm>
          <a:prstGeom prst="roundRect">
            <a:avLst>
              <a:gd name="adj" fmla="val 5797"/>
            </a:avLst>
          </a:prstGeom>
          <a:solidFill>
            <a:srgbClr val="D96C4C"/>
          </a:solidFill>
          <a:ln w="1016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77824" y="189280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7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463040" y="186537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E0E3"/>
                </a:solidFill>
              </a:rPr>
              <a:t>Exactly seven CSVs in the discovery folder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1664208"/>
            <a:ext cx="2487168" cy="1261872"/>
          </a:xfrm>
          <a:prstGeom prst="roundRect">
            <a:avLst>
              <a:gd name="adj" fmla="val 5797"/>
            </a:avLst>
          </a:prstGeom>
          <a:solidFill>
            <a:srgbClr val="1A3442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48456" y="189280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233672" y="186537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E0E3"/>
                </a:solidFill>
              </a:rPr>
              <a:t>Required keys: ext_gene and flybase_gene_id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99632" y="1664208"/>
            <a:ext cx="2487168" cy="1261872"/>
          </a:xfrm>
          <a:prstGeom prst="roundRect">
            <a:avLst>
              <a:gd name="adj" fmla="val 5797"/>
            </a:avLst>
          </a:prstGeom>
          <a:solidFill>
            <a:srgbClr val="1A3442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19088" y="189280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7004304" y="1865376"/>
            <a:ext cx="138988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6E0E3"/>
                </a:solidFill>
              </a:rPr>
              <a:t>No overlap, GO, or audit CSVs beside the inputs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35440" y="804672"/>
            <a:ext cx="2304288" cy="4224528"/>
          </a:xfrm>
          <a:prstGeom prst="roundRect">
            <a:avLst>
              <a:gd name="adj" fmla="val 3175"/>
            </a:avLst>
          </a:prstGeom>
          <a:solidFill>
            <a:srgbClr val="F7F3EA"/>
          </a:solidFill>
          <a:ln w="10160">
            <a:solidFill>
              <a:srgbClr val="F7F3EA"/>
            </a:solidFill>
            <a:prstDash val="solid"/>
          </a:ln>
          <a:effectLst>
            <a:outerShdw blurRad="19050" dist="12700" dir="8100000" algn="bl" rotWithShape="0">
              <a:srgbClr val="000000">
                <a:alpha val="9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528048" y="109728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7212B"/>
                </a:solidFill>
              </a:rPr>
              <a:t>Seven inputs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528048" y="1645920"/>
            <a:ext cx="164592" cy="164592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820656" y="161848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01  Mechanistic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528048" y="2066544"/>
            <a:ext cx="164592" cy="164592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820656" y="203911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02  Homeostatic H×R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528048" y="2487168"/>
            <a:ext cx="164592" cy="164592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820656" y="2459736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03  CSW 4+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9528048" y="2907792"/>
            <a:ext cx="164592" cy="164592"/>
          </a:xfrm>
          <a:prstGeom prst="ellipse">
            <a:avLst/>
          </a:prstGeom>
          <a:solidFill>
            <a:srgbClr val="D96C4C"/>
          </a:solidFill>
          <a:ln w="12700">
            <a:solidFill>
              <a:srgbClr val="D96C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820656" y="2880360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04  HLH regulators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528048" y="3328416"/>
            <a:ext cx="164592" cy="16459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820656" y="3300984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05  Ribosomal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528048" y="3749040"/>
            <a:ext cx="164592" cy="16459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20656" y="3721608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06  Mitochondrial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528048" y="4169664"/>
            <a:ext cx="164592" cy="164592"/>
          </a:xfrm>
          <a:prstGeom prst="ellipse">
            <a:avLst/>
          </a:prstGeom>
          <a:solidFill>
            <a:srgbClr val="1D6F69"/>
          </a:solidFill>
          <a:ln w="12700">
            <a:solidFill>
              <a:srgbClr val="1D6F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820656" y="4142232"/>
            <a:ext cx="1316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7212B"/>
                </a:solidFill>
              </a:rPr>
              <a:t>07  Immune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658368" y="334670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5DA69D"/>
                </a:solidFill>
              </a:rPr>
              <a:t>RUN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" y="3675888"/>
            <a:ext cx="8165592" cy="1078992"/>
          </a:xfrm>
          <a:prstGeom prst="roundRect">
            <a:avLst>
              <a:gd name="adj" fmla="val 5085"/>
            </a:avLst>
          </a:prstGeom>
          <a:solidFill>
            <a:srgbClr val="0A1821"/>
          </a:solidFill>
          <a:ln w="10160">
            <a:solidFill>
              <a:srgbClr val="3550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32688" y="39776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D7E3E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python -m fl_ai_reagent_stocker run ./data/gene_sets/Tx-Omics_Revision/ \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D7E3E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 --config ./data/config/stock_split_config_priority_example.json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8368" y="52303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6C4C"/>
                </a:solidFill>
              </a:rPr>
              <a:t>Stability rule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057400" y="521208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D6E0E3"/>
                </a:solidFill>
              </a:rPr>
              <a:t>Discovery is recursive: every extra *.csv changes the run. Keep analysis outputs elsewhere.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8368" y="645566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FA6AF"/>
                </a:solidFill>
              </a:rPr>
              <a:t>Rosensweig–Shah 2026  ·  Tx-Omics Revision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1127</Words>
  <Application>Microsoft Macintosh PowerPoint</Application>
  <PresentationFormat>Widescreen</PresentationFormat>
  <Paragraphs>261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Avenir Next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fl.ai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Tx-Omics Revision — Gene-set curation</dc:title>
  <dc:subject>Tx-Omics Revision gene-set curation</dc:subject>
  <dc:creator>fl.ai</dc:creator>
  <cp:lastModifiedBy>Shah, Aadish</cp:lastModifiedBy>
  <cp:revision>2</cp:revision>
  <dcterms:created xsi:type="dcterms:W3CDTF">2026-08-12T22:55:23Z</dcterms:created>
  <dcterms:modified xsi:type="dcterms:W3CDTF">2026-08-12T23:00:56Z</dcterms:modified>
</cp:coreProperties>
</file>