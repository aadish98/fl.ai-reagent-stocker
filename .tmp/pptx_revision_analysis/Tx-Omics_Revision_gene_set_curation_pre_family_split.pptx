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055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6583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80" dirty="0">
                <a:solidFill>
                  <a:srgbClr val="5DA69D"/>
                </a:solidFill>
              </a:rPr>
              <a:t>TX-OMICS REVISION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325880"/>
            <a:ext cx="7223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Tx-Omics Revision</a:t>
            </a:r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venir Next" pitchFamily="34" charset="0"/>
              </a:rPr>
              <a:t>Candidate Gene Lists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68096" y="3063240"/>
            <a:ext cx="6446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6E0E3"/>
                </a:solidFill>
              </a:rPr>
              <a:t>Aadish</a:t>
            </a:r>
          </a:p>
          <a:p>
            <a:pPr marL="0" indent="0">
              <a:buNone/>
            </a:pPr>
            <a:r>
              <a:rPr lang="en-US" dirty="0">
                <a:solidFill>
                  <a:srgbClr val="D6E0E3"/>
                </a:solidFill>
              </a:rPr>
              <a:t>08/12/2026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909560" y="1353312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D96C4C"/>
          </a:solidFill>
          <a:ln w="1016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74152" y="151790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74152" y="207568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6E0E3"/>
                </a:solidFill>
              </a:rPr>
              <a:t>stocker CSVs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738360" y="1353312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02952" y="151790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295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902952" y="207568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6E0E3"/>
                </a:solidFill>
              </a:rPr>
              <a:t>unique FBgns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09560" y="2862072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74152" y="30266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74152" y="358444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6E0E3"/>
                </a:solidFill>
              </a:rPr>
              <a:t>publication sets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738360" y="2862072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02952" y="30266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902952" y="358444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6E0E3"/>
                </a:solidFill>
              </a:rPr>
              <a:t>pathway sets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8096" y="6172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B0B8"/>
                </a:solidFill>
              </a:rPr>
              <a:t>Rosensweig–Shah 2026  ·  curation summary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LIBRARY 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final library at a glance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Four evidence-defined sets and three pathway-hit sets; 295 unique genes after FBgn deduplication.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" y="1755648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1792" y="1755648"/>
            <a:ext cx="100584" cy="1920240"/>
          </a:xfrm>
          <a:prstGeom prst="rect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1956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96C4C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221284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12B"/>
                </a:solidFill>
              </a:rPr>
              <a:t>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96112" y="2761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01752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Mechanistic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6112" y="329184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6727A"/>
                </a:solidFill>
              </a:rPr>
              <a:t>Publication core + screen ranks 1–6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92424" y="1755648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92424" y="1755648"/>
            <a:ext cx="100584" cy="1920240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66744" y="1956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8A238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66744" y="221284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12B"/>
                </a:solidFill>
              </a:rPr>
              <a:t>20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666744" y="2761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66744" y="301752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Homeostatic H×R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666744" y="329184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6727A"/>
                </a:solidFill>
              </a:rPr>
              <a:t>15 History+/Rebound− + 5 opposite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63056" y="1755648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63056" y="1755648"/>
            <a:ext cx="100584" cy="1920240"/>
          </a:xfrm>
          <a:prstGeom prst="rect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37376" y="1956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D6F69"/>
                </a:solidFill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37376" y="221284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12B"/>
                </a:solidFill>
              </a:rPr>
              <a:t>97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437376" y="2761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37376" y="301752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CSW 4+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37376" y="329184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6727A"/>
                </a:solidFill>
              </a:rPr>
              <a:t>Wake frequency ≥4, threshold-scoped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33688" y="1755648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933688" y="1755648"/>
            <a:ext cx="100584" cy="1920240"/>
          </a:xfrm>
          <a:prstGeom prst="rect">
            <a:avLst/>
          </a:prstGeom>
          <a:solidFill>
            <a:srgbClr val="665C86"/>
          </a:solidFill>
          <a:ln w="12700">
            <a:solidFill>
              <a:srgbClr val="665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208008" y="1956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665C86"/>
                </a:solidFill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08008" y="221284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12B"/>
                </a:solidFill>
              </a:rPr>
              <a:t>4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9208008" y="2761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208008" y="301752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HLH regulators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208008" y="329184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6727A"/>
                </a:solidFill>
              </a:rPr>
              <a:t>Four bHLH factors named in paper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" y="39319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1792" y="3931920"/>
            <a:ext cx="100584" cy="1920240"/>
          </a:xfrm>
          <a:prstGeom prst="rect">
            <a:avLst/>
          </a:prstGeom>
          <a:solidFill>
            <a:srgbClr val="357A65"/>
          </a:solidFill>
          <a:ln w="12700">
            <a:solidFill>
              <a:srgbClr val="357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6112" y="41330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357A65"/>
                </a:solidFill>
              </a:rPr>
              <a:t>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6112" y="438912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12B"/>
                </a:solidFill>
              </a:rPr>
              <a:t>99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896112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96112" y="519379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Ribosomal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96112" y="5468112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6727A"/>
                </a:solidFill>
              </a:rPr>
              <a:t>DAVID term hits; approved keywords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92424" y="39319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392424" y="3931920"/>
            <a:ext cx="100584" cy="1920240"/>
          </a:xfrm>
          <a:prstGeom prst="rect">
            <a:avLst/>
          </a:prstGeom>
          <a:solidFill>
            <a:srgbClr val="3B718B"/>
          </a:solidFill>
          <a:ln w="12700">
            <a:solidFill>
              <a:srgbClr val="3B71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66744" y="41330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3B718B"/>
                </a:solidFill>
              </a:rPr>
              <a:t>06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66744" y="438912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12B"/>
                </a:solidFill>
              </a:rPr>
              <a:t>167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3666744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666744" y="519379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Mitochondrial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3666744" y="5468112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6727A"/>
                </a:solidFill>
              </a:rPr>
              <a:t>DAVID mito/metabolism term hits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63056" y="39319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163056" y="3931920"/>
            <a:ext cx="100584" cy="1920240"/>
          </a:xfrm>
          <a:prstGeom prst="rect">
            <a:avLst/>
          </a:prstGeom>
          <a:solidFill>
            <a:srgbClr val="A44A3F"/>
          </a:solidFill>
          <a:ln w="12700">
            <a:solidFill>
              <a:srgbClr val="A44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37376" y="41330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A44A3F"/>
                </a:solidFill>
              </a:rPr>
              <a:t>07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37376" y="438912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12B"/>
                </a:solidFill>
              </a:rPr>
              <a:t>5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6437376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437376" y="519379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Immune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6437376" y="5468112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6727A"/>
                </a:solidFill>
              </a:rPr>
              <a:t>DAVID immune / Toll / Imd term hits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933688" y="39319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208008" y="41330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DA69D"/>
                </a:solidFill>
              </a:rPr>
              <a:t>Σ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208008" y="43891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295</a:t>
            </a:r>
            <a:endParaRPr lang="en-US" sz="3200" dirty="0"/>
          </a:p>
        </p:txBody>
      </p:sp>
      <p:sp>
        <p:nvSpPr>
          <p:cNvPr id="58" name="Text 56"/>
          <p:cNvSpPr/>
          <p:nvPr/>
        </p:nvSpPr>
        <p:spPr>
          <a:xfrm>
            <a:off x="9208008" y="4937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4D8"/>
                </a:solidFill>
              </a:rPr>
              <a:t>unique FBgns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208008" y="519379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Seven-set union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9208008" y="5468112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7D4D8"/>
                </a:solidFill>
              </a:rPr>
              <a:t>Deduplicated on flybase_gene_id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CURATION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curation tracks converge on one controlled folder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shared gates are identity resolution, FBgn deduplication, and a clean seven-file handoff.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5DED6"/>
          </a:solidFill>
          <a:ln w="1270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80594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D96C4C"/>
                </a:solidFill>
              </a:rPr>
              <a:t>TRACK 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19072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Publication categories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8368" y="219456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" y="2395728"/>
            <a:ext cx="384048" cy="384048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24871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16736" y="23225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Paper + breakdown tables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154680" y="247802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0" y="219456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21024" y="2395728"/>
            <a:ext cx="384048" cy="384048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21024" y="24871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33088" y="23225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Apply set-specific rules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71032" y="247802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91072" y="219456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37376" y="2395728"/>
            <a:ext cx="384048" cy="384048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37376" y="24871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49440" y="23225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Resolve FlyBase identity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787384" y="247802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07424" y="219456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253728" y="2395728"/>
            <a:ext cx="384048" cy="384048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53728" y="24871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765792" y="23225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Publish sets 01–04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34015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DCEDE8"/>
          </a:solidFill>
          <a:ln w="12700">
            <a:solidFill>
              <a:srgbClr val="DCE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" y="345186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1D6F69"/>
                </a:solidFill>
              </a:rPr>
              <a:t>TRACK 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719072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Pathway hits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58368" y="384048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4672" y="4041648"/>
            <a:ext cx="384048" cy="384048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4672" y="41330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316736" y="396849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Four CSW master tables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3154680" y="412394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474720" y="384048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21024" y="4041648"/>
            <a:ext cx="384048" cy="384048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21024" y="41330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33088" y="396849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DAVID · FDR ≤10%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971032" y="412394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91072" y="384048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37376" y="4041648"/>
            <a:ext cx="384048" cy="384048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37376" y="41330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49440" y="396849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Review term keywords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787384" y="412394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107424" y="384048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253728" y="4041648"/>
            <a:ext cx="384048" cy="384048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253728" y="41330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765792" y="396849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Publish sets 05–07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640080" y="5257800"/>
            <a:ext cx="10917936" cy="841248"/>
          </a:xfrm>
          <a:prstGeom prst="roundRect">
            <a:avLst>
              <a:gd name="adj" fmla="val 8696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96112" y="54315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902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645920" y="54681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7D4D8"/>
                </a:solidFill>
              </a:rPr>
              <a:t>source observations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547872" y="54315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791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4297680" y="54681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7D4D8"/>
                </a:solidFill>
              </a:rPr>
              <a:t>unique source FBgns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199632" y="54315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A238"/>
                </a:solidFill>
              </a:rPr>
              <a:t>≥2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6949440" y="54681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7D4D8"/>
                </a:solidFill>
              </a:rPr>
              <a:t>minimum pathway frequency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851392" y="54315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9601200" y="54681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7D4D8"/>
                </a:solidFill>
              </a:rPr>
              <a:t>experiments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Thresholds remain separate: FC0.5 and FC1 are never collapsed into a max-frequency field.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SETS 01–02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Publication sets use explicit, reproducible rules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Sets 01–02 preserve publication evidence and resolve one biologically important identity conflict.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" y="1691640"/>
            <a:ext cx="5321808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938528"/>
            <a:ext cx="1572768" cy="292608"/>
          </a:xfrm>
          <a:prstGeom prst="roundRect">
            <a:avLst>
              <a:gd name="adj" fmla="val 25000"/>
            </a:avLst>
          </a:prstGeom>
          <a:solidFill>
            <a:srgbClr val="F5DED6"/>
          </a:solidFill>
          <a:ln w="1270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98882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D96C4C"/>
                </a:solidFill>
              </a:rPr>
              <a:t>SET 01  ·  6 GENES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23957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</a:rPr>
              <a:t>Mechanistic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96112" y="285292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6727A"/>
                </a:solidFill>
              </a:rPr>
              <a:t>Publication core joined by FBgn to mechanistic screen ranks 1–6.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3547872"/>
            <a:ext cx="4434840" cy="1572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0980" indent="-220980">
              <a:buSzPct val="100000"/>
              <a:buChar char="•"/>
            </a:pPr>
            <a:r>
              <a:rPr lang="en-US" sz="145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Carry forward mechanism, literature status, Tx-Omics evidence, and fl.ai confidence.</a:t>
            </a:r>
            <a:endParaRPr lang="en-US" sz="1450" dirty="0"/>
          </a:p>
          <a:p>
            <a:pPr marL="220980" indent="-220980">
              <a:buSzPct val="100000"/>
              <a:buChar char="•"/>
            </a:pPr>
            <a:r>
              <a:rPr lang="en-US" sz="145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Evidence labels: consistent, correlated, or curated.</a:t>
            </a:r>
            <a:endParaRPr lang="en-US" sz="1450" dirty="0"/>
          </a:p>
          <a:p>
            <a:pPr marL="220980" indent="-220980">
              <a:buSzPct val="100000"/>
              <a:buChar char="•"/>
            </a:pPr>
            <a:r>
              <a:rPr lang="en-US" sz="145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rank or annotation is inferred outside the source tables.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6112" y="539496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D96C4C"/>
                </a:solidFill>
              </a:rPr>
              <a:t>unc79  ·  SIFa  ·  rumpel  ·  AstA-R2  ·  Trhn  ·  RpL23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36208" y="1691640"/>
            <a:ext cx="5321808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10528" y="1938528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F4E8C9"/>
          </a:solidFill>
          <a:ln w="12700">
            <a:solidFill>
              <a:srgbClr val="F4E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98882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D8A238"/>
                </a:solidFill>
              </a:rPr>
              <a:t>SET 02  ·  20 GENES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10528" y="23957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</a:rPr>
              <a:t>Homeostatic history × rebound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10528" y="29992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510528" y="346557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A"/>
                </a:solidFill>
              </a:rPr>
              <a:t>History+ / Rebound−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87968" y="29992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D96C4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8887968" y="346557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A"/>
                </a:solidFill>
              </a:rPr>
              <a:t>History− / Rebound+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10528" y="4069080"/>
            <a:ext cx="4526280" cy="54864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43891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</a:rPr>
              <a:t>Identity correction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0528" y="475488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27A"/>
                </a:solidFill>
              </a:rPr>
              <a:t>Source row trh / FBgn0262139 is resolved from publication context to Trhn / FBgn0035187 (tryptophan hydroxylase). The wrong FBgn is never retained.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SETS 03–04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Screen frequency and direct-regulator evidence stay separate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Set 03 is threshold-scoped screen evidence; Set 04 comes directly from the paper.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" y="1700784"/>
            <a:ext cx="6812280" cy="4425696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947672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DCEDE8"/>
          </a:solidFill>
          <a:ln w="12700">
            <a:solidFill>
              <a:srgbClr val="DCE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99796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1D6F69"/>
                </a:solidFill>
              </a:rPr>
              <a:t>SET 03  ·  97 GENES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23957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</a:rPr>
              <a:t>CSW 4+ wake-frequency union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0449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97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914400" y="35112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A"/>
                </a:solidFill>
              </a:rPr>
              <a:t>FC0.5 wake frequency 4–6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30449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D96C4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3493008" y="351129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A"/>
                </a:solidFill>
              </a:rPr>
              <a:t>also qualify at FC1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77840" y="30449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5577840" y="3511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A"/>
                </a:solidFill>
              </a:rPr>
              <a:t>sleep genes at frequency 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6112" y="43708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</a:rPr>
              <a:t>Union rule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4736592"/>
            <a:ext cx="5870448" cy="11155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5740" indent="-205740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Take FC0.5 wake genes at frequency 4, 5, or 6.</a:t>
            </a:r>
            <a:endParaRPr lang="en-US" sz="1350" dirty="0"/>
          </a:p>
          <a:p>
            <a:pPr marL="205740" indent="-205740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Add FC1 wake frequency-4 genes; all seven are already in the FC0.5 set.</a:t>
            </a:r>
            <a:endParaRPr lang="en-US" sz="1350" dirty="0"/>
          </a:p>
          <a:p>
            <a:pPr marL="205740" indent="-205740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Keep FC0.5 and FC1 metadata in separate columns.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08392" y="1700784"/>
            <a:ext cx="3849624" cy="4425696"/>
          </a:xfrm>
          <a:prstGeom prst="roundRect">
            <a:avLst>
              <a:gd name="adj" fmla="val 190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10144" y="1947672"/>
            <a:ext cx="1536192" cy="292608"/>
          </a:xfrm>
          <a:prstGeom prst="roundRect">
            <a:avLst>
              <a:gd name="adj" fmla="val 25000"/>
            </a:avLst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83296" y="199796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FFFFFF"/>
                </a:solidFill>
              </a:rPr>
              <a:t>SET 04  ·  4 GENES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10144" y="241401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HLH regulators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010144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CFDADD"/>
                </a:solidFill>
              </a:rPr>
              <a:t>Named in Results / Table S1 after HOMER identified a CAGCTG E-box upstream of wake-induced genes.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10144" y="4023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bigmax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46920" y="40233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A69D"/>
                </a:solidFill>
              </a:rPr>
              <a:t>FBgn0039509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10144" y="44165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HLH3B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646920" y="44165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A69D"/>
                </a:solidFill>
              </a:rPr>
              <a:t>FBgn0011276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10144" y="4809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E(spl)m3-HLH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46920" y="48097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A69D"/>
                </a:solidFill>
              </a:rPr>
              <a:t>FBgn0002609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10144" y="52029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E(spl)mbeta-HLH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646920" y="520293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A69D"/>
                </a:solidFill>
              </a:rPr>
              <a:t>FBgn0002733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SETS 05–07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Pathway sets contain DAVID hits—not every annotated gene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Only hit genes from approved FDR-passing terms enter sets 05–07.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682496"/>
            <a:ext cx="438912" cy="43891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7922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25296" y="1737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Submit four CSW masters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35808" y="1792224"/>
            <a:ext cx="164592" cy="182880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55848" y="1682496"/>
            <a:ext cx="438912" cy="43891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17922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22776" y="1737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Keep FDR ≤10% terms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733288" y="1792224"/>
            <a:ext cx="164592" cy="182880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53328" y="1682496"/>
            <a:ext cx="438912" cy="43891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53328" y="17922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20256" y="1737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Review term keywords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30768" y="1792224"/>
            <a:ext cx="164592" cy="182880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50808" y="1682496"/>
            <a:ext cx="438912" cy="43891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50808" y="17922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17736" y="1737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Take hit FBgns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792" y="2487168"/>
            <a:ext cx="4773168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298094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Mitochondrial / metabolism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971800" y="3008376"/>
            <a:ext cx="1764792" cy="256032"/>
          </a:xfrm>
          <a:prstGeom prst="roundRect">
            <a:avLst>
              <a:gd name="adj" fmla="val 2142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71800" y="3008376"/>
            <a:ext cx="1764792" cy="256032"/>
          </a:xfrm>
          <a:prstGeom prst="roundRect">
            <a:avLst>
              <a:gd name="adj" fmla="val 2142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18888" y="29718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6F69"/>
                </a:solidFill>
              </a:rPr>
              <a:t>167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82219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Ribosomal / translation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971800" y="3849624"/>
            <a:ext cx="1764792" cy="256032"/>
          </a:xfrm>
          <a:prstGeom prst="roundRect">
            <a:avLst>
              <a:gd name="adj" fmla="val 2142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971800" y="3849624"/>
            <a:ext cx="1046194" cy="256032"/>
          </a:xfrm>
          <a:prstGeom prst="roundRect">
            <a:avLst>
              <a:gd name="adj" fmla="val 21429"/>
            </a:avLst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18888" y="38130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6C4C"/>
                </a:solidFill>
              </a:rPr>
              <a:t>99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6634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Immune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971800" y="4690872"/>
            <a:ext cx="1764792" cy="256032"/>
          </a:xfrm>
          <a:prstGeom prst="roundRect">
            <a:avLst>
              <a:gd name="adj" fmla="val 2142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971800" y="4690872"/>
            <a:ext cx="137160" cy="256032"/>
          </a:xfrm>
          <a:prstGeom prst="roundRect">
            <a:avLst>
              <a:gd name="adj" fmla="val 40000"/>
            </a:avLst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18888" y="46542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8A238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5468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6F69"/>
                </a:solidFill>
              </a:rPr>
              <a:t>All three lists are wake-only in this run.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650992" y="2487168"/>
            <a:ext cx="5907024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0" descr="Venn diagram of pathway gene-set overla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2724912"/>
            <a:ext cx="3310128" cy="2596896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9400032" y="28620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12B"/>
                </a:solidFill>
              </a:rPr>
              <a:t>Why the overlap is intentional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9400032" y="3493008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Mitochondrial translation and mitochondrial ribosomal-subunit terms match both keyword groups. Their hit genes are retained in every matched bucket.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9400032" y="493776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6C4C"/>
                </a:solidFill>
              </a:rPr>
              <a:t>31</a:t>
            </a:r>
            <a:endParaRPr lang="en-US" sz="2400" dirty="0"/>
          </a:p>
        </p:txBody>
      </p:sp>
      <p:sp>
        <p:nvSpPr>
          <p:cNvPr id="40" name="Text 37"/>
          <p:cNvSpPr/>
          <p:nvPr/>
        </p:nvSpPr>
        <p:spPr>
          <a:xfrm>
            <a:off x="10058400" y="50109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6727A"/>
                </a:solidFill>
              </a:rPr>
              <a:t>ribo ∩ mito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OVERLAP  ·  295 UNIQUE FBGNS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Most genes are set-specific; overlap concentrates in CSW and pathways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Exact intersections expose the reusable biological core without inflating membership.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" y="1645920"/>
            <a:ext cx="7406640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56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12B"/>
                </a:solidFill>
              </a:rPr>
              <a:t>Largest exact intersection blocks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5420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Mitochondrial only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11880" y="2551176"/>
            <a:ext cx="3246120" cy="256032"/>
          </a:xfrm>
          <a:prstGeom prst="roundRect">
            <a:avLst>
              <a:gd name="adj" fmla="val 17857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11880" y="2551176"/>
            <a:ext cx="3246120" cy="256032"/>
          </a:xfrm>
          <a:prstGeom prst="roundRect">
            <a:avLst>
              <a:gd name="adj" fmla="val 17857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49440" y="25237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6F69"/>
                </a:solidFill>
              </a:rPr>
              <a:t>102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Ribosomal only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11880" y="3191256"/>
            <a:ext cx="3246120" cy="256032"/>
          </a:xfrm>
          <a:prstGeom prst="roundRect">
            <a:avLst>
              <a:gd name="adj" fmla="val 17857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11880" y="3191256"/>
            <a:ext cx="1272988" cy="256032"/>
          </a:xfrm>
          <a:prstGeom prst="roundRect">
            <a:avLst>
              <a:gd name="adj" fmla="val 17857"/>
            </a:avLst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9440" y="31638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6C4C"/>
                </a:solidFill>
              </a:rPr>
              <a:t>40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38221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CSW 4+ ∩ mitochondrial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11880" y="3831336"/>
            <a:ext cx="3246120" cy="256032"/>
          </a:xfrm>
          <a:prstGeom prst="roundRect">
            <a:avLst>
              <a:gd name="adj" fmla="val 17857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11880" y="3831336"/>
            <a:ext cx="1082040" cy="256032"/>
          </a:xfrm>
          <a:prstGeom prst="roundRect">
            <a:avLst>
              <a:gd name="adj" fmla="val 17857"/>
            </a:avLst>
          </a:prstGeom>
          <a:solidFill>
            <a:srgbClr val="3B718B"/>
          </a:solidFill>
          <a:ln w="12700">
            <a:solidFill>
              <a:srgbClr val="3B71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9440" y="38039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B718B"/>
                </a:solidFill>
              </a:rPr>
              <a:t>34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44622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CSW 4+ only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611880" y="4471416"/>
            <a:ext cx="3246120" cy="256032"/>
          </a:xfrm>
          <a:prstGeom prst="roundRect">
            <a:avLst>
              <a:gd name="adj" fmla="val 17857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11880" y="4471416"/>
            <a:ext cx="891092" cy="256032"/>
          </a:xfrm>
          <a:prstGeom prst="roundRect">
            <a:avLst>
              <a:gd name="adj" fmla="val 17857"/>
            </a:avLst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49440" y="44439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8A238"/>
                </a:solidFill>
              </a:rPr>
              <a:t>28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" y="51023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Ribosomal ∩ mitochondrial only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611880" y="5111496"/>
            <a:ext cx="3246120" cy="256032"/>
          </a:xfrm>
          <a:prstGeom prst="roundRect">
            <a:avLst>
              <a:gd name="adj" fmla="val 17857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11880" y="5111496"/>
            <a:ext cx="763793" cy="256032"/>
          </a:xfrm>
          <a:prstGeom prst="roundRect">
            <a:avLst>
              <a:gd name="adj" fmla="val 17857"/>
            </a:avLst>
          </a:prstGeom>
          <a:solidFill>
            <a:srgbClr val="665C86"/>
          </a:solidFill>
          <a:ln w="12700">
            <a:solidFill>
              <a:srgbClr val="665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49440" y="50840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65C86"/>
                </a:solidFill>
              </a:rPr>
              <a:t>24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32688" y="5504688"/>
            <a:ext cx="6464808" cy="420624"/>
          </a:xfrm>
          <a:prstGeom prst="roundRect">
            <a:avLst>
              <a:gd name="adj" fmla="val 17391"/>
            </a:avLst>
          </a:prstGeom>
          <a:solidFill>
            <a:srgbClr val="EEF2EF"/>
          </a:solidFill>
          <a:ln w="10160">
            <a:solidFill>
              <a:srgbClr val="D9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33856" y="5623560"/>
            <a:ext cx="6053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6F69"/>
                </a:solidFill>
              </a:rPr>
              <a:t>The immune and HLH sets remain fully distinct from the pathway core.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02752" y="1645920"/>
            <a:ext cx="3255264" cy="4553712"/>
          </a:xfrm>
          <a:prstGeom prst="roundRect">
            <a:avLst>
              <a:gd name="adj" fmla="val 2247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13648" y="19568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matters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613648" y="256032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DA69D"/>
                </a:solidFill>
              </a:rPr>
              <a:t>200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9464040" y="26060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4DFE2"/>
                </a:solidFill>
              </a:rPr>
              <a:t>genes in exactly one set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613648" y="340156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96C4C"/>
                </a:solidFill>
              </a:rPr>
              <a:t>87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9464040" y="34472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4DFE2"/>
                </a:solidFill>
              </a:rPr>
              <a:t>genes in exactly two sets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613648" y="424281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96C4C"/>
                </a:solidFill>
              </a:rPr>
              <a:t>8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9464040" y="428853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4DFE2"/>
                </a:solidFill>
              </a:rPr>
              <a:t>genes in exactly three sets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613648" y="5102352"/>
            <a:ext cx="2542032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613648" y="535838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A69D"/>
                </a:solidFill>
              </a:rPr>
              <a:t>Largest pairwise overlaps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13648" y="559612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41  CSW 4+ ∩ mito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35  CSW 4+ ∩ ribo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31  ribo ∩ mito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DA69D"/>
                </a:solidFill>
              </a:rPr>
              <a:t>STOCKER HANDOFF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contract is simple—and strict.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664208"/>
            <a:ext cx="2487168" cy="1261872"/>
          </a:xfrm>
          <a:prstGeom prst="roundRect">
            <a:avLst>
              <a:gd name="adj" fmla="val 5797"/>
            </a:avLst>
          </a:prstGeom>
          <a:solidFill>
            <a:srgbClr val="D96C4C"/>
          </a:solidFill>
          <a:ln w="1016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7824" y="189280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63040" y="186537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E0E3"/>
                </a:solidFill>
              </a:rPr>
              <a:t>Exactly seven CSVs in the discovery folder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664208"/>
            <a:ext cx="2487168" cy="1261872"/>
          </a:xfrm>
          <a:prstGeom prst="roundRect">
            <a:avLst>
              <a:gd name="adj" fmla="val 5797"/>
            </a:avLst>
          </a:prstGeom>
          <a:solidFill>
            <a:srgbClr val="1A3442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48456" y="189280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33672" y="186537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E0E3"/>
                </a:solidFill>
              </a:rPr>
              <a:t>Required keys: ext_gene and flybase_gene_id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664208"/>
            <a:ext cx="2487168" cy="1261872"/>
          </a:xfrm>
          <a:prstGeom prst="roundRect">
            <a:avLst>
              <a:gd name="adj" fmla="val 5797"/>
            </a:avLst>
          </a:prstGeom>
          <a:solidFill>
            <a:srgbClr val="1A3442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19088" y="189280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04304" y="186537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E0E3"/>
                </a:solidFill>
              </a:rPr>
              <a:t>No overlap, GO, or audit CSVs beside the inputs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35440" y="804672"/>
            <a:ext cx="2304288" cy="4224528"/>
          </a:xfrm>
          <a:prstGeom prst="roundRect">
            <a:avLst>
              <a:gd name="adj" fmla="val 3175"/>
            </a:avLst>
          </a:prstGeom>
          <a:solidFill>
            <a:srgbClr val="F7F3EA"/>
          </a:solidFill>
          <a:ln w="10160">
            <a:solidFill>
              <a:srgbClr val="F7F3EA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28048" y="10972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2B"/>
                </a:solidFill>
              </a:rPr>
              <a:t>Seven inputs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528048" y="1645920"/>
            <a:ext cx="164592" cy="164592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20656" y="161848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01  Mechanistic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28048" y="2066544"/>
            <a:ext cx="164592" cy="164592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20656" y="20391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02  Homeostatic H×R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528048" y="2487168"/>
            <a:ext cx="164592" cy="164592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20656" y="24597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03  CSW 4+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28048" y="2907792"/>
            <a:ext cx="164592" cy="164592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20656" y="288036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04  HLH regulators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528048" y="3328416"/>
            <a:ext cx="164592" cy="16459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820656" y="330098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05  Ribosomal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528048" y="3749040"/>
            <a:ext cx="164592" cy="16459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20656" y="372160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06  Mitochondrial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528048" y="4169664"/>
            <a:ext cx="164592" cy="16459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820656" y="414223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07  Immune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8368" y="3346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5DA69D"/>
                </a:solidFill>
              </a:rPr>
              <a:t>RUN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" y="3675888"/>
            <a:ext cx="8165592" cy="1078992"/>
          </a:xfrm>
          <a:prstGeom prst="roundRect">
            <a:avLst>
              <a:gd name="adj" fmla="val 5085"/>
            </a:avLst>
          </a:prstGeom>
          <a:solidFill>
            <a:srgbClr val="0A1821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32688" y="3977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7E3E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python -m fl_ai_reagent_stocker run ./data/gene_sets/Tx-Omics_Revision/ \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E3E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 --config ./data/config/stock_split_config_priority_example.json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" y="52303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6C4C"/>
                </a:solidFill>
              </a:rPr>
              <a:t>Stability rule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57400" y="5212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6E0E3"/>
                </a:solidFill>
              </a:rPr>
              <a:t>Discovery is recursive: every extra *.csv changes the run. Keep analysis outputs elsewhere.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" y="64556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6AF"/>
                </a:solidFill>
              </a:rPr>
              <a:t>Rosensweig–Shah 2026  ·  Tx-Omics Revision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923</Words>
  <Application>Microsoft Macintosh PowerPoint</Application>
  <PresentationFormat>Widescreen</PresentationFormat>
  <Paragraphs>222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Avenir Next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Tx-Omics Revision — Gene-set curation</dc:title>
  <dc:subject>Tx-Omics Revision gene-set curation</dc:subject>
  <dc:creator>fl.ai</dc:creator>
  <cp:lastModifiedBy>Shah, Aadish</cp:lastModifiedBy>
  <cp:revision>3</cp:revision>
  <dcterms:created xsi:type="dcterms:W3CDTF">2026-08-12T22:33:11Z</dcterms:created>
  <dcterms:modified xsi:type="dcterms:W3CDTF">2026-08-12T22:51:51Z</dcterms:modified>
</cp:coreProperties>
</file>