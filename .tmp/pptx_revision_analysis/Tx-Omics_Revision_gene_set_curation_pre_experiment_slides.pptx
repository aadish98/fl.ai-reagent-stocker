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5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58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80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gene sets.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clear definitions.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9067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captures four primary evidence categories. Family 2 contains three CSW-derived GO term groups, with FC0.5 and FC1 provenance shown separately.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DC6B4D"/>
          </a:solidFill>
          <a:ln w="1016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41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0741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383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29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9029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GO-derived 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41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0741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383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29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9029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stocker CSVs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families, seven non-interchangeable 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set now receives one slide; overlap is reported separately within each family.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2180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2578608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PRIMARY EVIDENCE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79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2606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084832" y="26609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Consistent/correlated + published homeostatic-consistent effect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3192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084832" y="337413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75888" y="3364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Opposing history versus rebound correlations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105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89888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084832" y="408736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in four or more of seven datasets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9888" y="47457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084832" y="4800600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75888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Potential upstream regulators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6208" y="1810512"/>
            <a:ext cx="5303520" cy="4315968"/>
          </a:xfrm>
          <a:prstGeom prst="roundRect">
            <a:avLst>
              <a:gd name="adj" fmla="val 148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10528" y="2084832"/>
            <a:ext cx="270662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01968" y="21579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CSW-DERIVED GO Sets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27614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7728" y="26700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863840" y="2734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59007" y="2734056"/>
            <a:ext cx="16429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99  ·  FC1 12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35844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863840" y="36484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59007" y="3648456"/>
            <a:ext cx="16429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FC0.5 167  ·  FC1 23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10528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67728" y="44988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863840" y="45628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59007" y="4562856"/>
            <a:ext cx="16429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0  ·  FC1 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10528" y="5522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and FC1 counts are source-provenance counts. A gene may appear at both thresholds.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· 6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or correlated sleep/wake genes with published effects compatible with homeostatic feedback.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749040" cy="4315968"/>
          </a:xfrm>
          <a:prstGeom prst="roundRect">
            <a:avLst>
              <a:gd name="adj" fmla="val 170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60194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paper-highlighted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Inclusion requires transcriptomic evidence plus published sleep/wake function.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58768"/>
            <a:ext cx="3090672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4133088"/>
            <a:ext cx="307238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across sleep/wake conditions or correlated with sleep/wake history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Published perturbation changes sleep/wake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Effect direction fits a potential homeostatic loop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659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unc79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NALCN complex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1987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SIFa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4847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3659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rumpel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6519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glial transporter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987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4847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 receptor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3659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6519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serotonin synthesis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1987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4847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4847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 / translation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 · 20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correlated with pre-sampling sleep/wake history and post-sampling rebound in the opposite direction.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063240" cy="4315968"/>
          </a:xfrm>
          <a:prstGeom prst="roundRect">
            <a:avLst>
              <a:gd name="adj" fmla="val 209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History+ / Rebound−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Positive correlation with prior sleep; negative correlation with rebound.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9264" y="4133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69264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History− / Rebound+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5047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Negative correlation with prior sleep; positive correlation with rebound.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05072" y="1810512"/>
            <a:ext cx="7534656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084832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215798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  ·  HISTORY+ / REBOUND−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0" y="2651760"/>
            <a:ext cx="6912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  ·  bumpel  ·  CG33080  ·  CG41378  ·  CG7460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CG7601  ·  Chrac-14  ·  Cyp28c1  ·  dpr21  ·  kumpel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Obp44a  ·  Sk1  ·  Ssk  ·  Trhn  ·  VGlut2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005072" y="4498848"/>
            <a:ext cx="7534656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4773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484632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 ·  HISTORY− / REBOUND+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0" y="541324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CG42323  ·  CG7079  ·  CG9313  ·  CG9377  ·  Gtpbp1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 · 97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sleep/wake genes evident across four or more of the seven datasets.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657600" cy="4315968"/>
          </a:xfrm>
          <a:prstGeom prst="roundRect">
            <a:avLst>
              <a:gd name="adj" fmla="val 175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wake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category rule is recurrence across datasets—not GO enrichment.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77056"/>
            <a:ext cx="292608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41513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69264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also qualify at FC1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50657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seven are already contained within the 97-gene FC0.5 set.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08576" y="1810512"/>
            <a:ext cx="6931152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Recurrence across seven datasets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1947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0704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9472" y="34198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55280" y="3438144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55280" y="3438144"/>
            <a:ext cx="434005" cy="246888"/>
          </a:xfrm>
          <a:prstGeom prst="roundRect">
            <a:avLst>
              <a:gd name="adj" fmla="val 1851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07040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9472" y="40782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4096512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5280" y="4096512"/>
            <a:ext cx="91440" cy="246888"/>
          </a:xfrm>
          <a:prstGeom prst="roundRect">
            <a:avLst>
              <a:gd name="adj" fmla="val 50000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07040" y="4069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19472" y="4974336"/>
            <a:ext cx="6053328" cy="822960"/>
          </a:xfrm>
          <a:prstGeom prst="roundRect">
            <a:avLst>
              <a:gd name="adj" fmla="val 7778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52303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sleep-upregulated gene met the ≥4-of-7 dataset recurrence criterion.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· 4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bHLH factors identified as potential upstream regulators of wake-induced gene expression.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22192" cy="4315968"/>
          </a:xfrm>
          <a:prstGeom prst="roundRect">
            <a:avLst>
              <a:gd name="adj" fmla="val 1675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0976" y="2103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217627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REGULATORY LOGIC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27432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CAGCTG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50976" y="34015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E-box enriched upstream of wake-induced genes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0976" y="4224528"/>
            <a:ext cx="420624" cy="365760"/>
          </a:xfrm>
          <a:prstGeom prst="chevron">
            <a:avLst/>
          </a:prstGeom>
          <a:solidFill>
            <a:srgbClr val="67AFA6"/>
          </a:solidFill>
          <a:ln w="12700">
            <a:solidFill>
              <a:srgbClr val="67A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72768" y="4197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HOMER motif enrichment → candidate direct regulators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52486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Results · Table S1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9744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bigmax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0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FBgn0039509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74736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HLH3B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FBgn0011276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9744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E(spl)m3-HLH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29200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FBgn0002609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74736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94192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E(spl)mbeta-HLH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94192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FBgn0002733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9744" y="5285232"/>
            <a:ext cx="6382512" cy="640080"/>
          </a:xfrm>
          <a:prstGeom prst="roundRect">
            <a:avLst>
              <a:gd name="adj" fmla="val 10000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5477256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set is regulatory evidence—not frequency or correlation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/ translation · 99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term–grouped hit genes with FC0.5 and FC1 source provenance shown separately.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 PROVENANCE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37581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31720" y="3831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331720" y="43982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7632" y="4892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331720" y="4965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appear at both thresholds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FC0.5 + 12 FC1 − 12 both = 99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Structural constituent of ribosome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3310128"/>
            <a:ext cx="2369967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198356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Cytoplasmic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38160" y="4370832"/>
            <a:ext cx="1674434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Cytosolic ribosome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01184"/>
            <a:ext cx="149411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58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87 FC0.5-only  ·  0 FC1-only  ·  12 at both thresholds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/ metabolism · 167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term–grouped hit genes with FC0.5 and FC1 source provenance shown separately.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 PROVENANCE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37581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31720" y="3831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331720" y="43982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7632" y="4892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331720" y="4965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appear at both thresholds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 FC0.5 + 23 FC1 − 23 both = 167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inner membrane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3310128"/>
            <a:ext cx="1425557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Oxidative phosphorylation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910773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38160" y="4370832"/>
            <a:ext cx="59398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matrix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01184"/>
            <a:ext cx="475186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144 FC0.5-only  ·  0 FC1-only  ·  23 at both thresholds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· 5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immune GO term group is FC1-exclusive in this analysis.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 PROVENANCE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37581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31720" y="3831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331720" y="43982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supported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7632" y="4892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331720" y="4965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appear at both thresholds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 + 5 FC1 − 0 both = 5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Five FC1-supported genes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02352" y="2761488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BomBc2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102352" y="3291840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2976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02352" y="3822192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22976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02352" y="4352544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22976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IM14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02352" y="4882896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22976" y="4864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Thor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26680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Approved GO terms · genes per term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7726680" y="2816352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10144" y="277977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Defense response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351008" y="27797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726680" y="3511296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10144" y="347472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Antibacterial humoral response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351008" y="3474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726680" y="4206240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0144" y="416966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Response to bacterium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351008" y="41696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726680" y="47365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may occur in more than one approved term.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726680" y="5175504"/>
            <a:ext cx="3264408" cy="640080"/>
          </a:xfrm>
          <a:prstGeom prst="roundRect">
            <a:avLst>
              <a:gd name="adj" fmla="val 10000"/>
            </a:avLst>
          </a:prstGeom>
          <a:solidFill>
            <a:srgbClr val="F4E8C9"/>
          </a:solidFill>
          <a:ln w="1016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18704" y="5376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A6E1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FC0.5-only  ·  5 FC1-only  ·  0 at both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three genes cross primary-set boundaries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Overlap is calculated among Mechanistic, Homeostatic, CSW 4+, and HLH only.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94576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Observed shared genes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" y="2779776"/>
            <a:ext cx="73152" cy="530352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43584" y="2834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Homeostatic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24528" y="27614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  ·  AstA-R2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9264" y="3602736"/>
            <a:ext cx="73152" cy="530352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3584" y="3657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CSW 4+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24528" y="35844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9264" y="4425696"/>
            <a:ext cx="73152" cy="530352"/>
          </a:xfrm>
          <a:prstGeom prst="rect">
            <a:avLst/>
          </a:prstGeom>
          <a:solidFill>
            <a:srgbClr val="5E6971"/>
          </a:solidFill>
          <a:ln w="12700">
            <a:solidFill>
              <a:srgbClr val="5E69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3584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other pairings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24528" y="44074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shared FBgns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845552" y="1810512"/>
            <a:ext cx="3694176" cy="4315968"/>
          </a:xfrm>
          <a:prstGeom prst="roundRect">
            <a:avLst>
              <a:gd name="adj" fmla="val 173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74736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union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74736" y="2743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62288" y="2798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FBgns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74736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162288" y="34381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one set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74736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162288" y="40782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two sets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74736" y="4663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162288" y="47183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three or four sets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74736" y="5504688"/>
            <a:ext cx="2852928" cy="402336"/>
          </a:xfrm>
          <a:prstGeom prst="roundRect">
            <a:avLst>
              <a:gd name="adj" fmla="val 15909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75904" y="56144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are fully disjoint.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GO-derived union contains 240 unique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ribosomal + 167 mitochondrial + 5 immune − 31 shared ribosomal/mitochondrial genes = 240 unique FBgns.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5800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031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Union of Ribosomal, Mitochondrial &amp; Immune · 240 unique FBgns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" y="2852928"/>
            <a:ext cx="1678838" cy="585216"/>
          </a:xfrm>
          <a:prstGeom prst="rect">
            <a:avLst/>
          </a:prstGeom>
          <a:solidFill>
            <a:srgbClr val="DC6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48102" y="2852928"/>
            <a:ext cx="765353" cy="585216"/>
          </a:xfrm>
          <a:prstGeom prst="rect">
            <a:avLst/>
          </a:prstGeom>
          <a:solidFill>
            <a:srgbClr val="665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3455" y="2852928"/>
            <a:ext cx="3357677" cy="585216"/>
          </a:xfrm>
          <a:prstGeom prst="rect">
            <a:avLst/>
          </a:prstGeom>
          <a:solidFill>
            <a:srgbClr val="1D6F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71132" y="2852928"/>
            <a:ext cx="310896" cy="585216"/>
          </a:xfrm>
          <a:prstGeom prst="rect">
            <a:avLst/>
          </a:prstGeom>
          <a:solidFill>
            <a:srgbClr val="D8A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9264" y="3858768"/>
            <a:ext cx="219456" cy="219456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53312" y="3822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68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93392" y="3840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only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" y="4297680"/>
            <a:ext cx="219456" cy="219456"/>
          </a:xfrm>
          <a:prstGeom prst="rect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53312" y="4261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65C8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93392" y="4279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∩ mitochondrial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9264" y="4736592"/>
            <a:ext cx="219456" cy="219456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53312" y="4700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93392" y="4718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only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9264" y="5175504"/>
            <a:ext cx="219456" cy="219456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53312" y="5138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93392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only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822192"/>
            <a:ext cx="2212848" cy="1755648"/>
          </a:xfrm>
          <a:prstGeom prst="roundRect">
            <a:avLst>
              <a:gd name="adj" fmla="val 3646"/>
            </a:avLst>
          </a:prstGeom>
          <a:solidFill>
            <a:srgbClr val="F7F3EA"/>
          </a:solidFill>
          <a:ln w="10160">
            <a:solidFill>
              <a:srgbClr val="D8D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02352" y="407822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Category overlap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02352" y="44074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665C8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31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5797296" y="4370832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shared genes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retained in both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and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08976" y="1810512"/>
            <a:ext cx="3730752" cy="4315968"/>
          </a:xfrm>
          <a:prstGeom prst="roundRect">
            <a:avLst>
              <a:gd name="adj" fmla="val 171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38160" y="210312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 provenance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across the 240-gene union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138160" y="305409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203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9125712" y="31363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only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387705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32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9125712" y="39593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 thresholds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900" dirty="0"/>
          </a:p>
        </p:txBody>
      </p:sp>
      <p:sp>
        <p:nvSpPr>
          <p:cNvPr id="35" name="Text 33"/>
          <p:cNvSpPr/>
          <p:nvPr/>
        </p:nvSpPr>
        <p:spPr>
          <a:xfrm>
            <a:off x="9125712" y="47823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only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38160" y="5577840"/>
            <a:ext cx="276148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38160" y="57424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the five Immune genes are FC1-exclusive.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967</Words>
  <Application>Microsoft Macintosh PowerPoint</Application>
  <PresentationFormat>Widescreen</PresentationFormat>
  <Paragraphs>274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Avenir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Rosensweig–Shah 2026 gene-set curation</dc:subject>
  <dc:creator>fl.ai</dc:creator>
  <cp:lastModifiedBy>Shah, Aadish</cp:lastModifiedBy>
  <cp:revision>7</cp:revision>
  <dcterms:created xsi:type="dcterms:W3CDTF">2026-08-13T14:28:42Z</dcterms:created>
  <dcterms:modified xsi:type="dcterms:W3CDTF">2026-08-13T15:14:18Z</dcterms:modified>
</cp:coreProperties>
</file>