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E2138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E2138"/>
                </a:solidFill>
                <a:latin typeface="Arial"/>
              </a:rPr>
              <a:t>Distinct reagents by Stock Center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Distinct reagents</c:v>
                </c:pt>
              </c:strCache>
            </c:strRef>
          </c:tx>
          <c:spPr>
            <a:solidFill>
              <a:srgbClr val="0E213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8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BDSC</c:v>
                  </c:pt>
                  <c:pt idx="1">
                    <c:v>Kyoto</c:v>
                  </c:pt>
                  <c:pt idx="2">
                    <c:v>NDSSC</c:v>
                  </c:pt>
                  <c:pt idx="3">
                    <c:v>NIG-Fly</c:v>
                  </c:pt>
                  <c:pt idx="4">
                    <c:v>Custom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53</c:v>
                </c:pt>
                <c:pt idx="2">
                  <c:v>2</c:v>
                </c:pt>
                <c:pt idx="3">
                  <c:v>2</c:v>
                </c:pt>
                <c:pt idx="4">
                  <c:v>206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28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1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Top 10 genes by reagent-row count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Reagent rows</c:v>
                </c:pt>
              </c:strCache>
            </c:strRef>
          </c:tx>
          <c:spPr>
            <a:solidFill>
              <a:srgbClr val="E859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gl</c:v>
                  </c:pt>
                  <c:pt idx="1">
                    <c:v>ninaE</c:v>
                  </c:pt>
                  <c:pt idx="2">
                    <c:v>pk</c:v>
                  </c:pt>
                  <c:pt idx="3">
                    <c:v>TrpA1</c:v>
                  </c:pt>
                  <c:pt idx="4">
                    <c:v>Tpi</c:v>
                  </c:pt>
                  <c:pt idx="5">
                    <c:v>ap</c:v>
                  </c:pt>
                  <c:pt idx="6">
                    <c:v>Irk2</c:v>
                  </c:pt>
                  <c:pt idx="7">
                    <c:v>ort</c:v>
                  </c:pt>
                  <c:pt idx="8">
                    <c:v>shi</c:v>
                  </c:pt>
                  <c:pt idx="9">
                    <c:v>norpA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39</c:v>
                </c:pt>
                <c:pt idx="1">
                  <c:v>19</c:v>
                </c:pt>
                <c:pt idx="2">
                  <c:v>18</c:v>
                </c:pt>
                <c:pt idx="3">
                  <c:v>14</c:v>
                </c:pt>
                <c:pt idx="4">
                  <c:v>11</c:v>
                </c:pt>
                <c:pt idx="5">
                  <c:v>11</c:v>
                </c:pt>
                <c:pt idx="6">
                  <c:v>6</c:v>
                </c:pt>
                <c:pt idx="7">
                  <c:v>6</c:v>
                </c:pt>
                <c:pt idx="8">
                  <c:v>6</c:v>
                </c:pt>
                <c:pt idx="9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FB4C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41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4C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E213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Rows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590C"/>
              </a:solidFill>
              <a:effectLst/>
            </c:spPr>
          </c:dPt>
          <c:dPt>
            <c:idx val="1"/>
            <c:bubble3D val="0"/>
            <c:spPr>
              <a:solidFill>
                <a:srgbClr val="2E86AB"/>
              </a:solidFill>
              <a:effectLst/>
            </c:spPr>
          </c:dPt>
          <c:dPt>
            <c:idx val="2"/>
            <c:bubble3D val="0"/>
            <c:spPr>
              <a:solidFill>
                <a:srgbClr val="0E2138"/>
              </a:solidFill>
              <a:effectLst/>
            </c:spPr>
          </c:dPt>
          <c:dPt>
            <c:idx val="3"/>
            <c:bubble3D val="0"/>
            <c:spPr>
              <a:solidFill>
                <a:srgbClr val="3E658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heat</c:v>
                </c:pt>
                <c:pt idx="1">
                  <c:v>thermo*</c:v>
                </c:pt>
                <c:pt idx="2">
                  <c:v>temperature</c:v>
                </c:pt>
                <c:pt idx="3">
                  <c:v>cold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194</c:v>
                </c:pt>
                <c:pt idx="1">
                  <c:v>105</c:v>
                </c:pt>
                <c:pt idx="2">
                  <c:v>99</c:v>
                </c:pt>
                <c:pt idx="3">
                  <c:v>22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6283D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97680"/>
            <a:ext cx="3291840" cy="3291840"/>
          </a:xfrm>
          <a:prstGeom prst="ellipse">
            <a:avLst/>
          </a:prstGeom>
          <a:solidFill>
            <a:srgbClr val="2E86AB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029200"/>
            <a:ext cx="2377440" cy="2377440"/>
          </a:xfrm>
          <a:prstGeom prst="ellipse">
            <a:avLst/>
          </a:prstGeom>
          <a:solidFill>
            <a:srgbClr val="E8590C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-1097280"/>
            <a:ext cx="2743200" cy="2743200"/>
          </a:xfrm>
          <a:prstGeom prst="ellipse">
            <a:avLst/>
          </a:prstGeom>
          <a:solidFill>
            <a:srgbClr val="2E86AB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85800"/>
            <a:ext cx="566928" cy="566928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83320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463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A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FLYBASE-DERIVED · GENOME-WIDE SCAN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828800"/>
            <a:ext cx="8686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 Phenotype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Reagent Atlas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640080" y="3794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genes, alleles, and stocks were selected for the heat / cold / thermotaxis reagent workbook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" y="4892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AA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173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640080" y="5440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423160" y="4892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AA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420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2423160" y="5440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reagent rows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206240" y="4892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AA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402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4206240" y="5440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rows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989320" y="4892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AA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5989320" y="5440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scripts/build_temperature_phenotype_gene_list.py  ·  data/gene_sets/temperature_phenotypes/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WORKBOOK EXISTS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a genome-wide FlyBase scan into an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orderable reagent list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design decisions make the list reproducible end to end.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743200"/>
            <a:ext cx="640080" cy="640080"/>
          </a:xfrm>
          <a:prstGeom prst="ellipse">
            <a:avLst/>
          </a:prstGeom>
          <a:solidFill>
            <a:srgbClr val="0E213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290962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6118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Genome-wide, not a gene list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42062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starting gene list. Every FlyBase-curated phenotype record is scanned for temperature relevance.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43400" y="242316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2743200"/>
            <a:ext cx="640080" cy="640080"/>
          </a:xfrm>
          <a:prstGeom prst="ellipse">
            <a:avLst/>
          </a:prstGeom>
          <a:solidFill>
            <a:srgbClr val="E8590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861" y="29096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36118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match, not a model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663440" y="42062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is a literal keyword match against phenotype/qualifier text — fully auditable, no embeddings or similarity scores.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38160" y="242316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58200" y="2743200"/>
            <a:ext cx="640080" cy="640080"/>
          </a:xfrm>
          <a:prstGeom prst="ellipse">
            <a:avLst/>
          </a:prstGeom>
          <a:solidFill>
            <a:srgbClr val="0E213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4621" y="290962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58200" y="36118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reagents only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458200" y="42062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and RNAi constructs are excluded so the list stays focused on alleles and insertions you can order and phenotype directly.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572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Phenotype Reagent Atlas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338560" y="640080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FlyBase tables + PubMed metadata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1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05940"/>
            <a:ext cx="548640" cy="548640"/>
          </a:xfrm>
          <a:prstGeom prst="ellipse">
            <a:avLst/>
          </a:prstGeom>
          <a:solidFill>
            <a:srgbClr val="EFEDE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94858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46504"/>
            <a:ext cx="37490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genotype_phenotype_data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0" y="1746504"/>
            <a:ext cx="5943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curated genotype → phenotype → qualifier → reference assertion in FlyBase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62432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1D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2738628"/>
            <a:ext cx="548640" cy="548640"/>
          </a:xfrm>
          <a:prstGeom prst="ellipse">
            <a:avLst/>
          </a:prstGeom>
          <a:solidFill>
            <a:srgbClr val="EFEDE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06" y="2881274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679192"/>
            <a:ext cx="37490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fbal_to_fbgn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486400" y="2679192"/>
            <a:ext cx="5943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each classical/transgenic allele (FBal) to its gene (FBgn) and symbol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55701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1D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3671316"/>
            <a:ext cx="548640" cy="548640"/>
          </a:xfrm>
          <a:prstGeom prst="ellipse">
            <a:avLst/>
          </a:prstGeom>
          <a:solidFill>
            <a:srgbClr val="EFEDE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3813962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611880"/>
            <a:ext cx="37490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fb_synonym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486400" y="3611880"/>
            <a:ext cx="5943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each FBgn to its current D. melanogaster gene symbol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48970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1D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22960" y="4604004"/>
            <a:ext cx="548640" cy="548640"/>
          </a:xfrm>
          <a:prstGeom prst="ellipse">
            <a:avLst/>
          </a:prstGeom>
          <a:solidFill>
            <a:srgbClr val="EFEDE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" y="4746650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4544568"/>
            <a:ext cx="37490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fbst_to_derived_stock_component.csv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486400" y="4544568"/>
            <a:ext cx="5943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FlyBase stock (FBst), its collection, and full genotype components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48640" y="5422392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1D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22960" y="5536692"/>
            <a:ext cx="548640" cy="548640"/>
          </a:xfrm>
          <a:prstGeom prst="ellipse">
            <a:avLst/>
          </a:prstGeom>
          <a:solidFill>
            <a:srgbClr val="EFEDE6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606" y="5679338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0200" y="5477256"/>
            <a:ext cx="37490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fbrf_pmid_pmcid_doi + PubMed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5486400" y="5477256"/>
            <a:ext cx="5943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IDs, titles, authors, journal, and year for every citation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572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Phenotype Reagent Atlas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338560" y="640080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A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curated phenotype to ordered stock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60020" y="2606040"/>
            <a:ext cx="1371600" cy="1783080"/>
          </a:xfrm>
          <a:prstGeom prst="roundRect">
            <a:avLst>
              <a:gd name="adj" fmla="val 5333"/>
            </a:avLst>
          </a:prstGeom>
          <a:solidFill>
            <a:srgbClr val="16324F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2356" y="2862072"/>
            <a:ext cx="566928" cy="566928"/>
          </a:xfrm>
          <a:prstGeom prst="ellipse">
            <a:avLst/>
          </a:prstGeom>
          <a:solidFill>
            <a:srgbClr val="1F3A5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757" y="3009473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" y="3593592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FlyBase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phenotypes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531620" y="3296412"/>
            <a:ext cx="137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659636" y="2606040"/>
            <a:ext cx="1371600" cy="1783080"/>
          </a:xfrm>
          <a:prstGeom prst="roundRect">
            <a:avLst>
              <a:gd name="adj" fmla="val 5333"/>
            </a:avLst>
          </a:prstGeom>
          <a:solidFill>
            <a:srgbClr val="E8590C"/>
          </a:solidFill>
          <a:ln w="12700">
            <a:solidFill>
              <a:srgbClr val="FFD9C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061972" y="286207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373" y="3009473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14500" y="3593592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match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031236" y="3296412"/>
            <a:ext cx="137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3159252" y="2606040"/>
            <a:ext cx="1371600" cy="1783080"/>
          </a:xfrm>
          <a:prstGeom prst="roundRect">
            <a:avLst>
              <a:gd name="adj" fmla="val 5333"/>
            </a:avLst>
          </a:prstGeom>
          <a:solidFill>
            <a:srgbClr val="16324F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561588" y="2862072"/>
            <a:ext cx="566928" cy="566928"/>
          </a:xfrm>
          <a:prstGeom prst="ellipse">
            <a:avLst/>
          </a:prstGeom>
          <a:solidFill>
            <a:srgbClr val="1F3A5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8989" y="3009473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214116" y="3593592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Allele / insertion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(no UAS/RNAi)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4530852" y="3296412"/>
            <a:ext cx="137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4658868" y="2606040"/>
            <a:ext cx="1371600" cy="1783080"/>
          </a:xfrm>
          <a:prstGeom prst="roundRect">
            <a:avLst>
              <a:gd name="adj" fmla="val 5333"/>
            </a:avLst>
          </a:prstGeom>
          <a:solidFill>
            <a:srgbClr val="16324F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061204" y="2862072"/>
            <a:ext cx="566928" cy="566928"/>
          </a:xfrm>
          <a:prstGeom prst="ellipse">
            <a:avLst/>
          </a:prstGeom>
          <a:solidFill>
            <a:srgbClr val="1F3A5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8605" y="3009473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13732" y="3593592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allele →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(FBgn)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6030468" y="3296412"/>
            <a:ext cx="137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6158484" y="2606040"/>
            <a:ext cx="1371600" cy="1783080"/>
          </a:xfrm>
          <a:prstGeom prst="roundRect">
            <a:avLst>
              <a:gd name="adj" fmla="val 5333"/>
            </a:avLst>
          </a:prstGeom>
          <a:solidFill>
            <a:srgbClr val="E8590C"/>
          </a:solidFill>
          <a:ln w="12700">
            <a:solidFill>
              <a:srgbClr val="FFD9C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560820" y="286207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8221" y="3009473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213348" y="3593592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Blacklist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genes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7530084" y="3296412"/>
            <a:ext cx="137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2"/>
          <p:cNvSpPr/>
          <p:nvPr/>
        </p:nvSpPr>
        <p:spPr>
          <a:xfrm>
            <a:off x="7658100" y="2606040"/>
            <a:ext cx="1371600" cy="1783080"/>
          </a:xfrm>
          <a:prstGeom prst="roundRect">
            <a:avLst>
              <a:gd name="adj" fmla="val 5333"/>
            </a:avLst>
          </a:prstGeom>
          <a:solidFill>
            <a:srgbClr val="16324F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060436" y="2862072"/>
            <a:ext cx="566928" cy="566928"/>
          </a:xfrm>
          <a:prstGeom prst="ellipse">
            <a:avLst/>
          </a:prstGeom>
          <a:solidFill>
            <a:srgbClr val="1F3A57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7837" y="3009473"/>
            <a:ext cx="272125" cy="2721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712964" y="3593592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stock 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reagent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9029700" y="3296412"/>
            <a:ext cx="137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26"/>
          <p:cNvSpPr/>
          <p:nvPr/>
        </p:nvSpPr>
        <p:spPr>
          <a:xfrm>
            <a:off x="9157716" y="2606040"/>
            <a:ext cx="1371600" cy="1783080"/>
          </a:xfrm>
          <a:prstGeom prst="roundRect">
            <a:avLst>
              <a:gd name="adj" fmla="val 5333"/>
            </a:avLst>
          </a:prstGeom>
          <a:solidFill>
            <a:srgbClr val="16324F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9560052" y="2862072"/>
            <a:ext cx="566928" cy="566928"/>
          </a:xfrm>
          <a:prstGeom prst="ellipse">
            <a:avLst/>
          </a:prstGeom>
          <a:solidFill>
            <a:srgbClr val="1F3A57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07453" y="3009473"/>
            <a:ext cx="272125" cy="27212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9212580" y="3593592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with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</a:t>
            </a:r>
            <a:endParaRPr lang="en-US" sz="1050" dirty="0"/>
          </a:p>
        </p:txBody>
      </p:sp>
      <p:sp>
        <p:nvSpPr>
          <p:cNvPr id="38" name="Text 29"/>
          <p:cNvSpPr/>
          <p:nvPr/>
        </p:nvSpPr>
        <p:spPr>
          <a:xfrm>
            <a:off x="10529316" y="3296412"/>
            <a:ext cx="137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30"/>
          <p:cNvSpPr/>
          <p:nvPr/>
        </p:nvSpPr>
        <p:spPr>
          <a:xfrm>
            <a:off x="10657332" y="2606040"/>
            <a:ext cx="1371600" cy="1783080"/>
          </a:xfrm>
          <a:prstGeom prst="roundRect">
            <a:avLst>
              <a:gd name="adj" fmla="val 5333"/>
            </a:avLst>
          </a:prstGeom>
          <a:solidFill>
            <a:srgbClr val="16324F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11059668" y="2862072"/>
            <a:ext cx="566928" cy="566928"/>
          </a:xfrm>
          <a:prstGeom prst="ellipse">
            <a:avLst/>
          </a:prstGeom>
          <a:solidFill>
            <a:srgbClr val="1F3A57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07069" y="3009473"/>
            <a:ext cx="272125" cy="272125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10712196" y="3593592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Dedup, sort,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workbook</a:t>
            </a:r>
            <a:endParaRPr lang="en-US" sz="1050" dirty="0"/>
          </a:p>
        </p:txBody>
      </p:sp>
      <p:sp>
        <p:nvSpPr>
          <p:cNvPr id="43" name="Shape 33"/>
          <p:cNvSpPr/>
          <p:nvPr/>
        </p:nvSpPr>
        <p:spPr>
          <a:xfrm>
            <a:off x="3406140" y="4937760"/>
            <a:ext cx="201168" cy="201168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44" name="Text 34"/>
          <p:cNvSpPr/>
          <p:nvPr/>
        </p:nvSpPr>
        <p:spPr>
          <a:xfrm>
            <a:off x="3680460" y="4892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/ exclusion step</a:t>
            </a:r>
            <a:endParaRPr lang="en-US" sz="1200" dirty="0"/>
          </a:p>
        </p:txBody>
      </p:sp>
      <p:sp>
        <p:nvSpPr>
          <p:cNvPr id="45" name="Shape 35"/>
          <p:cNvSpPr/>
          <p:nvPr/>
        </p:nvSpPr>
        <p:spPr>
          <a:xfrm>
            <a:off x="6469380" y="4937760"/>
            <a:ext cx="201168" cy="20116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6743700" y="48920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/ enrichment step</a:t>
            </a:r>
            <a:endParaRPr lang="en-US" sz="1200" dirty="0"/>
          </a:p>
        </p:txBody>
      </p:sp>
      <p:sp>
        <p:nvSpPr>
          <p:cNvPr id="47" name="Text 37"/>
          <p:cNvSpPr/>
          <p:nvPr/>
        </p:nvSpPr>
        <p:spPr>
          <a:xfrm>
            <a:off x="160020" y="5394960"/>
            <a:ext cx="1186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exported sheets: Reagents · References · Genes · Summary</a:t>
            </a:r>
            <a:endParaRPr lang="en-US" sz="1300" dirty="0"/>
          </a:p>
        </p:txBody>
      </p:sp>
      <p:sp>
        <p:nvSpPr>
          <p:cNvPr id="48" name="Text 38"/>
          <p:cNvSpPr/>
          <p:nvPr/>
        </p:nvSpPr>
        <p:spPr>
          <a:xfrm>
            <a:off x="4572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Phenotype Reagent Atlas</a:t>
            </a:r>
            <a:endParaRPr lang="en-US" sz="900" dirty="0"/>
          </a:p>
        </p:txBody>
      </p:sp>
      <p:sp>
        <p:nvSpPr>
          <p:cNvPr id="49" name="Text 39"/>
          <p:cNvSpPr/>
          <p:nvPr/>
        </p:nvSpPr>
        <p:spPr>
          <a:xfrm>
            <a:off x="11338560" y="640080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DIRECT TEXT MATCH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 hit, not embedding similarity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phenotype record is included only if its phenotype or qualifier text contains one of four keywords, matched with a regular expression — no AI model, no cosine score, fully reproducible.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6309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1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76148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377440" y="276148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boundary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77640" y="276148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“temperature sensitive lethal”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547872"/>
            <a:ext cx="6309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1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657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377440" y="3657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boundary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77640" y="3657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“heat shock sensitivity”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443984"/>
            <a:ext cx="6309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1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55371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377440" y="455371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boundary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77640" y="45537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“cold stress response”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5340096"/>
            <a:ext cx="6309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1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44982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thermo*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377440" y="544982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match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77640" y="544982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“abnormal thermotaxis”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178040" y="1600200"/>
            <a:ext cx="4480560" cy="4480560"/>
          </a:xfrm>
          <a:prstGeom prst="roundRect">
            <a:avLst>
              <a:gd name="adj" fmla="val 1633"/>
            </a:avLst>
          </a:prstGeom>
          <a:solidFill>
            <a:srgbClr val="0E2138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52360" y="1828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A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WORD BOUNDARIES MATTER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52360" y="2286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gonadal sheath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698480" y="2212848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5465" y="2319833"/>
            <a:ext cx="197510" cy="19751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452360" y="2697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“sheath”, not “heat” as a whole word — correctly excluded.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7452360" y="3429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heat sensitive | adult stage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10698480" y="3355848"/>
            <a:ext cx="411480" cy="41148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5465" y="3462833"/>
            <a:ext cx="197510" cy="19751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7452360" y="3840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qualifier text carries the heat keyword — included even though the phenotype name alone did not.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7452360" y="4572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abnormal thermotaxis</a:t>
            </a:r>
            <a:endParaRPr lang="en-US" sz="1600" dirty="0"/>
          </a:p>
        </p:txBody>
      </p:sp>
      <p:sp>
        <p:nvSpPr>
          <p:cNvPr id="32" name="Shape 28"/>
          <p:cNvSpPr/>
          <p:nvPr/>
        </p:nvSpPr>
        <p:spPr>
          <a:xfrm>
            <a:off x="10698480" y="4498848"/>
            <a:ext cx="411480" cy="41148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5465" y="4605833"/>
            <a:ext cx="197510" cy="19751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7452360" y="4983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“thermo” prefix match catches thermotaxis, thermosensation, thermoreceptor, etc.</a:t>
            </a:r>
            <a:endParaRPr lang="en-US" sz="1150" dirty="0"/>
          </a:p>
        </p:txBody>
      </p:sp>
      <p:sp>
        <p:nvSpPr>
          <p:cNvPr id="35" name="Text 30"/>
          <p:cNvSpPr/>
          <p:nvPr/>
        </p:nvSpPr>
        <p:spPr>
          <a:xfrm>
            <a:off x="4572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Phenotype Reagent Atlas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11338560" y="640080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REAGENT TYPE FILTER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AlleleOrInsertion only — UAS/RNAi excluded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matching phenotype is kept only if the responsible reagent is a classical allele or insertion. Overexpression (UAS) and knockdown (RNAi) constructs are removed by a second, independent text check on the allele symbol.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394960" cy="3063240"/>
          </a:xfrm>
          <a:prstGeom prst="roundRect">
            <a:avLst>
              <a:gd name="adj" fmla="val 2388"/>
            </a:avLst>
          </a:prstGeom>
          <a:solidFill>
            <a:srgbClr val="EAF4EC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7432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288584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788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KEPT — AlleleOrInsertion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34290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gl[2]  — classical loss-of-function allele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8680" y="40690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TrpA1[1]  — point-mutant allele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68680" y="47091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P{EP}ort[EP1234]  — EP insertion, not UAS/RNAi-tagged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17920" y="2468880"/>
            <a:ext cx="5394960" cy="3063240"/>
          </a:xfrm>
          <a:prstGeom prst="roundRect">
            <a:avLst>
              <a:gd name="adj" fmla="val 2388"/>
            </a:avLst>
          </a:prstGeom>
          <a:solidFill>
            <a:srgbClr val="FBEAE3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37960" y="27432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606" y="2885846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2788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EXCLUDED — UAS / RNAi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537960" y="34290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2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UAS-Trp[A1]  — overexpression construct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537960" y="40690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2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Dcr-2[RNAi]  — knockdown construct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537960" y="47091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2E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P{KK108671}VIE-260B  — VDRC GD/KK/VSH/HMS/JF knockdown family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4572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Phenotype Reagent Atlas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338560" y="640080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A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GENE BLACKLIST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‘w’ is explicitly blacklisted, everywhere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white gene (w, FBgn0003996) is a ubiquitous transformation/background marker, not a temperature-phenotype hit. Its w[1118] allele rides along in thousands of unrelated stock genotypes, so it is removed by name — not left to fall out on its own.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3611880" cy="2880360"/>
          </a:xfrm>
          <a:prstGeom prst="roundRect">
            <a:avLst>
              <a:gd name="adj" fmla="val 2540"/>
            </a:avLst>
          </a:prstGeom>
          <a:solidFill>
            <a:srgbClr val="16324F"/>
          </a:solidFill>
          <a:ln w="12700">
            <a:solidFill>
              <a:srgbClr val="23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9260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by FBgn ID and by symbol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F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by FBgn0003996 AND by the symbol “w” (case-insensitive), so a stale synonym can’t let it slip through.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2697480"/>
            <a:ext cx="3611880" cy="2880360"/>
          </a:xfrm>
          <a:prstGeom prst="roundRect">
            <a:avLst>
              <a:gd name="adj" fmla="val 2540"/>
            </a:avLst>
          </a:prstGeom>
          <a:solidFill>
            <a:srgbClr val="16324F"/>
          </a:solidFill>
          <a:ln w="12700">
            <a:solidFill>
              <a:srgbClr val="2341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9260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617720" y="36576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Applied before reagent expansion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7720" y="434340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F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from the phenotype-assertion table before any stock or custom reagent is generated — no downstream row is ever created.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2697480"/>
            <a:ext cx="3611880" cy="2880360"/>
          </a:xfrm>
          <a:prstGeom prst="roundRect">
            <a:avLst>
              <a:gd name="adj" fmla="val 2540"/>
            </a:avLst>
          </a:prstGeom>
          <a:solidFill>
            <a:srgbClr val="16324F"/>
          </a:solidFill>
          <a:ln w="12700">
            <a:solidFill>
              <a:srgbClr val="2341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29260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412480" y="36576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Re-applied after assembly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12480" y="434340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FC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blacklist filter runs again on the final, deduplicated reagent table as a defense-in-depth check before the workbook is written.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Phenotype Reagent Atlas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0080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REAGENT SOURCING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reagent gets a Stock Center label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Reagents sheet carries a Stock Center column so a reagent's ordering path is visible at a glance.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Bloomington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6052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09160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BDSC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986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Vienna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60520" y="2898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09160" y="28986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Vienna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46557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Kyoto / NIG-Fly / KDRC / FlyORF / NDSSC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6052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09160" y="346557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as-is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03250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orderable FBst stock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60520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09160" y="403250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736592"/>
            <a:ext cx="5623560" cy="1508760"/>
          </a:xfrm>
          <a:prstGeom prst="roundRect">
            <a:avLst>
              <a:gd name="adj" fmla="val 4848"/>
            </a:avLst>
          </a:prstGeom>
          <a:solidFill>
            <a:srgbClr val="F1EEE6"/>
          </a:solidFill>
          <a:ln w="12700">
            <a:solidFill>
              <a:srgbClr val="E3E1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8920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chart below has only 5 bars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5221224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supports Vienna, KDRC, and FlyORF too — they simply had 0 matching reagents in this FlyBase snapshot, so no bar is drawn for them.</a:t>
            </a:r>
            <a:endParaRPr lang="en-US" sz="12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6400800" y="1600200"/>
          <a:ext cx="52578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4572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Phenotype Reagent Atlas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338560" y="640080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A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current FlyBase snapshot returns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57784" y="1737360"/>
            <a:ext cx="2126894" cy="1965960"/>
          </a:xfrm>
          <a:prstGeom prst="roundRect">
            <a:avLst>
              <a:gd name="adj" fmla="val 3721"/>
            </a:avLst>
          </a:prstGeom>
          <a:solidFill>
            <a:srgbClr val="16324F"/>
          </a:solidFill>
          <a:ln w="12700">
            <a:solidFill>
              <a:srgbClr val="2341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7784" y="1965960"/>
            <a:ext cx="21268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0AA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173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788920"/>
            <a:ext cx="187086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with an included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7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temperature-relevant reagent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94406" y="1737360"/>
            <a:ext cx="2126894" cy="1965960"/>
          </a:xfrm>
          <a:prstGeom prst="roundRect">
            <a:avLst>
              <a:gd name="adj" fmla="val 3721"/>
            </a:avLst>
          </a:prstGeom>
          <a:solidFill>
            <a:srgbClr val="16324F"/>
          </a:solidFill>
          <a:ln w="12700">
            <a:solidFill>
              <a:srgbClr val="2341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94406" y="1965960"/>
            <a:ext cx="21268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0AA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420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922422" y="2788920"/>
            <a:ext cx="187086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reagent × phenotype ×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7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rows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31029" y="1737360"/>
            <a:ext cx="2126894" cy="1965960"/>
          </a:xfrm>
          <a:prstGeom prst="roundRect">
            <a:avLst>
              <a:gd name="adj" fmla="val 3721"/>
            </a:avLst>
          </a:prstGeom>
          <a:solidFill>
            <a:srgbClr val="16324F"/>
          </a:solidFill>
          <a:ln w="12700">
            <a:solidFill>
              <a:srgbClr val="2341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31029" y="1965960"/>
            <a:ext cx="21268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0AA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363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159045" y="2788920"/>
            <a:ext cx="187086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physical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7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reagents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67651" y="1737360"/>
            <a:ext cx="2126894" cy="1965960"/>
          </a:xfrm>
          <a:prstGeom prst="roundRect">
            <a:avLst>
              <a:gd name="adj" fmla="val 3721"/>
            </a:avLst>
          </a:prstGeom>
          <a:solidFill>
            <a:srgbClr val="16324F"/>
          </a:solidFill>
          <a:ln w="12700">
            <a:solidFill>
              <a:srgbClr val="2341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7651" y="1965960"/>
            <a:ext cx="21268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0AA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402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7395667" y="2788920"/>
            <a:ext cx="187086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reference ×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7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reagent rows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504274" y="1737360"/>
            <a:ext cx="2126894" cy="1965960"/>
          </a:xfrm>
          <a:prstGeom prst="roundRect">
            <a:avLst>
              <a:gd name="adj" fmla="val 3721"/>
            </a:avLst>
          </a:prstGeom>
          <a:solidFill>
            <a:srgbClr val="16324F"/>
          </a:solidFill>
          <a:ln w="12700">
            <a:solidFill>
              <a:srgbClr val="2341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4274" y="1965960"/>
            <a:ext cx="21268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0AA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9632290" y="2788920"/>
            <a:ext cx="187086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PubMed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7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 cited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023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 stock-center reagents · 206 custom (phenotype-backed, not yet orderable) reagents</a:t>
            </a:r>
            <a:endParaRPr lang="en-US" sz="13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822960" y="4434840"/>
          <a:ext cx="1051560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4572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Phenotype Reagent Atlas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338560" y="640080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keyword drove each inclusion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included row carries exactly one matched keyword — no row is a blend of multiple temperature terms.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2148840"/>
          <a:ext cx="58521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675120" y="2286000"/>
            <a:ext cx="4937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1D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49440" y="24231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235440" y="24231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 rows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424160" y="242316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46%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675120" y="3291840"/>
            <a:ext cx="4937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1D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49440" y="34290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thermo*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9235440" y="34290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 rows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424160" y="342900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675120" y="4297680"/>
            <a:ext cx="4937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1D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49440" y="44348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9235440" y="44348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rows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424160" y="443484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24%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675120" y="5303520"/>
            <a:ext cx="4937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1D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49440" y="54406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cold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9235440" y="54406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rows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0424160" y="544068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5%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572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Phenotype Reagent Atlas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338560" y="640080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sheets, one workbook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35758" cy="384048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86000"/>
            <a:ext cx="640080" cy="640080"/>
          </a:xfrm>
          <a:prstGeom prst="ellipse">
            <a:avLst/>
          </a:prstGeom>
          <a:solidFill>
            <a:srgbClr val="EFEDE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154680"/>
            <a:ext cx="20871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Reagents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703320"/>
            <a:ext cx="208711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reagent × phenotype × reference: Gene, Collection, Stock Center, Stock #, Genotype, Allele, Phenotype, and PMID.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67278" y="1965960"/>
            <a:ext cx="2635758" cy="384048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41598" y="2286000"/>
            <a:ext cx="640080" cy="640080"/>
          </a:xfrm>
          <a:prstGeom prst="ellipse">
            <a:avLst/>
          </a:prstGeom>
          <a:solidFill>
            <a:srgbClr val="EFEDE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019" y="245242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41598" y="3154680"/>
            <a:ext cx="20871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641598" y="3703320"/>
            <a:ext cx="208711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publication × reagent: title, authors, journal, year, associated gene/reagent, and a PubMed hyperlink.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85916" y="1965960"/>
            <a:ext cx="2635758" cy="384048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60236" y="2286000"/>
            <a:ext cx="640080" cy="640080"/>
          </a:xfrm>
          <a:prstGeom prst="ellipse">
            <a:avLst/>
          </a:prstGeom>
          <a:solidFill>
            <a:srgbClr val="EFEDE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6657" y="245242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60236" y="3154680"/>
            <a:ext cx="20871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460236" y="3703320"/>
            <a:ext cx="208711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gene: reagent and reference counts, the keyword-hit flag, and the full Phenotype (PMID) list.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004554" y="1965960"/>
            <a:ext cx="2635758" cy="384048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12700">
            <a:solidFill>
              <a:srgbClr val="E3E1D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78874" y="2286000"/>
            <a:ext cx="640080" cy="640080"/>
          </a:xfrm>
          <a:prstGeom prst="ellipse">
            <a:avLst/>
          </a:prstGeom>
          <a:solidFill>
            <a:srgbClr val="EFEDE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5295" y="245242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78874" y="3154680"/>
            <a:ext cx="20871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9278874" y="3703320"/>
            <a:ext cx="208711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 trail: inclusion rule, keyword/UAS-RNAi definitions, gene blacklist, and final row/PMID counts.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Phenotype Reagent Atlas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38560" y="640080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A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BEFORE YOU ORDER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workbook is — and isn’t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16324F"/>
          </a:solidFill>
          <a:ln w="12700">
            <a:solidFill>
              <a:srgbClr val="2341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202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39" y="205099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659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Reliable by design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7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Reproducible, keyword-driven inclusion — every hit can be traced back to the exact phenotype/qualifier text and FBrf citation.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374904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7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alleles and insertions only; UAS/RNAi/VDRC knockdown reagents are filtered out by construct-symbol text match.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8680" y="489204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7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(non-stock-center) rows are phenotype-backed but have no orderable FBst — confirm before requesting.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169164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16324F"/>
          </a:solidFill>
          <a:ln w="12700">
            <a:solidFill>
              <a:srgbClr val="23415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92240" y="19202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999" y="2050999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2320" y="19659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fine print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92240" y="260604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7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keyword hit is not a demonstrated phenotype claim — it means the curated text contains that term.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6492240" y="374904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7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live inventory — stock health/availability should be checked directly at BDSC, Kyoto, Vienna, or the relevant center.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492240" y="489204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7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 ‘w’ (FBgn0003996) is permanently blacklisted; it will not reappear even if a future release resolves it to a different symbol.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45720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Phenotype Reagent Atlas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338560" y="640080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6126480"/>
            <a:ext cx="2560320" cy="2560320"/>
          </a:xfrm>
          <a:prstGeom prst="ellipse">
            <a:avLst/>
          </a:prstGeom>
          <a:solidFill>
            <a:srgbClr val="2E86A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463040"/>
            <a:ext cx="3291840" cy="3291840"/>
          </a:xfrm>
          <a:prstGeom prst="ellipse">
            <a:avLst/>
          </a:prstGeom>
          <a:solidFill>
            <a:srgbClr val="E8590C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822960"/>
            <a:ext cx="566928" cy="566928"/>
          </a:xfrm>
          <a:prstGeom prst="ellipse">
            <a:avLst/>
          </a:prstGeom>
          <a:solidFill>
            <a:srgbClr val="E8590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970361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F0A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Rerun anytime the FlyBase snapshot updates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2860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scripts/build_temperature_phenotype_gene_list.py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" y="30632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Rebuilds the Reagents / References / Genes / Summary sheets end-to-end: FlyBase phenotypes → keyword match → allele/insertion filter → gene blacklist → stock attachment → PubMed enrichment.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416052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16324F"/>
          </a:solidFill>
          <a:ln w="12700">
            <a:solidFill>
              <a:srgbClr val="2341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43708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0A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331720" y="4370832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6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data/gene_sets/temperature_phenotypes/temperature_phenotype_reagents.xlsx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400" y="47548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0A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331720" y="4754880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6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scripts/build_temperature_phenotype_gene_list.py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14400" y="51389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0A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331720" y="5138928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6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tests/test_build_temperature_phenotype_gene_list.py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008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or changes to inclusion rules? Start in Summary sheet → “Inclusion rule”.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Temperature Phenotype Reagent Atlas</dc:title>
  <dc:subject>PptxGenJS Presentation</dc:subject>
  <dc:creator>fl.AI Reagent Stocker</dc:creator>
  <cp:lastModifiedBy>fl.AI Reagent Stocker</cp:lastModifiedBy>
  <cp:revision>1</cp:revision>
  <dcterms:created xsi:type="dcterms:W3CDTF">2026-08-19T20:06:47Z</dcterms:created>
  <dcterms:modified xsi:type="dcterms:W3CDTF">2026-08-19T20:06:47Z</dcterms:modified>
</cp:coreProperties>
</file>