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8FCFCD"/>
                </a:solidFill>
                <a:latin typeface="Calibri"/>
              </a:defRPr>
            </a:pPr>
            <a:r>
              <a:t>TX-OMICS FOLLOW-UP 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607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Gene Set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C7D2DE"/>
                </a:solidFill>
                <a:latin typeface="Calibri"/>
              </a:defRPr>
            </a:pPr>
            <a:r>
              <a:t>Shared transcriptomic responses to sleep–wake manipulations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8FCFCD"/>
                </a:solidFill>
                <a:latin typeface="Calibri"/>
              </a:defRPr>
            </a:pPr>
            <a:r>
              <a:t>Rosensweig, Shah et al.  /  bioRxiv 2026.02.28.708752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gene-set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1162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genes (tier sum)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2,694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FlyBase stocks mapped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160520"/>
            <a:ext cx="24231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681728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C7D2DE"/>
                </a:solidFill>
                <a:latin typeface="Calibri"/>
              </a:defRPr>
            </a:pPr>
            <a:r>
              <a:t>homeostatic core + 19 screen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1">
                <a:solidFill>
                  <a:srgbClr val="8FCFCD"/>
                </a:solidFill>
                <a:latin typeface="Calibri"/>
              </a:defRPr>
            </a:pPr>
            <a:r>
              <a:t>Prepared for Dr. Ravi Allada  /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BIOLOGICAL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Why these gene sets exist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09728" cy="13258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E7C7B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5623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Is there a homeostatic "sleeper" gene battery-analogous to per for circadian timing-that tracks sleep–wake history across diverse manipulations?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09728" cy="1325880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358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C6FB0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6499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Brain transcriptomics across 7 datasets: mechanical SD, thermo/optogenetic activation, THIP, and baseline cycling. Genes ranked by fold-change consistency (FC ≥ 0.5 or ≥ 1) and cross-dataset frequency.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34840"/>
            <a:ext cx="111556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109728" cy="1325880"/>
          </a:xfrm>
          <a:prstGeom prst="rect">
            <a:avLst/>
          </a:prstGeom>
          <a:solidFill>
            <a:srgbClr val="6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4456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6B4FA0"/>
                </a:solidFill>
                <a:latin typeface="Calibri"/>
              </a:defRPr>
            </a:pPr>
            <a:r>
              <a:t>This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73752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1F2A37"/>
                </a:solidFill>
                <a:latin typeface="Calibri"/>
              </a:defRPr>
            </a:pPr>
            <a:r>
              <a:t>17 tiered CSV gene lists in Breakdown/, each with per-set FlyBase stock workbooks. Sets move from broad rebound tiers -&gt; history correlates -&gt; curated mechanistic priorities.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Six logical categories  /  17 gene-set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54480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5448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5179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 /  Sleep rebound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828800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tiers  /  141 genes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57984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Genes consistently up/down with sleep rebound (log2FC ≥ 0.5) across manipulations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353312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1" y="1554480"/>
            <a:ext cx="384048" cy="384048"/>
          </a:xfrm>
          <a:prstGeom prst="ellipse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1" y="1554480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7" y="15179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 /  Wake rebound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7" y="1828800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5 tiers  /  647 genes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157984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Wake-enriched rebound responders; largest tiered 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2608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" y="3127248"/>
            <a:ext cx="384048" cy="384048"/>
          </a:xfrm>
          <a:prstGeom prst="ellipse">
            <a:avLst/>
          </a:prstGeom>
          <a:solidFill>
            <a:srgbClr val="6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127248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09067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FC1  /  Sleep / Wake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401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4 tiers  /  114 genes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7307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Stricter FC ≥ 1 filter - higher-confidence, smaller lists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926080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73951" y="3127248"/>
            <a:ext cx="384048" cy="384048"/>
          </a:xfrm>
          <a:prstGeom prst="ellipse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3127248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7" y="309067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Sleep history correlates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7" y="3401568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 /  215 genes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3730752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Expression tracks prior sleep/wake history (± literature via fl.ai)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98848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2" y="4700016"/>
            <a:ext cx="384048" cy="384048"/>
          </a:xfrm>
          <a:prstGeom prst="ellipse">
            <a:avLst/>
          </a:prstGeom>
          <a:solidFill>
            <a:srgbClr val="B2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700016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6634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History × Rebound overlap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4974336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 /  20 genes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30352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Dual homeostatic signature: history correlate  &amp;  rebound responder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498848"/>
            <a:ext cx="5577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73951" y="4700016"/>
            <a:ext cx="384048" cy="384048"/>
          </a:xfrm>
          <a:prstGeom prst="ellipse">
            <a:avLst/>
          </a:prstGeom>
          <a:solidFill>
            <a:srgbClr val="4F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1" y="4700016"/>
            <a:ext cx="3840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7" y="46634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Curated priorities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7" y="4974336"/>
            <a:ext cx="4754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0E7C7B"/>
                </a:solidFill>
                <a:latin typeface="Calibri"/>
              </a:defRPr>
            </a:pPr>
            <a:r>
              <a:t>2 sets  /  25 genes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7" y="5303520"/>
            <a:ext cx="5166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6-gene homeostatic core + 19 mechanistic screen candidates (nsyb/elav)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667385"/>
                </a:solidFill>
                <a:latin typeface="Calibri"/>
              </a:defRPr>
            </a:pPr>
            <a:r>
              <a:t>Frequency tiers (freq 2–6): number of datasets in which a gene passes the FC threshold - higher freq = more robust.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REBOUND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Consistent sleep/wake responders by FC threshold &amp;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FC0.5  /  genes per frequency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Sleep freq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951328"/>
            <a:ext cx="3182112" cy="2304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1874519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58567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Sleep freq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2335376"/>
            <a:ext cx="141427" cy="230428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3963" y="2258567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246120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7672" y="3322929"/>
            <a:ext cx="318211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3246120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353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630168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7672" y="3706977"/>
            <a:ext cx="177585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8388" y="3630168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14216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47672" y="4091025"/>
            <a:ext cx="739187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1723" y="4014216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98264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7672" y="4475073"/>
            <a:ext cx="126202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28738" y="4398264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82312"/>
            <a:ext cx="1143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Wake freq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47672" y="4859121"/>
            <a:ext cx="45720" cy="230428"/>
          </a:xfrm>
          <a:prstGeom prst="rect">
            <a:avLst/>
          </a:prstGeom>
          <a:solidFill>
            <a:srgbClr val="1C6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48256" y="4782312"/>
            <a:ext cx="502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353312"/>
            <a:ext cx="548640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481328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FC1 (stricter)  /  all tiers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82512" y="1874519"/>
          <a:ext cx="3931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Genes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Stocks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 /  freq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Sleep  /  freq 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 /  freq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Wake  /  freq 4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Key pattern: Wake rebound sets dominate at FC0.5 (353 genes at freq 2 alone). Stricter FC1 collapses to 114 genes - useful for high-confidence follow-up.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HISTORY &amp;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Homeostatic signatures beyond raw rebound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3492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49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0E7C7B"/>
                </a:solidFill>
                <a:latin typeface="Georgia"/>
              </a:defRPr>
            </a:pPr>
            <a:r>
              <a:t>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history-correlate genes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06040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Pos correlates (n=149): genes whose expression rises with prior wake.</a:t>
            </a:r>
            <a:br/>
            <a:r>
              <a:t>Neg correlates (n=66): genes tracking prior sleep.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37160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554480"/>
            <a:ext cx="5577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 i="0">
                <a:solidFill>
                  <a:srgbClr val="E0A13A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48840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overlap genes (dual signature)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606040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 i="0">
                <a:solidFill>
                  <a:srgbClr val="667385"/>
                </a:solidFill>
                <a:latin typeface="Calibri"/>
              </a:defRPr>
            </a:pPr>
            <a:r>
              <a:t>History(-) × Rebound(+) -&gt; 5 genes (e.g. CG9377)</a:t>
            </a:r>
            <a:br/>
            <a:r>
              <a:t>History(+) × Rebound(-) -&gt; 15 genes (e.g. AstA-R2, Mip pathway)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03320"/>
            <a:ext cx="111556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822191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Interpretation for mechanistic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1605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• Overlap sets enrich for genes with opposing history vs. rebound dynamics - prime homeostatic regulators.</a:t>
            </a:r>
          </a:p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• fl.ai literature categories (sleep / circadian / both) annotate each gene; high-confidence overlaps feed the mechanistic screen list.</a:t>
            </a:r>
          </a:p>
          <a:p>
            <a:pPr>
              <a:defRPr sz="1100">
                <a:solidFill>
                  <a:srgbClr val="1F2A37"/>
                </a:solidFill>
                <a:latin typeface="Calibri"/>
              </a:defRPr>
            </a:pPr>
            <a:r>
              <a:t>• Per-gene CSVs include cycling status, manipulation correlations (MechSD, TrpA1, THIP), and PMC-backed rationales.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CURATED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Homeostatic core + mechanistic screen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36576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5233B"/>
                </a:solidFill>
                <a:latin typeface="Calibri"/>
              </a:defRPr>
            </a:pPr>
            <a:r>
              <a:t>6-gene homeostatic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 i="0">
                <a:solidFill>
                  <a:srgbClr val="0E7C7B"/>
                </a:solidFill>
                <a:latin typeface="Calibri"/>
              </a:defRPr>
            </a:pPr>
            <a:r>
              <a:t>unc79  /  SIFa  /  rumpel  /  AstA-R2  /  Trhn  /  RpL23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2316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NALCN channel auxiliaries, neuropeptide signaling, glial transport, serotonin biosynthesis, ribosome biogenesis - convergent homeostatic biology.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2044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00507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FlyBase stocks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53312"/>
            <a:ext cx="73152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481328"/>
            <a:ext cx="6858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5233B"/>
                </a:solidFill>
                <a:latin typeface="Calibri"/>
              </a:defRPr>
            </a:pPr>
            <a:r>
              <a:t>Top mechanistic screen candidates (nsyb-GAL4 / elav-GAL4)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53712" y="1828800"/>
          <a:ext cx="516636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777240"/>
                <a:gridCol w="3200400"/>
                <a:gridCol w="868680"/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15233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unc79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SIFa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rumpel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AstA-R2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Trhn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RpL23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unc80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Homeostatic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BomBc2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Immune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Mip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1F2A37"/>
                          </a:solidFill>
                          <a:latin typeface="Calibri"/>
                        </a:defRPr>
                      </a:pPr>
                      <a:r>
                        <a:t>Neuropeptide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E7C7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53712" y="507492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1">
                <a:solidFill>
                  <a:srgbClr val="667385"/>
                </a:solidFill>
                <a:latin typeface="Calibri"/>
              </a:defRPr>
            </a:pPr>
            <a:r>
              <a:t>Full ranked list: 19 genes  /  Tx-Omics_Mechanistic_Screen_Candidates_nsyb_elav.csv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8FCFCD"/>
                </a:solidFill>
                <a:latin typeface="Calibri"/>
              </a:defRPr>
            </a:pPr>
            <a:r>
              <a:t>REAGENT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Georgia"/>
              </a:defRPr>
            </a:pPr>
            <a:r>
              <a:t>FlyBase stocks per gene-set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64008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5943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 i="0">
                <a:solidFill>
                  <a:srgbClr val="15233B"/>
                </a:solidFill>
                <a:latin typeface="Calibri"/>
              </a:defRPr>
            </a:pPr>
            <a:r>
              <a:t>Largest tiers by stock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962301"/>
            <a:ext cx="2633472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1874519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760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13431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Sleep freq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401213"/>
            <a:ext cx="1566222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4638" y="2313431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452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52343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3552" y="2840125"/>
            <a:ext cx="1521176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9592" y="2752343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439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91255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History (pos correlates)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3552" y="3279037"/>
            <a:ext cx="1088039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455" y="3191255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314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30167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FC0.5 Wake freq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2" y="3717949"/>
            <a:ext cx="613321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41737" y="3630167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069079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FC1 Wake freq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3552" y="4156861"/>
            <a:ext cx="540554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68970" y="4069079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07991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History (neg correlates)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4595773"/>
            <a:ext cx="540554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68970" y="4507991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946903"/>
            <a:ext cx="24688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67385"/>
                </a:solidFill>
                <a:latin typeface="Calibri"/>
              </a:defRPr>
            </a:pPr>
            <a:r>
              <a:t>Mechanistic Screen Candidate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3552" y="5034685"/>
            <a:ext cx="207905" cy="263347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6321" y="4946903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1F2A37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1353312"/>
            <a:ext cx="457200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169164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E0A13A"/>
                </a:solidFill>
                <a:latin typeface="Georgia"/>
              </a:defRPr>
            </a:pPr>
            <a:r>
              <a:t>2,694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176272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stocks across all tiers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697480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E7C7B"/>
                </a:solidFill>
                <a:latin typeface="Georgia"/>
              </a:defRPr>
            </a:pPr>
            <a:r>
              <a:t>2,504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182112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alleles mapped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840480"/>
            <a:ext cx="4206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67385"/>
                </a:solidFill>
                <a:latin typeface="Calibri"/>
              </a:defRPr>
            </a:pPr>
            <a:r>
              <a:t>Each tier -&gt; 6 priority stock tables</a:t>
            </a:r>
            <a:br/>
            <a:r>
              <a:t>(Bloomington / VDRC RNAi, alleles, non-stock-center)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667385"/>
                </a:solidFill>
                <a:latin typeface="Calibri"/>
              </a:defRPr>
            </a:pPr>
            <a:r>
              <a:t>Workbooks live in Breakdown/Per Gene Set Runs/  /  summary in combination_counts_summary.csv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0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• 17 tiered gene lists span rebound consistency (FC0.5/FC1), sleep-history correlates, and dual-signature overlaps.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• Frequency bins prioritize robust responders across 7 manipulation datasets - wake tiers are largest; FC1 narrows to high-confidence targets.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• 6-gene homeostatic core + 19 ranked mechanistic candidates are ready for nsyb/elav RNAi screening with mapped FlyBase reagents.</a:t>
            </a:r>
          </a:p>
          <a:p>
            <a:pPr>
              <a:defRPr sz="1300">
                <a:solidFill>
                  <a:srgbClr val="C7D2DE"/>
                </a:solidFill>
                <a:latin typeface="Calibri"/>
              </a:defRPr>
            </a:pPr>
            <a:r>
              <a:t>• Next: prioritize overlap + high-freq FC1 wake genes for behavioral validation; stock tables are generated per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FCFCD"/>
                </a:solidFill>
                <a:latin typeface="Calibri"/>
              </a:defRPr>
            </a:pPr>
            <a:r>
              <a:t>data/gene_sets/Tx-Omics-FollowUp_v3/Breakdown/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Allada Lab   /   FlyBase Reagent Stocker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8FCFCD"/>
                </a:solidFill>
                <a:latin typeface="Calibri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FlyBase Reagent Stocker — Pipeline Overview</dc:title>
  <dc:subject/>
  <dc:creator>Allada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