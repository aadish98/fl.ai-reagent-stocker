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EE75E7-8E2F-4603-8EA6-01A64DBC4A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2883DA-E968-4211-9711-52880F2B71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94D1F-9731-427C-8670-B3909AE092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148B8C-E566-4916-86B0-6540222E8E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5EF1D-942A-4286-BE29-BFBCB6B3FC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C68236-C236-42D5-9C54-99E54226C2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D1D6EF-0FDE-4555-A988-D67D626762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C40137-1A51-4FFC-9111-3D25FC571D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8A9E3D-FFE2-459B-B0B5-DEF9A9C121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B961E2-6BB0-480C-AE3D-6578482DC1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F0DE68-D863-46E1-9FC6-A8BF3CDF4F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255600" cy="685764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255960" y="0"/>
            <a:ext cx="72720" cy="685764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14630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FLYBASE REAGENT STOCKER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68680" y="18745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Generated Stock Tables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288036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Prioritized Drosophila reagent tables across three input runs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914400" y="41148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22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46634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input gene-set tables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3520440" y="41148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520440" y="46634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screening runs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6126480" y="41148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6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6126480" y="46634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priority buckets / set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8732520" y="41148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8,300+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732520" y="46634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stocks organized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914400" y="59436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Prepared for Dr. Ravi Allada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HOW THE TABLES ARE BUILT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From a gene list to six prioritized stock tables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502920" y="1417320"/>
            <a:ext cx="2697120" cy="1371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6"/>
          <p:cNvSpPr/>
          <p:nvPr/>
        </p:nvSpPr>
        <p:spPr>
          <a:xfrm>
            <a:off x="667440" y="1600200"/>
            <a:ext cx="456840" cy="45684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66744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234440" y="1618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gene 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685800" y="21672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Curated / GWAS / transcriptomics list of fly genes (FBgn)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3447360" y="1417320"/>
            <a:ext cx="2697120" cy="1371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Oval 11"/>
          <p:cNvSpPr/>
          <p:nvPr/>
        </p:nvSpPr>
        <p:spPr>
          <a:xfrm>
            <a:off x="3611880" y="1600200"/>
            <a:ext cx="456840" cy="45684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361188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4178880" y="1618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FlyBase match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3630240" y="21672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Pull all stocks + alleles, constructs, phenotypes, references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5"/>
          <p:cNvSpPr/>
          <p:nvPr/>
        </p:nvSpPr>
        <p:spPr>
          <a:xfrm>
            <a:off x="6391800" y="1417320"/>
            <a:ext cx="2697120" cy="1371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16"/>
          <p:cNvSpPr/>
          <p:nvPr/>
        </p:nvSpPr>
        <p:spPr>
          <a:xfrm>
            <a:off x="6556320" y="1600200"/>
            <a:ext cx="456840" cy="45684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655632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7123320" y="1618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Filter + tier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6574680" y="21672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Collection, reagent type, phenotype and sleep-term relevance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0"/>
          <p:cNvSpPr/>
          <p:nvPr/>
        </p:nvSpPr>
        <p:spPr>
          <a:xfrm>
            <a:off x="9335880" y="1417320"/>
            <a:ext cx="2697120" cy="1371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Oval 21"/>
          <p:cNvSpPr/>
          <p:nvPr/>
        </p:nvSpPr>
        <p:spPr>
          <a:xfrm>
            <a:off x="9500760" y="1600200"/>
            <a:ext cx="456840" cy="45684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950076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10067400" y="1618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6 priority tables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9518760" y="21672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Each stock lands in the first bucket it qualifies for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5"/>
          <p:cNvSpPr/>
          <p:nvPr/>
        </p:nvSpPr>
        <p:spPr>
          <a:xfrm>
            <a:off x="502920" y="3063240"/>
            <a:ext cx="10972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The six priority buckets (applied top-to-bottom; a stock appears in only one)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6"/>
          <p:cNvSpPr/>
          <p:nvPr/>
        </p:nvSpPr>
        <p:spPr>
          <a:xfrm>
            <a:off x="502920" y="3456360"/>
            <a:ext cx="118440" cy="71280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7"/>
          <p:cNvSpPr/>
          <p:nvPr/>
        </p:nvSpPr>
        <p:spPr>
          <a:xfrm>
            <a:off x="621720" y="3456360"/>
            <a:ext cx="353844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8"/>
          <p:cNvSpPr/>
          <p:nvPr/>
        </p:nvSpPr>
        <p:spPr>
          <a:xfrm>
            <a:off x="758880" y="352944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Bloomington  ·  UAS / RNAi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9"/>
          <p:cNvSpPr/>
          <p:nvPr/>
        </p:nvSpPr>
        <p:spPr>
          <a:xfrm>
            <a:off x="758880" y="382212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Stock-center, overexpression / knockdown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0"/>
          <p:cNvSpPr/>
          <p:nvPr/>
        </p:nvSpPr>
        <p:spPr>
          <a:xfrm>
            <a:off x="4325040" y="3456360"/>
            <a:ext cx="118440" cy="712800"/>
          </a:xfrm>
          <a:prstGeom prst="rect">
            <a:avLst/>
          </a:prstGeom>
          <a:solidFill>
            <a:srgbClr val="1C6F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31"/>
          <p:cNvSpPr/>
          <p:nvPr/>
        </p:nvSpPr>
        <p:spPr>
          <a:xfrm>
            <a:off x="4443840" y="3456360"/>
            <a:ext cx="353844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32"/>
          <p:cNvSpPr/>
          <p:nvPr/>
        </p:nvSpPr>
        <p:spPr>
          <a:xfrm>
            <a:off x="4581000" y="352944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Vienna (VDRC)  ·  UAS / RNAi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3"/>
          <p:cNvSpPr/>
          <p:nvPr/>
        </p:nvSpPr>
        <p:spPr>
          <a:xfrm>
            <a:off x="4581000" y="382212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VDRC knockdown collection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4"/>
          <p:cNvSpPr/>
          <p:nvPr/>
        </p:nvSpPr>
        <p:spPr>
          <a:xfrm>
            <a:off x="8147160" y="3456360"/>
            <a:ext cx="118440" cy="712800"/>
          </a:xfrm>
          <a:prstGeom prst="rect">
            <a:avLst/>
          </a:prstGeom>
          <a:solidFill>
            <a:srgbClr val="6B4F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35"/>
          <p:cNvSpPr/>
          <p:nvPr/>
        </p:nvSpPr>
        <p:spPr>
          <a:xfrm>
            <a:off x="8266320" y="3456360"/>
            <a:ext cx="353844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6"/>
          <p:cNvSpPr/>
          <p:nvPr/>
        </p:nvSpPr>
        <p:spPr>
          <a:xfrm>
            <a:off x="8403480" y="352944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Bloomington  ·  Allele / Insertion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7"/>
          <p:cNvSpPr/>
          <p:nvPr/>
        </p:nvSpPr>
        <p:spPr>
          <a:xfrm>
            <a:off x="8403480" y="382212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Stock-center classical alleles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8"/>
          <p:cNvSpPr/>
          <p:nvPr/>
        </p:nvSpPr>
        <p:spPr>
          <a:xfrm>
            <a:off x="502920" y="4316040"/>
            <a:ext cx="118440" cy="712800"/>
          </a:xfrm>
          <a:prstGeom prst="rect">
            <a:avLst/>
          </a:prstGeom>
          <a:solidFill>
            <a:srgbClr val="C27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39"/>
          <p:cNvSpPr/>
          <p:nvPr/>
        </p:nvSpPr>
        <p:spPr>
          <a:xfrm>
            <a:off x="621720" y="4316040"/>
            <a:ext cx="353844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40"/>
          <p:cNvSpPr/>
          <p:nvPr/>
        </p:nvSpPr>
        <p:spPr>
          <a:xfrm>
            <a:off x="758880" y="43891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Stock Center  ·  Allele / Insertion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1"/>
          <p:cNvSpPr/>
          <p:nvPr/>
        </p:nvSpPr>
        <p:spPr>
          <a:xfrm>
            <a:off x="758880" y="46818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Other orderable centers (Kyoto, etc.)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42"/>
          <p:cNvSpPr/>
          <p:nvPr/>
        </p:nvSpPr>
        <p:spPr>
          <a:xfrm>
            <a:off x="4325040" y="4316040"/>
            <a:ext cx="118440" cy="712800"/>
          </a:xfrm>
          <a:prstGeom prst="rect">
            <a:avLst/>
          </a:prstGeom>
          <a:solidFill>
            <a:srgbClr val="B241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43"/>
          <p:cNvSpPr/>
          <p:nvPr/>
        </p:nvSpPr>
        <p:spPr>
          <a:xfrm>
            <a:off x="4443840" y="4316040"/>
            <a:ext cx="353844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4"/>
          <p:cNvSpPr/>
          <p:nvPr/>
        </p:nvSpPr>
        <p:spPr>
          <a:xfrm>
            <a:off x="4581000" y="43891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Non-Stock-Center  ·  UAS / RNAi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5"/>
          <p:cNvSpPr/>
          <p:nvPr/>
        </p:nvSpPr>
        <p:spPr>
          <a:xfrm>
            <a:off x="4581000" y="46818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Custom phenotype reagents (no FBst)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46"/>
          <p:cNvSpPr/>
          <p:nvPr/>
        </p:nvSpPr>
        <p:spPr>
          <a:xfrm>
            <a:off x="8147160" y="4316040"/>
            <a:ext cx="118440" cy="712800"/>
          </a:xfrm>
          <a:prstGeom prst="rect">
            <a:avLst/>
          </a:prstGeom>
          <a:solidFill>
            <a:srgbClr val="4F7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47"/>
          <p:cNvSpPr/>
          <p:nvPr/>
        </p:nvSpPr>
        <p:spPr>
          <a:xfrm>
            <a:off x="8266320" y="4316040"/>
            <a:ext cx="353844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48"/>
          <p:cNvSpPr/>
          <p:nvPr/>
        </p:nvSpPr>
        <p:spPr>
          <a:xfrm>
            <a:off x="8403480" y="43891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Non-Stock-Center  ·  Allele / Insertion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9"/>
          <p:cNvSpPr/>
          <p:nvPr/>
        </p:nvSpPr>
        <p:spPr>
          <a:xfrm>
            <a:off x="8403480" y="46818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Custom phenotype reagents (no FBst)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50"/>
          <p:cNvSpPr/>
          <p:nvPr/>
        </p:nvSpPr>
        <p:spPr>
          <a:xfrm>
            <a:off x="502920" y="59436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Phenotype gate: every table keeps only stocks with an associated phenotype. Sleep / circadian / rhythm / locomotor terms flag literature-supported reagents.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5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52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3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2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INPUTS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The input datasets at a glance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2" name="Table 5"/>
          <p:cNvGraphicFramePr/>
          <p:nvPr/>
        </p:nvGraphicFramePr>
        <p:xfrm>
          <a:off x="502920" y="1371600"/>
          <a:ext cx="11201040" cy="351108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822960"/>
                <a:gridCol w="3657600"/>
                <a:gridCol w="224028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Run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Dataset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Source / 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Input schema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</a:rPr>
                        <a:t>vGAT screen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GABA gene list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Bulk-seq vGAT hits (Aldeb)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Curated list (5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</a:rPr>
                        <a:t>Priority v2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BPD-GWAS orthologs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Bipolar GWAS, Nature 2025 S31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DIOPT ortholog (19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DIOPT Bellenguez/Lambert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Alzheimer's GWAS orthologs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DIOPT + stocks (36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Jordan VCM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Curated candidate genes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Simple list (4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Slumber neuropeptides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Curated neuropeptides/transmitters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Simple list (4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Slumber RNAi candidates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Curated RNAi candidates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Simple list (4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</a:rPr>
                        <a:t>Transcriptomics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CSW FC0.5 (7 tiers)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788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Sleep/wake cycling + correlation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Cycling + AI refs (31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CSW FC1 (4 tiers)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Sleep/wake cycling (stricter FC)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Cycling + AI refs (31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SleepHistory correlates (2)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 +/- literature correlates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Lit. category (18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 x Rebound overlaps (2)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Overlapping history/rebound sets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Lit. category (14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endParaRPr lang="en-US" sz="1000" b="0" u="none" strike="noStrike">
                        <a:solidFill>
                          <a:srgbClr val="1F2A37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Homeostatic genes (1)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Sleep homeostasis set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Simple list (4 col)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TextBox 6"/>
          <p:cNvSpPr/>
          <p:nvPr/>
        </p:nvSpPr>
        <p:spPr>
          <a:xfrm>
            <a:off x="502920" y="59893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22 input tables in total. Gene counts shown as submitted; the transcriptomics run groups 16 frequency tiers under five dataset categories.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7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3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Anatomy of every generated workbook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5"/>
          <p:cNvSpPr/>
          <p:nvPr/>
        </p:nvSpPr>
        <p:spPr>
          <a:xfrm>
            <a:off x="502920" y="1371600"/>
            <a:ext cx="5211720" cy="457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713160" y="15177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What each workbook contains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7"/>
          <p:cNvSpPr/>
          <p:nvPr/>
        </p:nvSpPr>
        <p:spPr>
          <a:xfrm>
            <a:off x="713160" y="2057400"/>
            <a:ext cx="91080" cy="56664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896040" y="201168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Sheet 1 – 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896040" y="23043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One per priority bucket (color-coded above)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0"/>
          <p:cNvSpPr/>
          <p:nvPr/>
        </p:nvSpPr>
        <p:spPr>
          <a:xfrm>
            <a:off x="713160" y="2807280"/>
            <a:ext cx="91080" cy="56664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896040" y="27615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References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896040" y="305424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Supporting publications per stock / allele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3"/>
          <p:cNvSpPr/>
          <p:nvPr/>
        </p:nvSpPr>
        <p:spPr>
          <a:xfrm>
            <a:off x="713160" y="3557160"/>
            <a:ext cx="91080" cy="56664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896040" y="351144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All Phenotypic Stocks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5"/>
          <p:cNvSpPr/>
          <p:nvPr/>
        </p:nvSpPr>
        <p:spPr>
          <a:xfrm>
            <a:off x="896040" y="38037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Full union of phenotype-backed stocks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6"/>
          <p:cNvSpPr/>
          <p:nvPr/>
        </p:nvSpPr>
        <p:spPr>
          <a:xfrm>
            <a:off x="713160" y="4306680"/>
            <a:ext cx="91080" cy="56664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896040" y="42609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Contents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896040" y="455364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Prioritization rules + per-sheet count breakdown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9"/>
          <p:cNvSpPr/>
          <p:nvPr/>
        </p:nvSpPr>
        <p:spPr>
          <a:xfrm>
            <a:off x="713160" y="5212080"/>
            <a:ext cx="4800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Priority rule: a stock is placed in the first bucket it qualifies for, so the six tables never double-count a stock.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20"/>
          <p:cNvSpPr/>
          <p:nvPr/>
        </p:nvSpPr>
        <p:spPr>
          <a:xfrm>
            <a:off x="5897880" y="1371600"/>
            <a:ext cx="5806080" cy="457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1"/>
          <p:cNvSpPr/>
          <p:nvPr/>
        </p:nvSpPr>
        <p:spPr>
          <a:xfrm>
            <a:off x="6108120" y="151776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Key columns (approx. 59 total), grouped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Oval 22"/>
          <p:cNvSpPr/>
          <p:nvPr/>
        </p:nvSpPr>
        <p:spPr>
          <a:xfrm>
            <a:off x="6108120" y="2030040"/>
            <a:ext cx="145800" cy="14580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6355080" y="201168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Identity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4"/>
          <p:cNvSpPr/>
          <p:nvPr/>
        </p:nvSpPr>
        <p:spPr>
          <a:xfrm>
            <a:off x="6355080" y="224928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FBst, stock_number, collection, genotype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Oval 25"/>
          <p:cNvSpPr/>
          <p:nvPr/>
        </p:nvSpPr>
        <p:spPr>
          <a:xfrm>
            <a:off x="6108120" y="2688480"/>
            <a:ext cx="145800" cy="145800"/>
          </a:xfrm>
          <a:prstGeom prst="ellipse">
            <a:avLst/>
          </a:prstGeom>
          <a:solidFill>
            <a:srgbClr val="1C6F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6"/>
          <p:cNvSpPr/>
          <p:nvPr/>
        </p:nvSpPr>
        <p:spPr>
          <a:xfrm>
            <a:off x="6355080" y="267012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Reagent type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7"/>
          <p:cNvSpPr/>
          <p:nvPr/>
        </p:nvSpPr>
        <p:spPr>
          <a:xfrm>
            <a:off x="6355080" y="29077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RNAi, UAS, GAL4, mutant, sgRNA, custom_stock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Oval 28"/>
          <p:cNvSpPr/>
          <p:nvPr/>
        </p:nvSpPr>
        <p:spPr>
          <a:xfrm>
            <a:off x="6108120" y="3346560"/>
            <a:ext cx="145800" cy="145800"/>
          </a:xfrm>
          <a:prstGeom prst="ellipse">
            <a:avLst/>
          </a:prstGeom>
          <a:solidFill>
            <a:srgbClr val="6B4F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9"/>
          <p:cNvSpPr/>
          <p:nvPr/>
        </p:nvSpPr>
        <p:spPr>
          <a:xfrm>
            <a:off x="6355080" y="332856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 / allele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0"/>
          <p:cNvSpPr/>
          <p:nvPr/>
        </p:nvSpPr>
        <p:spPr>
          <a:xfrm>
            <a:off x="6355080" y="356616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gene_symbols, flybase_gene_ids, AlleleSymbol, class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Oval 31"/>
          <p:cNvSpPr/>
          <p:nvPr/>
        </p:nvSpPr>
        <p:spPr>
          <a:xfrm>
            <a:off x="6108120" y="4005000"/>
            <a:ext cx="145800" cy="145800"/>
          </a:xfrm>
          <a:prstGeom prst="ellipse">
            <a:avLst/>
          </a:prstGeom>
          <a:solidFill>
            <a:srgbClr val="C27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2"/>
          <p:cNvSpPr/>
          <p:nvPr/>
        </p:nvSpPr>
        <p:spPr>
          <a:xfrm>
            <a:off x="6355080" y="39866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Construct parts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3"/>
          <p:cNvSpPr/>
          <p:nvPr/>
        </p:nvSpPr>
        <p:spPr>
          <a:xfrm>
            <a:off x="6355080" y="422460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FBti / FBtp / FBal symbols + IDs, Balancers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Oval 34"/>
          <p:cNvSpPr/>
          <p:nvPr/>
        </p:nvSpPr>
        <p:spPr>
          <a:xfrm>
            <a:off x="6108120" y="4663440"/>
            <a:ext cx="145800" cy="145800"/>
          </a:xfrm>
          <a:prstGeom prst="ellipse">
            <a:avLst/>
          </a:prstGeom>
          <a:solidFill>
            <a:srgbClr val="B241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35"/>
          <p:cNvSpPr/>
          <p:nvPr/>
        </p:nvSpPr>
        <p:spPr>
          <a:xfrm>
            <a:off x="6355080" y="464508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Literature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6"/>
          <p:cNvSpPr/>
          <p:nvPr/>
        </p:nvSpPr>
        <p:spPr>
          <a:xfrm>
            <a:off x="6355080" y="48830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PMID, total_refs, sleep/circadian ref counts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Oval 37"/>
          <p:cNvSpPr/>
          <p:nvPr/>
        </p:nvSpPr>
        <p:spPr>
          <a:xfrm>
            <a:off x="6108120" y="5321880"/>
            <a:ext cx="145800" cy="145800"/>
          </a:xfrm>
          <a:prstGeom prst="ellipse">
            <a:avLst/>
          </a:prstGeom>
          <a:solidFill>
            <a:srgbClr val="4F7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38"/>
          <p:cNvSpPr/>
          <p:nvPr/>
        </p:nvSpPr>
        <p:spPr>
          <a:xfrm>
            <a:off x="6355080" y="530352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Phenotype + similarity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9"/>
          <p:cNvSpPr/>
          <p:nvPr/>
        </p:nvSpPr>
        <p:spPr>
          <a:xfrm>
            <a:off x="6355080" y="55411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PHENOTYPE_RELEVANCE_SCORE, cosine similarities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4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41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2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4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1 · VGAT SCREEN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GABA gene list (n = 140)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140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Input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8"/>
          <p:cNvSpPr/>
          <p:nvPr/>
        </p:nvSpPr>
        <p:spPr>
          <a:xfrm>
            <a:off x="329184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329184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2048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329184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1"/>
          <p:cNvSpPr/>
          <p:nvPr/>
        </p:nvSpPr>
        <p:spPr>
          <a:xfrm>
            <a:off x="608076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608076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1497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608076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alleles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4"/>
          <p:cNvSpPr/>
          <p:nvPr/>
        </p:nvSpPr>
        <p:spPr>
          <a:xfrm>
            <a:off x="886968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886968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135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886968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Genes w/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7"/>
          <p:cNvSpPr/>
          <p:nvPr/>
        </p:nvSpPr>
        <p:spPr>
          <a:xfrm>
            <a:off x="502920" y="2541960"/>
            <a:ext cx="50745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713160" y="2670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713160" y="2962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Curated symbol list with FlyBase IDs and a source-dataset tag.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0"/>
          <p:cNvSpPr/>
          <p:nvPr/>
        </p:nvSpPr>
        <p:spPr>
          <a:xfrm>
            <a:off x="932760" y="345636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 — submitted gene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932760" y="3840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primary_symbol — current FlyBase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932760" y="4224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flybase_gene_id — FBgn key used for matching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932760" y="46087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corrected_Gene — manual symbol fix (if any)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4"/>
          <p:cNvSpPr/>
          <p:nvPr/>
        </p:nvSpPr>
        <p:spPr>
          <a:xfrm>
            <a:off x="932760" y="4992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Data Set — source list (e.g. bottom-10% vGAT hits)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25"/>
          <p:cNvSpPr/>
          <p:nvPr/>
        </p:nvSpPr>
        <p:spPr>
          <a:xfrm>
            <a:off x="5760720" y="2541960"/>
            <a:ext cx="59432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6"/>
          <p:cNvSpPr/>
          <p:nvPr/>
        </p:nvSpPr>
        <p:spPr>
          <a:xfrm>
            <a:off x="5970960" y="2670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per priority bucket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5" name="Table 27"/>
          <p:cNvGraphicFramePr/>
          <p:nvPr/>
        </p:nvGraphicFramePr>
        <p:xfrm>
          <a:off x="5970960" y="3054240"/>
          <a:ext cx="5348880" cy="204804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822960"/>
                <a:gridCol w="77724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Priority bucket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153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Vienna (VDRC)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182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568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253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Stock 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92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680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680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206" name="TextBox 28"/>
          <p:cNvSpPr/>
          <p:nvPr/>
        </p:nvSpPr>
        <p:spPr>
          <a:xfrm>
            <a:off x="5970960" y="55962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Source: Aldeb bulk-seq vGAT hits.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29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30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1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5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2 · PRIORITY V2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BPD-GWAS DIOPT orthologs (n = 168)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168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Input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8"/>
          <p:cNvSpPr/>
          <p:nvPr/>
        </p:nvSpPr>
        <p:spPr>
          <a:xfrm>
            <a:off x="329184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329184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1633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329184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1"/>
          <p:cNvSpPr/>
          <p:nvPr/>
        </p:nvSpPr>
        <p:spPr>
          <a:xfrm>
            <a:off x="608076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2"/>
          <p:cNvSpPr/>
          <p:nvPr/>
        </p:nvSpPr>
        <p:spPr>
          <a:xfrm>
            <a:off x="608076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1485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3"/>
          <p:cNvSpPr/>
          <p:nvPr/>
        </p:nvSpPr>
        <p:spPr>
          <a:xfrm>
            <a:off x="608076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alleles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14"/>
          <p:cNvSpPr/>
          <p:nvPr/>
        </p:nvSpPr>
        <p:spPr>
          <a:xfrm>
            <a:off x="886968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5"/>
          <p:cNvSpPr/>
          <p:nvPr/>
        </p:nvSpPr>
        <p:spPr>
          <a:xfrm>
            <a:off x="886968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155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6"/>
          <p:cNvSpPr/>
          <p:nvPr/>
        </p:nvSpPr>
        <p:spPr>
          <a:xfrm>
            <a:off x="886968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Genes w/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7"/>
          <p:cNvSpPr/>
          <p:nvPr/>
        </p:nvSpPr>
        <p:spPr>
          <a:xfrm>
            <a:off x="502920" y="2541960"/>
            <a:ext cx="50745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713160" y="2670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9"/>
          <p:cNvSpPr/>
          <p:nvPr/>
        </p:nvSpPr>
        <p:spPr>
          <a:xfrm>
            <a:off x="713160" y="2962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Human bipolar-disorder GWAS genes mapped to fly orthologs via DIOPT.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0"/>
          <p:cNvSpPr/>
          <p:nvPr/>
        </p:nvSpPr>
        <p:spPr>
          <a:xfrm>
            <a:off x="932760" y="345636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Human_Symbol — human GWAS gene (Nature 2025 S31)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1"/>
          <p:cNvSpPr/>
          <p:nvPr/>
        </p:nvSpPr>
        <p:spPr>
          <a:xfrm>
            <a:off x="932760" y="3840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ext_gene — fly ortholog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2"/>
          <p:cNvSpPr/>
          <p:nvPr/>
        </p:nvSpPr>
        <p:spPr>
          <a:xfrm>
            <a:off x="932760" y="4224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flybase_gene_id — FBgn key used for matching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3"/>
          <p:cNvSpPr/>
          <p:nvPr/>
        </p:nvSpPr>
        <p:spPr>
          <a:xfrm>
            <a:off x="932760" y="46087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DIOPT_Score / Weighted — ortholog confidence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4"/>
          <p:cNvSpPr/>
          <p:nvPr/>
        </p:nvSpPr>
        <p:spPr>
          <a:xfrm>
            <a:off x="932760" y="4992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Rank — high / moderate / low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5"/>
          <p:cNvSpPr/>
          <p:nvPr/>
        </p:nvSpPr>
        <p:spPr>
          <a:xfrm>
            <a:off x="932760" y="5376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Prediction Derived From — supporting ortholog tools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26"/>
          <p:cNvSpPr/>
          <p:nvPr/>
        </p:nvSpPr>
        <p:spPr>
          <a:xfrm>
            <a:off x="5760720" y="2541960"/>
            <a:ext cx="59432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27"/>
          <p:cNvSpPr/>
          <p:nvPr/>
        </p:nvSpPr>
        <p:spPr>
          <a:xfrm>
            <a:off x="5970960" y="2670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per priority bucket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7" name="Table 28"/>
          <p:cNvGraphicFramePr/>
          <p:nvPr/>
        </p:nvGraphicFramePr>
        <p:xfrm>
          <a:off x="5970960" y="3054240"/>
          <a:ext cx="5348880" cy="204804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822960"/>
                <a:gridCol w="77724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Priority bucket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Vienna (VDRC)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195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136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306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Stock 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181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181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752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752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238" name="Rectangle 29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30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1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6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2 · PRIORITY V2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DIOPT Bellenguez/Lambert — Alzheimer's (n = 227)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227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Input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8"/>
          <p:cNvSpPr/>
          <p:nvPr/>
        </p:nvSpPr>
        <p:spPr>
          <a:xfrm>
            <a:off x="329184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329184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2620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329184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11"/>
          <p:cNvSpPr/>
          <p:nvPr/>
        </p:nvSpPr>
        <p:spPr>
          <a:xfrm>
            <a:off x="608076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08076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1767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08076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alleles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14"/>
          <p:cNvSpPr/>
          <p:nvPr/>
        </p:nvSpPr>
        <p:spPr>
          <a:xfrm>
            <a:off x="886968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15"/>
          <p:cNvSpPr/>
          <p:nvPr/>
        </p:nvSpPr>
        <p:spPr>
          <a:xfrm>
            <a:off x="886968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217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6"/>
          <p:cNvSpPr/>
          <p:nvPr/>
        </p:nvSpPr>
        <p:spPr>
          <a:xfrm>
            <a:off x="886968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Genes w/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17"/>
          <p:cNvSpPr/>
          <p:nvPr/>
        </p:nvSpPr>
        <p:spPr>
          <a:xfrm>
            <a:off x="502920" y="2541960"/>
            <a:ext cx="50745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8"/>
          <p:cNvSpPr/>
          <p:nvPr/>
        </p:nvSpPr>
        <p:spPr>
          <a:xfrm>
            <a:off x="713160" y="2670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9"/>
          <p:cNvSpPr/>
          <p:nvPr/>
        </p:nvSpPr>
        <p:spPr>
          <a:xfrm>
            <a:off x="713160" y="2962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Alzheimer's GWAS orthologs (DIOPT) plus pre-pulled BDSC RNAi hints.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0"/>
          <p:cNvSpPr/>
          <p:nvPr/>
        </p:nvSpPr>
        <p:spPr>
          <a:xfrm>
            <a:off x="932760" y="345636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Human.Symbol — human AD GWAS gene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1"/>
          <p:cNvSpPr/>
          <p:nvPr/>
        </p:nvSpPr>
        <p:spPr>
          <a:xfrm>
            <a:off x="932760" y="3840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primary_symbol — fly ortholog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22"/>
          <p:cNvSpPr/>
          <p:nvPr/>
        </p:nvSpPr>
        <p:spPr>
          <a:xfrm>
            <a:off x="932760" y="4224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flybase_gene_id — FBgn key used for matching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3"/>
          <p:cNvSpPr/>
          <p:nvPr/>
        </p:nvSpPr>
        <p:spPr>
          <a:xfrm>
            <a:off x="932760" y="46087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DIOPT.Score / Rank — ortholog confidence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4"/>
          <p:cNvSpPr/>
          <p:nvPr/>
        </p:nvSpPr>
        <p:spPr>
          <a:xfrm>
            <a:off x="932760" y="4992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total_stock_count / BDSC_RNAi_stock_ids — pre-pulled stock hints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5"/>
          <p:cNvSpPr/>
          <p:nvPr/>
        </p:nvSpPr>
        <p:spPr>
          <a:xfrm>
            <a:off x="932760" y="5376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genotype_list / symbol_list — candidate RNAi genotypes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26"/>
          <p:cNvSpPr/>
          <p:nvPr/>
        </p:nvSpPr>
        <p:spPr>
          <a:xfrm>
            <a:off x="5760720" y="2541960"/>
            <a:ext cx="59432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27"/>
          <p:cNvSpPr/>
          <p:nvPr/>
        </p:nvSpPr>
        <p:spPr>
          <a:xfrm>
            <a:off x="5970960" y="2670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per priority bucket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8" name="Table 28"/>
          <p:cNvGraphicFramePr/>
          <p:nvPr/>
        </p:nvGraphicFramePr>
        <p:xfrm>
          <a:off x="5970960" y="3054240"/>
          <a:ext cx="5348880" cy="204804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822960"/>
                <a:gridCol w="77724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Priority bucket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429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Vienna (VDRC)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284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243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194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299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Stock 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329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329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704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704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109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269" name="Rectangle 29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30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31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7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2 · PRIORITY V2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Jordan VCM candidates (n = 35)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35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Input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8"/>
          <p:cNvSpPr/>
          <p:nvPr/>
        </p:nvSpPr>
        <p:spPr>
          <a:xfrm>
            <a:off x="329184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329184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757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0"/>
          <p:cNvSpPr/>
          <p:nvPr/>
        </p:nvSpPr>
        <p:spPr>
          <a:xfrm>
            <a:off x="329184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08076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608076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692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608076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alleles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4"/>
          <p:cNvSpPr/>
          <p:nvPr/>
        </p:nvSpPr>
        <p:spPr>
          <a:xfrm>
            <a:off x="886968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886968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34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886968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Genes w/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7"/>
          <p:cNvSpPr/>
          <p:nvPr/>
        </p:nvSpPr>
        <p:spPr>
          <a:xfrm>
            <a:off x="502920" y="2541960"/>
            <a:ext cx="50745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8"/>
          <p:cNvSpPr/>
          <p:nvPr/>
        </p:nvSpPr>
        <p:spPr>
          <a:xfrm>
            <a:off x="713160" y="2670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9"/>
          <p:cNvSpPr/>
          <p:nvPr/>
        </p:nvSpPr>
        <p:spPr>
          <a:xfrm>
            <a:off x="713160" y="2962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Simple curated symbol-to-FBgn list (shared by the curated short-lists).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932760" y="345636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ext_gene — submitted gene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932760" y="3840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primary_symbol — current FlyBase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2"/>
          <p:cNvSpPr/>
          <p:nvPr/>
        </p:nvSpPr>
        <p:spPr>
          <a:xfrm>
            <a:off x="932760" y="4224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flybase_gene_id — FBgn key used for matching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3"/>
          <p:cNvSpPr/>
          <p:nvPr/>
        </p:nvSpPr>
        <p:spPr>
          <a:xfrm>
            <a:off x="932760" y="46087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corrected_ext_gene — manual symbol fix (if any)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24"/>
          <p:cNvSpPr/>
          <p:nvPr/>
        </p:nvSpPr>
        <p:spPr>
          <a:xfrm>
            <a:off x="5760720" y="2541960"/>
            <a:ext cx="59432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25"/>
          <p:cNvSpPr/>
          <p:nvPr/>
        </p:nvSpPr>
        <p:spPr>
          <a:xfrm>
            <a:off x="5970960" y="2670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per priority bucket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7" name="Table 26"/>
          <p:cNvGraphicFramePr/>
          <p:nvPr/>
        </p:nvGraphicFramePr>
        <p:xfrm>
          <a:off x="5970960" y="3054240"/>
          <a:ext cx="5348880" cy="204804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822960"/>
                <a:gridCol w="77724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Priority bucket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Vienna (VDRC)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Stock 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294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294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298" name="Rectangle 27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8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9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8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2 · PRIORITY V2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Slumber neuropeptides + transmitters (n = 33)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33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Input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8"/>
          <p:cNvSpPr/>
          <p:nvPr/>
        </p:nvSpPr>
        <p:spPr>
          <a:xfrm>
            <a:off x="329184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9"/>
          <p:cNvSpPr/>
          <p:nvPr/>
        </p:nvSpPr>
        <p:spPr>
          <a:xfrm>
            <a:off x="329184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1156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0"/>
          <p:cNvSpPr/>
          <p:nvPr/>
        </p:nvSpPr>
        <p:spPr>
          <a:xfrm>
            <a:off x="329184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1"/>
          <p:cNvSpPr/>
          <p:nvPr/>
        </p:nvSpPr>
        <p:spPr>
          <a:xfrm>
            <a:off x="608076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2"/>
          <p:cNvSpPr/>
          <p:nvPr/>
        </p:nvSpPr>
        <p:spPr>
          <a:xfrm>
            <a:off x="608076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523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3"/>
          <p:cNvSpPr/>
          <p:nvPr/>
        </p:nvSpPr>
        <p:spPr>
          <a:xfrm>
            <a:off x="608076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alleles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14"/>
          <p:cNvSpPr/>
          <p:nvPr/>
        </p:nvSpPr>
        <p:spPr>
          <a:xfrm>
            <a:off x="886968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15"/>
          <p:cNvSpPr/>
          <p:nvPr/>
        </p:nvSpPr>
        <p:spPr>
          <a:xfrm>
            <a:off x="886968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32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6"/>
          <p:cNvSpPr/>
          <p:nvPr/>
        </p:nvSpPr>
        <p:spPr>
          <a:xfrm>
            <a:off x="886968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Genes w/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7"/>
          <p:cNvSpPr/>
          <p:nvPr/>
        </p:nvSpPr>
        <p:spPr>
          <a:xfrm>
            <a:off x="502920" y="2541960"/>
            <a:ext cx="50745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8"/>
          <p:cNvSpPr/>
          <p:nvPr/>
        </p:nvSpPr>
        <p:spPr>
          <a:xfrm>
            <a:off x="713160" y="2670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9"/>
          <p:cNvSpPr/>
          <p:nvPr/>
        </p:nvSpPr>
        <p:spPr>
          <a:xfrm>
            <a:off x="713160" y="2962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Simple curated symbol-to-FBgn list of neuropeptide / transmitter genes.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0"/>
          <p:cNvSpPr/>
          <p:nvPr/>
        </p:nvSpPr>
        <p:spPr>
          <a:xfrm>
            <a:off x="932760" y="345636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ext_gene — submitted gene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1"/>
          <p:cNvSpPr/>
          <p:nvPr/>
        </p:nvSpPr>
        <p:spPr>
          <a:xfrm>
            <a:off x="932760" y="3840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primary_symbol — current FlyBase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2"/>
          <p:cNvSpPr/>
          <p:nvPr/>
        </p:nvSpPr>
        <p:spPr>
          <a:xfrm>
            <a:off x="932760" y="4224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flybase_gene_id — FBgn key used for matching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23"/>
          <p:cNvSpPr/>
          <p:nvPr/>
        </p:nvSpPr>
        <p:spPr>
          <a:xfrm>
            <a:off x="932760" y="46087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corrected_ext_gene — manual symbol fix (if any)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24"/>
          <p:cNvSpPr/>
          <p:nvPr/>
        </p:nvSpPr>
        <p:spPr>
          <a:xfrm>
            <a:off x="5760720" y="2541960"/>
            <a:ext cx="59432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25"/>
          <p:cNvSpPr/>
          <p:nvPr/>
        </p:nvSpPr>
        <p:spPr>
          <a:xfrm>
            <a:off x="5970960" y="2670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per priority bucket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6" name="Table 26"/>
          <p:cNvGraphicFramePr/>
          <p:nvPr/>
        </p:nvGraphicFramePr>
        <p:xfrm>
          <a:off x="5970960" y="3054240"/>
          <a:ext cx="5348880" cy="204804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822960"/>
                <a:gridCol w="77724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Priority bucket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108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Vienna (VDRC)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439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97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Stock 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242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246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246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7" name="Rectangle 27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28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9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9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2 · PRIORITY V2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Slumber RNAi candidates (n = 16)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16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Input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8"/>
          <p:cNvSpPr/>
          <p:nvPr/>
        </p:nvSpPr>
        <p:spPr>
          <a:xfrm>
            <a:off x="329184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9"/>
          <p:cNvSpPr/>
          <p:nvPr/>
        </p:nvSpPr>
        <p:spPr>
          <a:xfrm>
            <a:off x="329184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225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0"/>
          <p:cNvSpPr/>
          <p:nvPr/>
        </p:nvSpPr>
        <p:spPr>
          <a:xfrm>
            <a:off x="329184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11"/>
          <p:cNvSpPr/>
          <p:nvPr/>
        </p:nvSpPr>
        <p:spPr>
          <a:xfrm>
            <a:off x="608076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12"/>
          <p:cNvSpPr/>
          <p:nvPr/>
        </p:nvSpPr>
        <p:spPr>
          <a:xfrm>
            <a:off x="608076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173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3"/>
          <p:cNvSpPr/>
          <p:nvPr/>
        </p:nvSpPr>
        <p:spPr>
          <a:xfrm>
            <a:off x="608076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Unique alleles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14"/>
          <p:cNvSpPr/>
          <p:nvPr/>
        </p:nvSpPr>
        <p:spPr>
          <a:xfrm>
            <a:off x="886968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15"/>
          <p:cNvSpPr/>
          <p:nvPr/>
        </p:nvSpPr>
        <p:spPr>
          <a:xfrm>
            <a:off x="886968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16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6"/>
          <p:cNvSpPr/>
          <p:nvPr/>
        </p:nvSpPr>
        <p:spPr>
          <a:xfrm>
            <a:off x="886968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Genes w/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7"/>
          <p:cNvSpPr/>
          <p:nvPr/>
        </p:nvSpPr>
        <p:spPr>
          <a:xfrm>
            <a:off x="502920" y="2541960"/>
            <a:ext cx="50745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8"/>
          <p:cNvSpPr/>
          <p:nvPr/>
        </p:nvSpPr>
        <p:spPr>
          <a:xfrm>
            <a:off x="713160" y="2670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9"/>
          <p:cNvSpPr/>
          <p:nvPr/>
        </p:nvSpPr>
        <p:spPr>
          <a:xfrm>
            <a:off x="713160" y="2962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Simple curated symbol-to-FBgn list of RNAi candidate genes.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0"/>
          <p:cNvSpPr/>
          <p:nvPr/>
        </p:nvSpPr>
        <p:spPr>
          <a:xfrm>
            <a:off x="932760" y="345636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ext_gene — submitted gene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21"/>
          <p:cNvSpPr/>
          <p:nvPr/>
        </p:nvSpPr>
        <p:spPr>
          <a:xfrm>
            <a:off x="932760" y="38404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primary_symbol — current FlyBase symbol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22"/>
          <p:cNvSpPr/>
          <p:nvPr/>
        </p:nvSpPr>
        <p:spPr>
          <a:xfrm>
            <a:off x="932760" y="422460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flybase_gene_id — FBgn key used for matching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3"/>
          <p:cNvSpPr/>
          <p:nvPr/>
        </p:nvSpPr>
        <p:spPr>
          <a:xfrm>
            <a:off x="932760" y="46087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corrected_ext_gene — manual symbol fix (if any)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24"/>
          <p:cNvSpPr/>
          <p:nvPr/>
        </p:nvSpPr>
        <p:spPr>
          <a:xfrm>
            <a:off x="5760720" y="2541960"/>
            <a:ext cx="59432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25"/>
          <p:cNvSpPr/>
          <p:nvPr/>
        </p:nvSpPr>
        <p:spPr>
          <a:xfrm>
            <a:off x="5970960" y="26701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per priority bucket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5" name="Table 26"/>
          <p:cNvGraphicFramePr/>
          <p:nvPr/>
        </p:nvGraphicFramePr>
        <p:xfrm>
          <a:off x="5970960" y="3054240"/>
          <a:ext cx="5348880" cy="204804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822960"/>
                <a:gridCol w="77724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Priority bucket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Vienna (VDRC)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Bloomington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95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Stock 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UAS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Non-Stock-Center · Allele/Insertion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56" name="Rectangle 27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28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29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10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3 · TRANSCRIPTOMICS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CSW sleep/wake cycling sets (FC0.5 &amp; FC1)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5"/>
          <p:cNvSpPr/>
          <p:nvPr/>
        </p:nvSpPr>
        <p:spPr>
          <a:xfrm>
            <a:off x="502920" y="1371600"/>
            <a:ext cx="5074560" cy="455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6"/>
          <p:cNvSpPr/>
          <p:nvPr/>
        </p:nvSpPr>
        <p:spPr>
          <a:xfrm>
            <a:off x="713160" y="14997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7"/>
          <p:cNvSpPr/>
          <p:nvPr/>
        </p:nvSpPr>
        <p:spPr>
          <a:xfrm>
            <a:off x="713160" y="1801440"/>
            <a:ext cx="4708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Per-gene cycling + sleep/wake correlation metrics, with AI literature annotations (flai_*).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8"/>
          <p:cNvSpPr/>
          <p:nvPr/>
        </p:nvSpPr>
        <p:spPr>
          <a:xfrm>
            <a:off x="932760" y="24321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ext_gene / gene_id — fly gene + FBgn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9"/>
          <p:cNvSpPr/>
          <p:nvPr/>
        </p:nvSpPr>
        <p:spPr>
          <a:xfrm>
            <a:off x="932760" y="28530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frequency / is_cycling — cycling evidence + recurrence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0"/>
          <p:cNvSpPr/>
          <p:nvPr/>
        </p:nvSpPr>
        <p:spPr>
          <a:xfrm>
            <a:off x="932760" y="327348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sleep_corr_exps / wake_corr_exps — correlated experiments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1"/>
          <p:cNvSpPr/>
          <p:nvPr/>
        </p:nvSpPr>
        <p:spPr>
          <a:xfrm>
            <a:off x="932760" y="369432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Baseline, MechSD3/6/12, THIP — per-condition statistics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2"/>
          <p:cNvSpPr/>
          <p:nvPr/>
        </p:nvSpPr>
        <p:spPr>
          <a:xfrm>
            <a:off x="932760" y="41148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flai_Category / flai_Confidence — AI sleep-wake call + confidence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13"/>
          <p:cNvSpPr/>
          <p:nvPr/>
        </p:nvSpPr>
        <p:spPr>
          <a:xfrm>
            <a:off x="932760" y="453528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flai_Supporting_Refs / flai_Ref_* — supporting publications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14"/>
          <p:cNvSpPr/>
          <p:nvPr/>
        </p:nvSpPr>
        <p:spPr>
          <a:xfrm>
            <a:off x="5760720" y="1371600"/>
            <a:ext cx="5943240" cy="455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5"/>
          <p:cNvSpPr/>
          <p:nvPr/>
        </p:nvSpPr>
        <p:spPr>
          <a:xfrm>
            <a:off x="5970960" y="149976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Frequency tiers (11)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4" name="Table 16"/>
          <p:cNvGraphicFramePr/>
          <p:nvPr/>
        </p:nvGraphicFramePr>
        <p:xfrm>
          <a:off x="5970960" y="1865520"/>
          <a:ext cx="5348880" cy="3511080"/>
        </p:xfrm>
        <a:graphic>
          <a:graphicData uri="http://schemas.openxmlformats.org/drawingml/2006/table">
            <a:tbl>
              <a:tblPr/>
              <a:tblGrid>
                <a:gridCol w="4434840"/>
                <a:gridCol w="91440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Gene-set table (tier)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Sleep freq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135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Sleep freq 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Wake freq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353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Wake freq 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197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Wake freq 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Wake freq 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FC0.5 Wake freq 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FC1 Sleep freq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FC1 Wake freq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FC1 Wake freq 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FC1 Wake freq 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5" name="TextBox 17"/>
          <p:cNvSpPr/>
          <p:nvPr/>
        </p:nvSpPr>
        <p:spPr>
          <a:xfrm>
            <a:off x="5970960" y="553212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Tier = recurrence frequency across experiments; higher tier = stronger / more reproducible signal.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1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19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20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11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RUN 3 · TRANSCRIPTOMICS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SleepHistory correlates, overlaps &amp; homeostatic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5"/>
          <p:cNvSpPr/>
          <p:nvPr/>
        </p:nvSpPr>
        <p:spPr>
          <a:xfrm>
            <a:off x="502920" y="1371600"/>
            <a:ext cx="5074560" cy="455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6"/>
          <p:cNvSpPr/>
          <p:nvPr/>
        </p:nvSpPr>
        <p:spPr>
          <a:xfrm>
            <a:off x="713160" y="14997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Input schema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7"/>
          <p:cNvSpPr/>
          <p:nvPr/>
        </p:nvSpPr>
        <p:spPr>
          <a:xfrm>
            <a:off x="713160" y="1801440"/>
            <a:ext cx="4708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Literature-derived correlate sets; AI category / confidence / rationale per gene (per-axis for overlaps).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8"/>
          <p:cNvSpPr/>
          <p:nvPr/>
        </p:nvSpPr>
        <p:spPr>
          <a:xfrm>
            <a:off x="932760" y="243216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ext_gene / flybase_gene_id — fly gene + FBgn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9"/>
          <p:cNvSpPr/>
          <p:nvPr/>
        </p:nvSpPr>
        <p:spPr>
          <a:xfrm>
            <a:off x="932760" y="28530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Category / Confidence — AI sleep-relevance call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0"/>
          <p:cNvSpPr/>
          <p:nvPr/>
        </p:nvSpPr>
        <p:spPr>
          <a:xfrm>
            <a:off x="932760" y="327348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Rationale — short justification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1"/>
          <p:cNvSpPr/>
          <p:nvPr/>
        </p:nvSpPr>
        <p:spPr>
          <a:xfrm>
            <a:off x="932760" y="369432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Supporting_Refs / Ref_* — publications + metadata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2"/>
          <p:cNvSpPr/>
          <p:nvPr/>
        </p:nvSpPr>
        <p:spPr>
          <a:xfrm>
            <a:off x="932760" y="411480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History_* / Rebound_* — per-axis calls (overlap sets)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13"/>
          <p:cNvSpPr/>
          <p:nvPr/>
        </p:nvSpPr>
        <p:spPr>
          <a:xfrm>
            <a:off x="932760" y="4535280"/>
            <a:ext cx="4571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homeostatic set — simple symbol-to-FBgn list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14"/>
          <p:cNvSpPr/>
          <p:nvPr/>
        </p:nvSpPr>
        <p:spPr>
          <a:xfrm>
            <a:off x="5760720" y="1371600"/>
            <a:ext cx="5943240" cy="455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15"/>
          <p:cNvSpPr/>
          <p:nvPr/>
        </p:nvSpPr>
        <p:spPr>
          <a:xfrm>
            <a:off x="5970960" y="149976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Gene-set tables (5)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4" name="Table 16"/>
          <p:cNvGraphicFramePr/>
          <p:nvPr/>
        </p:nvGraphicFramePr>
        <p:xfrm>
          <a:off x="5970960" y="1865520"/>
          <a:ext cx="5348880" cy="1755360"/>
        </p:xfrm>
        <a:graphic>
          <a:graphicData uri="http://schemas.openxmlformats.org/drawingml/2006/table">
            <a:tbl>
              <a:tblPr/>
              <a:tblGrid>
                <a:gridCol w="4434840"/>
                <a:gridCol w="91440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Gene-set table (tier)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 (neg correlates)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 (pos correlates)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History(neg) x Rebound(pos) overlap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History(pos) x Rebound(neg) overlap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homeostatic genes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5" name="TextBox 17"/>
          <p:cNvSpPr/>
          <p:nvPr/>
        </p:nvSpPr>
        <p:spPr>
          <a:xfrm>
            <a:off x="5970960" y="5532120"/>
            <a:ext cx="5486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Five tables across three categories; counts are gene-set sizes as submitted.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1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19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20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12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SUMMARY COUNTS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Targeted gene-list runs — totals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5"/>
          <p:cNvSpPr/>
          <p:nvPr/>
        </p:nvSpPr>
        <p:spPr>
          <a:xfrm>
            <a:off x="502920" y="1371600"/>
            <a:ext cx="5988960" cy="416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6"/>
          <p:cNvSpPr/>
          <p:nvPr/>
        </p:nvSpPr>
        <p:spPr>
          <a:xfrm>
            <a:off x="713160" y="1499760"/>
            <a:ext cx="557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Unique stocks / alleles per dataset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5" name="Table 7"/>
          <p:cNvGraphicFramePr/>
          <p:nvPr/>
        </p:nvGraphicFramePr>
        <p:xfrm>
          <a:off x="713160" y="1865520"/>
          <a:ext cx="5714640" cy="2340360"/>
        </p:xfrm>
        <a:graphic>
          <a:graphicData uri="http://schemas.openxmlformats.org/drawingml/2006/table">
            <a:tbl>
              <a:tblPr/>
              <a:tblGrid>
                <a:gridCol w="2423160"/>
                <a:gridCol w="713160"/>
                <a:gridCol w="868680"/>
                <a:gridCol w="868680"/>
                <a:gridCol w="84096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Dataset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Genes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Alleles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w/ 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vGAT — GABA gene list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2048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1497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135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BPD-GWAS orthologs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1485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155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DIOPT Bellenguez/Lambert (AD)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2620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1767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217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Jordan VCM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757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692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Slumber neuropeptides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1156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523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Slumber RNAi candidates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173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All targeted runs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619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8439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6137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6" name="Rectangle 8"/>
          <p:cNvSpPr/>
          <p:nvPr/>
        </p:nvSpPr>
        <p:spPr>
          <a:xfrm>
            <a:off x="6675120" y="1371600"/>
            <a:ext cx="5028840" cy="416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9"/>
          <p:cNvSpPr/>
          <p:nvPr/>
        </p:nvSpPr>
        <p:spPr>
          <a:xfrm>
            <a:off x="6858000" y="14997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Stocks organized per dataset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0"/>
          <p:cNvSpPr/>
          <p:nvPr/>
        </p:nvSpPr>
        <p:spPr>
          <a:xfrm>
            <a:off x="6903720" y="201168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GABA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11"/>
          <p:cNvSpPr/>
          <p:nvPr/>
        </p:nvSpPr>
        <p:spPr>
          <a:xfrm>
            <a:off x="8321040" y="2121480"/>
            <a:ext cx="1807920" cy="32868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12"/>
          <p:cNvSpPr/>
          <p:nvPr/>
        </p:nvSpPr>
        <p:spPr>
          <a:xfrm>
            <a:off x="10184400" y="2011680"/>
            <a:ext cx="776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2,048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3"/>
          <p:cNvSpPr/>
          <p:nvPr/>
        </p:nvSpPr>
        <p:spPr>
          <a:xfrm>
            <a:off x="6903720" y="256032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BPD-GWAS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14"/>
          <p:cNvSpPr/>
          <p:nvPr/>
        </p:nvSpPr>
        <p:spPr>
          <a:xfrm>
            <a:off x="8321040" y="2670120"/>
            <a:ext cx="1441440" cy="32868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15"/>
          <p:cNvSpPr/>
          <p:nvPr/>
        </p:nvSpPr>
        <p:spPr>
          <a:xfrm>
            <a:off x="9817920" y="2560320"/>
            <a:ext cx="776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1,633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6"/>
          <p:cNvSpPr/>
          <p:nvPr/>
        </p:nvSpPr>
        <p:spPr>
          <a:xfrm>
            <a:off x="6903720" y="310896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DIOPT AD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17"/>
          <p:cNvSpPr/>
          <p:nvPr/>
        </p:nvSpPr>
        <p:spPr>
          <a:xfrm>
            <a:off x="8321040" y="3218760"/>
            <a:ext cx="2313000" cy="32868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18"/>
          <p:cNvSpPr/>
          <p:nvPr/>
        </p:nvSpPr>
        <p:spPr>
          <a:xfrm>
            <a:off x="10689480" y="3108960"/>
            <a:ext cx="776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2,620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9"/>
          <p:cNvSpPr/>
          <p:nvPr/>
        </p:nvSpPr>
        <p:spPr>
          <a:xfrm>
            <a:off x="6903720" y="365760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Jordan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20"/>
          <p:cNvSpPr/>
          <p:nvPr/>
        </p:nvSpPr>
        <p:spPr>
          <a:xfrm>
            <a:off x="8321040" y="3767400"/>
            <a:ext cx="668160" cy="32868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21"/>
          <p:cNvSpPr/>
          <p:nvPr/>
        </p:nvSpPr>
        <p:spPr>
          <a:xfrm>
            <a:off x="9044280" y="3657600"/>
            <a:ext cx="776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757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22"/>
          <p:cNvSpPr/>
          <p:nvPr/>
        </p:nvSpPr>
        <p:spPr>
          <a:xfrm>
            <a:off x="6903720" y="420624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Slumber NP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23"/>
          <p:cNvSpPr/>
          <p:nvPr/>
        </p:nvSpPr>
        <p:spPr>
          <a:xfrm>
            <a:off x="8321040" y="4316040"/>
            <a:ext cx="1020240" cy="32868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24"/>
          <p:cNvSpPr/>
          <p:nvPr/>
        </p:nvSpPr>
        <p:spPr>
          <a:xfrm>
            <a:off x="9396720" y="4206240"/>
            <a:ext cx="776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1,156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5"/>
          <p:cNvSpPr/>
          <p:nvPr/>
        </p:nvSpPr>
        <p:spPr>
          <a:xfrm>
            <a:off x="6903720" y="4754880"/>
            <a:ext cx="132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Slumber RNAi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26"/>
          <p:cNvSpPr/>
          <p:nvPr/>
        </p:nvSpPr>
        <p:spPr>
          <a:xfrm>
            <a:off x="8321040" y="4864680"/>
            <a:ext cx="198360" cy="32868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27"/>
          <p:cNvSpPr/>
          <p:nvPr/>
        </p:nvSpPr>
        <p:spPr>
          <a:xfrm>
            <a:off x="8574480" y="4754880"/>
            <a:ext cx="776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225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8"/>
          <p:cNvSpPr/>
          <p:nvPr/>
        </p:nvSpPr>
        <p:spPr>
          <a:xfrm>
            <a:off x="502920" y="5669280"/>
            <a:ext cx="11155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Counts are de-duplicated within each run (a stock is counted once across the six buckets).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29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TextBox 30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31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13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SUMMARY COUNTS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Transcriptomics run — totals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5"/>
          <p:cNvSpPr/>
          <p:nvPr/>
        </p:nvSpPr>
        <p:spPr>
          <a:xfrm>
            <a:off x="5029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6"/>
          <p:cNvSpPr/>
          <p:nvPr/>
        </p:nvSpPr>
        <p:spPr>
          <a:xfrm>
            <a:off x="5029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</a:rPr>
              <a:t>16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7"/>
          <p:cNvSpPr/>
          <p:nvPr/>
        </p:nvSpPr>
        <p:spPr>
          <a:xfrm>
            <a:off x="5029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gene-set tiers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8"/>
          <p:cNvSpPr/>
          <p:nvPr/>
        </p:nvSpPr>
        <p:spPr>
          <a:xfrm>
            <a:off x="30175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9"/>
          <p:cNvSpPr/>
          <p:nvPr/>
        </p:nvSpPr>
        <p:spPr>
          <a:xfrm>
            <a:off x="30175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0"/>
          <p:cNvSpPr/>
          <p:nvPr/>
        </p:nvSpPr>
        <p:spPr>
          <a:xfrm>
            <a:off x="30175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dataset categories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11"/>
          <p:cNvSpPr/>
          <p:nvPr/>
        </p:nvSpPr>
        <p:spPr>
          <a:xfrm>
            <a:off x="5532120" y="1371600"/>
            <a:ext cx="2669760" cy="959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12"/>
          <p:cNvSpPr/>
          <p:nvPr/>
        </p:nvSpPr>
        <p:spPr>
          <a:xfrm>
            <a:off x="5532120" y="1481400"/>
            <a:ext cx="2669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</a:rPr>
              <a:t>5796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13"/>
          <p:cNvSpPr/>
          <p:nvPr/>
        </p:nvSpPr>
        <p:spPr>
          <a:xfrm>
            <a:off x="5532120" y="2048400"/>
            <a:ext cx="2669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stocks organized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14"/>
          <p:cNvSpPr/>
          <p:nvPr/>
        </p:nvSpPr>
        <p:spPr>
          <a:xfrm>
            <a:off x="502920" y="2514600"/>
            <a:ext cx="553176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15"/>
          <p:cNvSpPr/>
          <p:nvPr/>
        </p:nvSpPr>
        <p:spPr>
          <a:xfrm>
            <a:off x="713160" y="264276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By dataset category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5" name="Table 16"/>
          <p:cNvGraphicFramePr/>
          <p:nvPr/>
        </p:nvGraphicFramePr>
        <p:xfrm>
          <a:off x="713160" y="2980800"/>
          <a:ext cx="5120280" cy="1755360"/>
        </p:xfrm>
        <a:graphic>
          <a:graphicData uri="http://schemas.openxmlformats.org/drawingml/2006/table">
            <a:tbl>
              <a:tblPr/>
              <a:tblGrid>
                <a:gridCol w="3200400"/>
                <a:gridCol w="868680"/>
                <a:gridCol w="1051560"/>
              </a:tblGrid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Dataset category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Tiers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Stocks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CSW FC0.5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4025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CSW FC1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356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Homeostatic genes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46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History x Rebound overlaps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108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SleepHistory correlates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</a:rPr>
                        <a:t>1261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6" name="Rectangle 17"/>
          <p:cNvSpPr/>
          <p:nvPr/>
        </p:nvSpPr>
        <p:spPr>
          <a:xfrm>
            <a:off x="6217920" y="2514600"/>
            <a:ext cx="5486040" cy="338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18"/>
          <p:cNvSpPr/>
          <p:nvPr/>
        </p:nvSpPr>
        <p:spPr>
          <a:xfrm>
            <a:off x="6400800" y="2642760"/>
            <a:ext cx="5120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</a:rPr>
              <a:t>By priority bucket (all 16 tiers)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19"/>
          <p:cNvSpPr/>
          <p:nvPr/>
        </p:nvSpPr>
        <p:spPr>
          <a:xfrm>
            <a:off x="6400800" y="30632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Bloom · UAS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20"/>
          <p:cNvSpPr/>
          <p:nvPr/>
        </p:nvSpPr>
        <p:spPr>
          <a:xfrm>
            <a:off x="8001000" y="3151080"/>
            <a:ext cx="589320" cy="2631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TextBox 21"/>
          <p:cNvSpPr/>
          <p:nvPr/>
        </p:nvSpPr>
        <p:spPr>
          <a:xfrm>
            <a:off x="8645400" y="3063240"/>
            <a:ext cx="77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421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22"/>
          <p:cNvSpPr/>
          <p:nvPr/>
        </p:nvSpPr>
        <p:spPr>
          <a:xfrm>
            <a:off x="6400800" y="350208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Vienna · UAS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23"/>
          <p:cNvSpPr/>
          <p:nvPr/>
        </p:nvSpPr>
        <p:spPr>
          <a:xfrm>
            <a:off x="8001000" y="3589920"/>
            <a:ext cx="1607040" cy="2631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24"/>
          <p:cNvSpPr/>
          <p:nvPr/>
        </p:nvSpPr>
        <p:spPr>
          <a:xfrm>
            <a:off x="9663480" y="3502080"/>
            <a:ext cx="77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1,148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25"/>
          <p:cNvSpPr/>
          <p:nvPr/>
        </p:nvSpPr>
        <p:spPr>
          <a:xfrm>
            <a:off x="6400800" y="394092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Bloom · Allele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26"/>
          <p:cNvSpPr/>
          <p:nvPr/>
        </p:nvSpPr>
        <p:spPr>
          <a:xfrm>
            <a:off x="8001000" y="4028760"/>
            <a:ext cx="1745640" cy="2631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27"/>
          <p:cNvSpPr/>
          <p:nvPr/>
        </p:nvSpPr>
        <p:spPr>
          <a:xfrm>
            <a:off x="9802080" y="3940920"/>
            <a:ext cx="77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1,247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28"/>
          <p:cNvSpPr/>
          <p:nvPr/>
        </p:nvSpPr>
        <p:spPr>
          <a:xfrm>
            <a:off x="6400800" y="438012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Stock Ctr · Allele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29"/>
          <p:cNvSpPr/>
          <p:nvPr/>
        </p:nvSpPr>
        <p:spPr>
          <a:xfrm>
            <a:off x="8001000" y="4467600"/>
            <a:ext cx="654840" cy="2631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30"/>
          <p:cNvSpPr/>
          <p:nvPr/>
        </p:nvSpPr>
        <p:spPr>
          <a:xfrm>
            <a:off x="8711280" y="4380120"/>
            <a:ext cx="77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468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31"/>
          <p:cNvSpPr/>
          <p:nvPr/>
        </p:nvSpPr>
        <p:spPr>
          <a:xfrm>
            <a:off x="6400800" y="481896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Non-SC · UAS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32"/>
          <p:cNvSpPr/>
          <p:nvPr/>
        </p:nvSpPr>
        <p:spPr>
          <a:xfrm>
            <a:off x="8001000" y="4906800"/>
            <a:ext cx="929520" cy="2631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33"/>
          <p:cNvSpPr/>
          <p:nvPr/>
        </p:nvSpPr>
        <p:spPr>
          <a:xfrm>
            <a:off x="8985600" y="4818960"/>
            <a:ext cx="77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664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34"/>
          <p:cNvSpPr/>
          <p:nvPr/>
        </p:nvSpPr>
        <p:spPr>
          <a:xfrm>
            <a:off x="6400800" y="525780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Non-SC · Allele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35"/>
          <p:cNvSpPr/>
          <p:nvPr/>
        </p:nvSpPr>
        <p:spPr>
          <a:xfrm>
            <a:off x="8001000" y="5345640"/>
            <a:ext cx="2587320" cy="2631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36"/>
          <p:cNvSpPr/>
          <p:nvPr/>
        </p:nvSpPr>
        <p:spPr>
          <a:xfrm>
            <a:off x="10643760" y="5257800"/>
            <a:ext cx="77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1,848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37"/>
          <p:cNvSpPr/>
          <p:nvPr/>
        </p:nvSpPr>
        <p:spPr>
          <a:xfrm>
            <a:off x="502920" y="5989320"/>
            <a:ext cx="11155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Transcriptomics totals are summed across tiers; genes/alleles recur across tiers, so stocks are the headline metric.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3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39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40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14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Rectangle 2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3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WORKED EXAMPLES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4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One example reagent from each category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5"/>
          <p:cNvSpPr/>
          <p:nvPr/>
        </p:nvSpPr>
        <p:spPr>
          <a:xfrm>
            <a:off x="502920" y="122544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Representative rows from the GABA gene-list workbook (n=140) — every dataset follows the same six-table structure.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6"/>
          <p:cNvSpPr/>
          <p:nvPr/>
        </p:nvSpPr>
        <p:spPr>
          <a:xfrm>
            <a:off x="502920" y="1591200"/>
            <a:ext cx="127800" cy="155412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Rectangle 7"/>
          <p:cNvSpPr/>
          <p:nvPr/>
        </p:nvSpPr>
        <p:spPr>
          <a:xfrm>
            <a:off x="631080" y="1591200"/>
            <a:ext cx="5403600" cy="155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8"/>
          <p:cNvSpPr/>
          <p:nvPr/>
        </p:nvSpPr>
        <p:spPr>
          <a:xfrm>
            <a:off x="795600" y="168264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Bloomington · UAS · Phenotype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9"/>
          <p:cNvSpPr/>
          <p:nvPr/>
        </p:nvSpPr>
        <p:spPr>
          <a:xfrm>
            <a:off x="795600" y="195696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220 stocks in this bucket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10"/>
          <p:cNvSpPr/>
          <p:nvPr/>
        </p:nvSpPr>
        <p:spPr>
          <a:xfrm>
            <a:off x="795600" y="217620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ID:  FBst0600261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11"/>
          <p:cNvSpPr/>
          <p:nvPr/>
        </p:nvSpPr>
        <p:spPr>
          <a:xfrm>
            <a:off x="795600" y="239580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Collection:  Bloomington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12"/>
          <p:cNvSpPr/>
          <p:nvPr/>
        </p:nvSpPr>
        <p:spPr>
          <a:xfrm>
            <a:off x="795600" y="26150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Gene:  Act5C; Gat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13"/>
          <p:cNvSpPr/>
          <p:nvPr/>
        </p:nvSpPr>
        <p:spPr>
          <a:xfrm>
            <a:off x="795600" y="28346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Genotype:  y[1] w[1118]; P{w[+mC]=Act5C-GAL4}25FO1, P{w[+mC]=UAS-GFP.U}2/…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14"/>
          <p:cNvSpPr/>
          <p:nvPr/>
        </p:nvSpPr>
        <p:spPr>
          <a:xfrm>
            <a:off x="6199560" y="1591200"/>
            <a:ext cx="127800" cy="1554120"/>
          </a:xfrm>
          <a:prstGeom prst="rect">
            <a:avLst/>
          </a:prstGeom>
          <a:solidFill>
            <a:srgbClr val="1C6F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Rectangle 15"/>
          <p:cNvSpPr/>
          <p:nvPr/>
        </p:nvSpPr>
        <p:spPr>
          <a:xfrm>
            <a:off x="6327720" y="1591200"/>
            <a:ext cx="5403600" cy="155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TextBox 16"/>
          <p:cNvSpPr/>
          <p:nvPr/>
        </p:nvSpPr>
        <p:spPr>
          <a:xfrm>
            <a:off x="6492240" y="168264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C6FB0"/>
                </a:solidFill>
                <a:effectLst/>
                <a:uFillTx/>
                <a:latin typeface="Calibri"/>
              </a:rPr>
              <a:t>Vienna (VDRC) · UAS · Phenotype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17"/>
          <p:cNvSpPr/>
          <p:nvPr/>
        </p:nvSpPr>
        <p:spPr>
          <a:xfrm>
            <a:off x="6492240" y="195696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182 stocks in this bucket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18"/>
          <p:cNvSpPr/>
          <p:nvPr/>
        </p:nvSpPr>
        <p:spPr>
          <a:xfrm>
            <a:off x="6492240" y="217620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ID:  FBst0479639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19"/>
          <p:cNvSpPr/>
          <p:nvPr/>
        </p:nvSpPr>
        <p:spPr>
          <a:xfrm>
            <a:off x="6492240" y="239580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Collection:  Vienna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20"/>
          <p:cNvSpPr/>
          <p:nvPr/>
        </p:nvSpPr>
        <p:spPr>
          <a:xfrm>
            <a:off x="6492240" y="26150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Gene:  ATPsynCF6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21"/>
          <p:cNvSpPr/>
          <p:nvPr/>
        </p:nvSpPr>
        <p:spPr>
          <a:xfrm>
            <a:off x="6492240" y="28346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Genotype:  P{KK108581}VIE-260B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22"/>
          <p:cNvSpPr/>
          <p:nvPr/>
        </p:nvSpPr>
        <p:spPr>
          <a:xfrm>
            <a:off x="502920" y="3237120"/>
            <a:ext cx="127800" cy="1554120"/>
          </a:xfrm>
          <a:prstGeom prst="rect">
            <a:avLst/>
          </a:prstGeom>
          <a:solidFill>
            <a:srgbClr val="6B4F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Rectangle 23"/>
          <p:cNvSpPr/>
          <p:nvPr/>
        </p:nvSpPr>
        <p:spPr>
          <a:xfrm>
            <a:off x="631080" y="3237120"/>
            <a:ext cx="5403600" cy="155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24"/>
          <p:cNvSpPr/>
          <p:nvPr/>
        </p:nvSpPr>
        <p:spPr>
          <a:xfrm>
            <a:off x="795600" y="332856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6B4FA0"/>
                </a:solidFill>
                <a:effectLst/>
                <a:uFillTx/>
                <a:latin typeface="Calibri"/>
              </a:rPr>
              <a:t>Bloomington · Allele/Insertion · Phenotype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25"/>
          <p:cNvSpPr/>
          <p:nvPr/>
        </p:nvSpPr>
        <p:spPr>
          <a:xfrm>
            <a:off x="795600" y="360288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568 stocks in this bucket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26"/>
          <p:cNvSpPr/>
          <p:nvPr/>
        </p:nvSpPr>
        <p:spPr>
          <a:xfrm>
            <a:off x="795600" y="382212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ID:  FBst0003954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27"/>
          <p:cNvSpPr/>
          <p:nvPr/>
        </p:nvSpPr>
        <p:spPr>
          <a:xfrm>
            <a:off x="795600" y="404172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Collection:  Bloomington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28"/>
          <p:cNvSpPr/>
          <p:nvPr/>
        </p:nvSpPr>
        <p:spPr>
          <a:xfrm>
            <a:off x="795600" y="426096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Gene:  Act5C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29"/>
          <p:cNvSpPr/>
          <p:nvPr/>
        </p:nvSpPr>
        <p:spPr>
          <a:xfrm>
            <a:off x="795600" y="448056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Genotype:  y[1] w[*]; P{w[+mC]=Act5C-GAL4}17bFO1/TM6B, Tb[1]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30"/>
          <p:cNvSpPr/>
          <p:nvPr/>
        </p:nvSpPr>
        <p:spPr>
          <a:xfrm>
            <a:off x="6199560" y="3237120"/>
            <a:ext cx="127800" cy="1554120"/>
          </a:xfrm>
          <a:prstGeom prst="rect">
            <a:avLst/>
          </a:prstGeom>
          <a:solidFill>
            <a:srgbClr val="C27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Rectangle 31"/>
          <p:cNvSpPr/>
          <p:nvPr/>
        </p:nvSpPr>
        <p:spPr>
          <a:xfrm>
            <a:off x="6327720" y="3237120"/>
            <a:ext cx="5403600" cy="155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32"/>
          <p:cNvSpPr/>
          <p:nvPr/>
        </p:nvSpPr>
        <p:spPr>
          <a:xfrm>
            <a:off x="6492240" y="332856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2792B"/>
                </a:solidFill>
                <a:effectLst/>
                <a:uFillTx/>
                <a:latin typeface="Calibri"/>
              </a:rPr>
              <a:t>Stock Center · Allele/Insertion · Phenotype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33"/>
          <p:cNvSpPr/>
          <p:nvPr/>
        </p:nvSpPr>
        <p:spPr>
          <a:xfrm>
            <a:off x="6492240" y="360288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173 stocks in this bucket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34"/>
          <p:cNvSpPr/>
          <p:nvPr/>
        </p:nvSpPr>
        <p:spPr>
          <a:xfrm>
            <a:off x="6492240" y="382212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ID:  FBst0306375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35"/>
          <p:cNvSpPr/>
          <p:nvPr/>
        </p:nvSpPr>
        <p:spPr>
          <a:xfrm>
            <a:off x="6492240" y="404172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Collection:  Kyoto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36"/>
          <p:cNvSpPr/>
          <p:nvPr/>
        </p:nvSpPr>
        <p:spPr>
          <a:xfrm>
            <a:off x="6492240" y="426096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Gene:  Act5C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37"/>
          <p:cNvSpPr/>
          <p:nvPr/>
        </p:nvSpPr>
        <p:spPr>
          <a:xfrm>
            <a:off x="6492240" y="448056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Genotype:  y[1] w[*]; P{w[+mC]=Act5C-GAL4}25FO1/CyO, y[+]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Rectangle 38"/>
          <p:cNvSpPr/>
          <p:nvPr/>
        </p:nvSpPr>
        <p:spPr>
          <a:xfrm>
            <a:off x="502920" y="4883040"/>
            <a:ext cx="127800" cy="1554120"/>
          </a:xfrm>
          <a:prstGeom prst="rect">
            <a:avLst/>
          </a:prstGeom>
          <a:solidFill>
            <a:srgbClr val="B241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Rectangle 39"/>
          <p:cNvSpPr/>
          <p:nvPr/>
        </p:nvSpPr>
        <p:spPr>
          <a:xfrm>
            <a:off x="631080" y="4883040"/>
            <a:ext cx="5403600" cy="155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40"/>
          <p:cNvSpPr/>
          <p:nvPr/>
        </p:nvSpPr>
        <p:spPr>
          <a:xfrm>
            <a:off x="795600" y="497448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B2415A"/>
                </a:solidFill>
                <a:effectLst/>
                <a:uFillTx/>
                <a:latin typeface="Calibri"/>
              </a:rPr>
              <a:t>Non-Stock-Center · UAS · Phenotype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41"/>
          <p:cNvSpPr/>
          <p:nvPr/>
        </p:nvSpPr>
        <p:spPr>
          <a:xfrm>
            <a:off x="795600" y="524880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225 stocks in this bucket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42"/>
          <p:cNvSpPr/>
          <p:nvPr/>
        </p:nvSpPr>
        <p:spPr>
          <a:xfrm>
            <a:off x="795600" y="54680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ID:  Scer\GAL4[Act5C.PU]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Box 43"/>
          <p:cNvSpPr/>
          <p:nvPr/>
        </p:nvSpPr>
        <p:spPr>
          <a:xfrm>
            <a:off x="795600" y="56876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Collection:  Custom phenotype reagent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44"/>
          <p:cNvSpPr/>
          <p:nvPr/>
        </p:nvSpPr>
        <p:spPr>
          <a:xfrm>
            <a:off x="795600" y="590688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Gene:  Act5C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45"/>
          <p:cNvSpPr/>
          <p:nvPr/>
        </p:nvSpPr>
        <p:spPr>
          <a:xfrm>
            <a:off x="795600" y="612648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Genotype:  Hsap\SOD1[UAS.cPa] Scer\GAL4[Act5C.PU]; Mmus\Prkaca[mC.UAS] Sc…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Rectangle 46"/>
          <p:cNvSpPr/>
          <p:nvPr/>
        </p:nvSpPr>
        <p:spPr>
          <a:xfrm>
            <a:off x="6199560" y="4883040"/>
            <a:ext cx="127800" cy="1554120"/>
          </a:xfrm>
          <a:prstGeom prst="rect">
            <a:avLst/>
          </a:prstGeom>
          <a:solidFill>
            <a:srgbClr val="4F7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Rectangle 47"/>
          <p:cNvSpPr/>
          <p:nvPr/>
        </p:nvSpPr>
        <p:spPr>
          <a:xfrm>
            <a:off x="6327720" y="4883040"/>
            <a:ext cx="5403600" cy="155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48"/>
          <p:cNvSpPr/>
          <p:nvPr/>
        </p:nvSpPr>
        <p:spPr>
          <a:xfrm>
            <a:off x="6492240" y="497448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F7A2E"/>
                </a:solidFill>
                <a:effectLst/>
                <a:uFillTx/>
                <a:latin typeface="Calibri"/>
              </a:rPr>
              <a:t>Non-Stock-Center · Allele/Insertion · Phenotype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49"/>
          <p:cNvSpPr/>
          <p:nvPr/>
        </p:nvSpPr>
        <p:spPr>
          <a:xfrm>
            <a:off x="6492240" y="5248800"/>
            <a:ext cx="5074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67385"/>
                </a:solidFill>
                <a:effectLst/>
                <a:uFillTx/>
                <a:latin typeface="Calibri"/>
              </a:rPr>
              <a:t>680 stocks in this bucket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50"/>
          <p:cNvSpPr/>
          <p:nvPr/>
        </p:nvSpPr>
        <p:spPr>
          <a:xfrm>
            <a:off x="6492240" y="54680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ID:  Cep290[mecH]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51"/>
          <p:cNvSpPr/>
          <p:nvPr/>
        </p:nvSpPr>
        <p:spPr>
          <a:xfrm>
            <a:off x="6492240" y="568764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Collection:  Custom phenotype reagent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52"/>
          <p:cNvSpPr/>
          <p:nvPr/>
        </p:nvSpPr>
        <p:spPr>
          <a:xfrm>
            <a:off x="6492240" y="590688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Gene:  Cep290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53"/>
          <p:cNvSpPr/>
          <p:nvPr/>
        </p:nvSpPr>
        <p:spPr>
          <a:xfrm>
            <a:off x="6492240" y="6126480"/>
            <a:ext cx="5028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F2A37"/>
                </a:solidFill>
                <a:effectLst/>
                <a:uFillTx/>
                <a:latin typeface="Calibri"/>
              </a:rPr>
              <a:t>Genotype:  Cep290[mecH]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54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55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56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15 /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Rectangle 1"/>
          <p:cNvSpPr/>
          <p:nvPr/>
        </p:nvSpPr>
        <p:spPr>
          <a:xfrm>
            <a:off x="0" y="0"/>
            <a:ext cx="255600" cy="6857640"/>
          </a:xfrm>
          <a:prstGeom prst="rect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Rectangle 2"/>
          <p:cNvSpPr/>
          <p:nvPr/>
        </p:nvSpPr>
        <p:spPr>
          <a:xfrm>
            <a:off x="255960" y="0"/>
            <a:ext cx="72720" cy="6857640"/>
          </a:xfrm>
          <a:prstGeom prst="rect">
            <a:avLst/>
          </a:prstGeom>
          <a:solidFill>
            <a:srgbClr val="E0A1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3"/>
          <p:cNvSpPr/>
          <p:nvPr/>
        </p:nvSpPr>
        <p:spPr>
          <a:xfrm>
            <a:off x="914400" y="9144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TAKEAWAYS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Box 4"/>
          <p:cNvSpPr/>
          <p:nvPr/>
        </p:nvSpPr>
        <p:spPr>
          <a:xfrm>
            <a:off x="868680" y="128016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</a:rPr>
              <a:t>What the tables give you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Oval 5"/>
          <p:cNvSpPr/>
          <p:nvPr/>
        </p:nvSpPr>
        <p:spPr>
          <a:xfrm>
            <a:off x="914400" y="2468880"/>
            <a:ext cx="383760" cy="383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6"/>
          <p:cNvSpPr/>
          <p:nvPr/>
        </p:nvSpPr>
        <p:spPr>
          <a:xfrm>
            <a:off x="914400" y="246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7"/>
          <p:cNvSpPr/>
          <p:nvPr/>
        </p:nvSpPr>
        <p:spPr>
          <a:xfrm>
            <a:off x="1463040" y="2432160"/>
            <a:ext cx="1005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22 gene sets, one consistent format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8"/>
          <p:cNvSpPr/>
          <p:nvPr/>
        </p:nvSpPr>
        <p:spPr>
          <a:xfrm>
            <a:off x="1463040" y="27615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Every input list becomes the same six prioritized, phenotype-filtered stock tables.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Oval 9"/>
          <p:cNvSpPr/>
          <p:nvPr/>
        </p:nvSpPr>
        <p:spPr>
          <a:xfrm>
            <a:off x="914400" y="3337560"/>
            <a:ext cx="383760" cy="383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10"/>
          <p:cNvSpPr/>
          <p:nvPr/>
        </p:nvSpPr>
        <p:spPr>
          <a:xfrm>
            <a:off x="914400" y="3337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11"/>
          <p:cNvSpPr/>
          <p:nvPr/>
        </p:nvSpPr>
        <p:spPr>
          <a:xfrm>
            <a:off x="1463040" y="3300840"/>
            <a:ext cx="1005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Ordering by orderability + reagent type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12"/>
          <p:cNvSpPr/>
          <p:nvPr/>
        </p:nvSpPr>
        <p:spPr>
          <a:xfrm>
            <a:off x="1463040" y="36302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Bloomington / Vienna / other centers first; UAS vs classical alleles separated; custom reagents last.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Oval 13"/>
          <p:cNvSpPr/>
          <p:nvPr/>
        </p:nvSpPr>
        <p:spPr>
          <a:xfrm>
            <a:off x="914400" y="4206240"/>
            <a:ext cx="383760" cy="383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14"/>
          <p:cNvSpPr/>
          <p:nvPr/>
        </p:nvSpPr>
        <p:spPr>
          <a:xfrm>
            <a:off x="914400" y="4206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15"/>
          <p:cNvSpPr/>
          <p:nvPr/>
        </p:nvSpPr>
        <p:spPr>
          <a:xfrm>
            <a:off x="1463040" y="4169520"/>
            <a:ext cx="1005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Built-in literature relevance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16"/>
          <p:cNvSpPr/>
          <p:nvPr/>
        </p:nvSpPr>
        <p:spPr>
          <a:xfrm>
            <a:off x="1463040" y="4498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Sleep / circadian / rhythm / locomotor references and phenotype-similarity scores travel with each stock.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Oval 17"/>
          <p:cNvSpPr/>
          <p:nvPr/>
        </p:nvSpPr>
        <p:spPr>
          <a:xfrm>
            <a:off x="914400" y="5074920"/>
            <a:ext cx="383760" cy="383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TextBox 18"/>
          <p:cNvSpPr/>
          <p:nvPr/>
        </p:nvSpPr>
        <p:spPr>
          <a:xfrm>
            <a:off x="914400" y="5074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19"/>
          <p:cNvSpPr/>
          <p:nvPr/>
        </p:nvSpPr>
        <p:spPr>
          <a:xfrm>
            <a:off x="1463040" y="5038200"/>
            <a:ext cx="10058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8,300+ phenotype-backed stocks organized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20"/>
          <p:cNvSpPr/>
          <p:nvPr/>
        </p:nvSpPr>
        <p:spPr>
          <a:xfrm>
            <a:off x="1463040" y="53676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C7D2DE"/>
                </a:solidFill>
                <a:effectLst/>
                <a:uFillTx/>
                <a:latin typeface="Calibri"/>
              </a:rPr>
              <a:t>Ready to filter down to an orderable shortlist per gene.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2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22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Allada Lab  ·  FlyBase Reagent Stocker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23"/>
          <p:cNvSpPr/>
          <p:nvPr/>
        </p:nvSpPr>
        <p:spPr>
          <a:xfrm>
            <a:off x="10789920" y="654696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</a:rPr>
              <a:t>16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Allada Lab</dc:creator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>FlyBase Reagent Stocker — Generated Stock Tables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