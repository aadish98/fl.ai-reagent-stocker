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 REAGENT STOCKER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Generated Stock Tables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Drosophila reagent tables across three input runs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gene-set tables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runs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buckets / 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3252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8,300+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73252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organized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Dr. Ravi Allada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TABLES ARE BUILT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gene list to six prioritized stock tables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1600200"/>
            <a:ext cx="457200" cy="457200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18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 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67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/ GWAS / transcriptomics list of fly genes (FBgn)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82112" y="17373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447288" y="14173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1880" y="1600200"/>
            <a:ext cx="457200" cy="457200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78808" y="1618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 match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30168" y="2167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all stocks + alleles, constructs, phenotypes, references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17373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391656" y="14173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56248" y="1600200"/>
            <a:ext cx="457200" cy="457200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655624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23176" y="1618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tier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74536" y="2167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Collection, reagent type, phenotype &amp; sleep-term relevance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70848" y="173736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9336024" y="141732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00616" y="1600200"/>
            <a:ext cx="457200" cy="457200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50061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67544" y="1618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priority tables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18904" y="2167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stock lands in the first bucket it qualifies for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06324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priority buckets (applied top-to-bottom; a stock appears in only one)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3456432"/>
            <a:ext cx="118872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" y="3456432"/>
            <a:ext cx="3538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529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  ·  UAS / RNAi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8952" y="3822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Stock-center, overexpression / knockdown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25112" y="3456432"/>
            <a:ext cx="118872" cy="713232"/>
          </a:xfrm>
          <a:prstGeom prst="rect">
            <a:avLst/>
          </a:prstGeom>
          <a:solidFill>
            <a:srgbClr val="1C6FB0"/>
          </a:solidFill>
          <a:ln/>
        </p:spPr>
      </p:sp>
      <p:sp>
        <p:nvSpPr>
          <p:cNvPr id="35" name="Shape 33"/>
          <p:cNvSpPr/>
          <p:nvPr/>
        </p:nvSpPr>
        <p:spPr>
          <a:xfrm>
            <a:off x="4443984" y="3456432"/>
            <a:ext cx="3538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81144" y="3529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Vienna (VDRC)  ·  UAS / RNAi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81144" y="3822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VDRC knockdown collection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47304" y="3456432"/>
            <a:ext cx="118872" cy="713232"/>
          </a:xfrm>
          <a:prstGeom prst="rect">
            <a:avLst/>
          </a:prstGeom>
          <a:solidFill>
            <a:srgbClr val="6B4FA0"/>
          </a:solidFill>
          <a:ln/>
        </p:spPr>
      </p:sp>
      <p:sp>
        <p:nvSpPr>
          <p:cNvPr id="39" name="Shape 37"/>
          <p:cNvSpPr/>
          <p:nvPr/>
        </p:nvSpPr>
        <p:spPr>
          <a:xfrm>
            <a:off x="8266176" y="3456432"/>
            <a:ext cx="3538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03336" y="35295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  ·  Allele / Insertion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403336" y="3822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Stock-center classical alleles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4315968"/>
            <a:ext cx="118872" cy="713232"/>
          </a:xfrm>
          <a:prstGeom prst="rect">
            <a:avLst/>
          </a:prstGeom>
          <a:solidFill>
            <a:srgbClr val="C2792B"/>
          </a:solidFill>
          <a:ln/>
        </p:spPr>
      </p:sp>
      <p:sp>
        <p:nvSpPr>
          <p:cNvPr id="43" name="Shape 41"/>
          <p:cNvSpPr/>
          <p:nvPr/>
        </p:nvSpPr>
        <p:spPr>
          <a:xfrm>
            <a:off x="621792" y="4315968"/>
            <a:ext cx="3538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" y="4389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 ·  Allele / Insertion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58952" y="46817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orderable centers (Kyoto, etc.)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25112" y="4315968"/>
            <a:ext cx="118872" cy="713232"/>
          </a:xfrm>
          <a:prstGeom prst="rect">
            <a:avLst/>
          </a:prstGeom>
          <a:solidFill>
            <a:srgbClr val="B2415A"/>
          </a:solidFill>
          <a:ln/>
        </p:spPr>
      </p:sp>
      <p:sp>
        <p:nvSpPr>
          <p:cNvPr id="47" name="Shape 45"/>
          <p:cNvSpPr/>
          <p:nvPr/>
        </p:nvSpPr>
        <p:spPr>
          <a:xfrm>
            <a:off x="4443984" y="4315968"/>
            <a:ext cx="3538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81144" y="4389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Non-Stock-Center  ·  UAS / RNAi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581144" y="46817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phenotype reagents (no FBst)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147304" y="4315968"/>
            <a:ext cx="118872" cy="713232"/>
          </a:xfrm>
          <a:prstGeom prst="rect">
            <a:avLst/>
          </a:prstGeom>
          <a:solidFill>
            <a:srgbClr val="4F7A2E"/>
          </a:solidFill>
          <a:ln/>
        </p:spPr>
      </p:sp>
      <p:sp>
        <p:nvSpPr>
          <p:cNvPr id="51" name="Shape 49"/>
          <p:cNvSpPr/>
          <p:nvPr/>
        </p:nvSpPr>
        <p:spPr>
          <a:xfrm>
            <a:off x="8266176" y="4315968"/>
            <a:ext cx="3538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03336" y="4389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Non-Stock-Center  ·  Allele / Insertion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403336" y="46817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phenotype reagents (no FBst)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 gate: </a:t>
            </a:r>
            <a:pPr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keeps only stocks with an associated phenotype. Sleep / circadian / rhythm / locomotor terms are used to flag literature-supported reagents.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input datasets at a glance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  <a:gridCol w="822960"/>
                <a:gridCol w="3657600"/>
                <a:gridCol w="2240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schema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vGAT screen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GABA gene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Bulk-seq vGAT hits (Aldeb)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list (5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BPD-GWAS orthologs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Bipolar GWAS, Nature 2025 S31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DIOPT ortholog (19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DIOPT Bellenguez/Lambert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Alzheimer's GWAS orthologs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DIOPT + stocks (36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Jordan VCM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candidate 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list (4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Slumber neuropeptides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neuropeptides/transmitters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list (4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Slumber RNAi candidates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RNAi candidates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list (4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Transcriptomics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CSW FC0.5 (7 tiers)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Sleep/wake cycling + correlation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Cycling + AI refs (31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CSW FC1 (4 tiers)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Sleep/wake cycling (stricter FC)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Cycling + AI refs (31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SleepHistory correlates (2)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+/- literature correlates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Lit. category (18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x Rebound overlaps (2)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Overlapping history/rebound 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Lit. category (14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Homeostatic genes 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homeostasis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list (4 col)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input tables in total. Gene counts shown as submitted; the transcriptomics run groups 16 frequency tiers under five dataset categories.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every generated workbook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2120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5179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workbook contains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2057400"/>
            <a:ext cx="91440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0116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1 – 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23042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priority bucket (color-coded above)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807208"/>
            <a:ext cx="91440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7614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6112" y="30540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publications per stock / allele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3557016"/>
            <a:ext cx="91440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5112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Phenotypic Stocks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6112" y="380390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union of phenotype-backed stocks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" y="4306824"/>
            <a:ext cx="91440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26110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6112" y="45537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rules + per-sheet count breakdown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52120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rule:  </a:t>
            </a:r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 is placed in the first bucket it qualifies for, so the six tables never double-count a stock.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97880" y="1371600"/>
            <a:ext cx="580644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08192" y="151790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(≈59 total), grouped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08192" y="2029968"/>
            <a:ext cx="146304" cy="146304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9751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22494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FBst, stock_number, collection, genotype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08192" y="2688336"/>
            <a:ext cx="146304" cy="146304"/>
          </a:xfrm>
          <a:prstGeom prst="oval">
            <a:avLst/>
          </a:prstGeom>
          <a:solidFill>
            <a:srgbClr val="1C6FB0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633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Reagent type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29077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RNAi, UAS, GAL4, mutant, sgRNA, custom_stock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08192" y="3346704"/>
            <a:ext cx="146304" cy="146304"/>
          </a:xfrm>
          <a:prstGeom prst="oval">
            <a:avLst/>
          </a:prstGeom>
          <a:solidFill>
            <a:srgbClr val="6B4FA0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/ allele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3566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gene_symbols, flybase_gene_ids, AlleleSymbol, class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08192" y="4005072"/>
            <a:ext cx="146304" cy="146304"/>
          </a:xfrm>
          <a:prstGeom prst="oval">
            <a:avLst/>
          </a:prstGeom>
          <a:solidFill>
            <a:srgbClr val="C2792B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9502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parts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42245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FBti / FBtp / FBal symbols + IDs, Balancers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08192" y="4663440"/>
            <a:ext cx="146304" cy="146304"/>
          </a:xfrm>
          <a:prstGeom prst="oval">
            <a:avLst/>
          </a:prstGeom>
          <a:solidFill>
            <a:srgbClr val="B2415A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46085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55080" y="48828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PMID, total_refs, sleep/circadian ref counts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08192" y="5321808"/>
            <a:ext cx="146304" cy="146304"/>
          </a:xfrm>
          <a:prstGeom prst="oval">
            <a:avLst/>
          </a:prstGeom>
          <a:solidFill>
            <a:srgbClr val="4F7A2E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52669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 + similarity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55080" y="55412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PHENOTYPE_RELEVANCE_SCORE, cosine similarities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 · VGAT SCREEN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GABA gene list (n = 140)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alleles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w/ stocks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50749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26700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2962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symbol list with FlyBase IDs and a source-dataset tag.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49300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submitted gene symbol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803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primary_symbol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current FlyBase symbol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31520" y="42611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flybase_gene_id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FBgn key used for matching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1520" y="46451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572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manual symbol fix (if any)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31520" y="5029200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4956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Set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source list (e.g. bottom-10% vGAT hits)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760720" y="2542032"/>
            <a:ext cx="59436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71032" y="2670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per priority bucket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3054096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2779776"/>
                <a:gridCol w="822960"/>
                <a:gridCol w="822960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Vienna (VDRC)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41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5971032" y="5596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Aldeb bulk-seq vGAT hits.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· PRIORITY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BPD-GWAS DIOPT orthologs (n = 168)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1485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alleles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w/ stocks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50749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26700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2962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bipolar-disorder GWAS genes mapped to fly orthologs via DIOPT.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49300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Human_Symbol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human GWAS gene (Nature 2025 S31)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803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fly ortholog symbol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31520" y="42611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flybase_gene_id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FBgn key used for matching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1520" y="46451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572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DIOPT_Score / Weighted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ortholog confidence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31520" y="5029200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4956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 / moderate / low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31520" y="541324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" y="53400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Derived From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supporting ortholog tools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5760720" y="2542032"/>
            <a:ext cx="59436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71032" y="2670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per priority bucket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3054096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2779776"/>
                <a:gridCol w="822960"/>
                <a:gridCol w="822960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Vienna (VDRC)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41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· PRIORITY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DIOPT Bellenguez/Lambert — Alzheimer's (n = 227)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2620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1767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alleles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w/ stocks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50749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26700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2962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GWAS orthologs (DIOPT) plus pre-pulled BDSC RNAi hints.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49300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Human.Symbol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human AD GWAS gene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803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primary_symbol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fly ortholog symbol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31520" y="42611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flybase_gene_id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FBgn key used for matching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1520" y="46451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572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DIOPT.Score / Rank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ortholog confidence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31520" y="5029200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4956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total_stock_count / BDSC_RNAi_stock_ids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pre-pulled stock hints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31520" y="541324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" y="53400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genotype_list / symbol_list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candidate RNAi genotypes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5760720" y="2542032"/>
            <a:ext cx="59436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71032" y="2670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per priority bucket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3054096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2779776"/>
                <a:gridCol w="822960"/>
                <a:gridCol w="822960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Vienna (VDRC)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41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· PRIORITY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Jordan VCM candidates (n = 35)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alleles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w/ stocks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50749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26700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2962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curated symbol-to-FBgn list (shared by the curated short-lists).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49300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submitted gene symbol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803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primary_symbol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current FlyBase symbol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31520" y="42611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flybase_gene_id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FBgn key used for matching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1520" y="46451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572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corrected_ext_gene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manual symbol fix (if any)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760720" y="2542032"/>
            <a:ext cx="59436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71032" y="2670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per priority bucket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3054096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2779776"/>
                <a:gridCol w="822960"/>
                <a:gridCol w="822960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Vienna (VDRC)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41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· PRIORITY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Slumber neuropeptides + transmitters (n = 33)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1156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alleles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w/ stocks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50749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26700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2962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curated symbol-to-FBgn list of neuropeptide / transmitter genes.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49300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submitted gene symbol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803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primary_symbol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current FlyBase symbol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31520" y="42611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flybase_gene_id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FBgn key used for matching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1520" y="46451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572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corrected_ext_gene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manual symbol fix (if any)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760720" y="2542032"/>
            <a:ext cx="59436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71032" y="2670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per priority bucket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3054096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2779776"/>
                <a:gridCol w="822960"/>
                <a:gridCol w="822960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Vienna (VDRC)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41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· PRIORITY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Slumber RNAi candidates (n = 16)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genes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alleles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1371600"/>
            <a:ext cx="26700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69680" y="204825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w/ stocks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50749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26700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" y="29626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curated symbol-to-FBgn list of RNAi candidate genes.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49300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submitted gene symbol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3803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primary_symbol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current FlyBase symbol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31520" y="42611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4187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flybase_gene_id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FBgn key used for matching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1520" y="46451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" y="4572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corrected_ext_gene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manual symbol fix (if any)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760720" y="2542032"/>
            <a:ext cx="59436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71032" y="26700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per priority bucket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3054096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"/>
                <a:gridCol w="2779776"/>
                <a:gridCol w="822960"/>
                <a:gridCol w="822960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bucket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F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Vienna (VDRC)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Bloomington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41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UAS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Non-Stock-Center  ·  Allele/Insertion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73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· TRANSCRIPTOMICS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CSW sleep/wake cycling sets (FC0.5 &amp; FC1)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074920" cy="4553712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4996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180136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Per-gene cycling + sleep/wake correlation metrics, with AI literature annotations (flai_*).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3957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 / 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fly gene + FBgn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31520" y="28895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816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/ is_cycling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cycling evidence + recurrence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31520" y="331012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2369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sleep_corr_exps / wake_corr_exps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correlated experiments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31520" y="37307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6576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MechSD3/6/12, THIP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per-condition statistics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31520" y="415137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078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flai_Category / flai_Confidence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sleep-wake call + confidence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31520" y="4572000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4988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flai_Supporting_Refs / flai_Ref_*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supporting publications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760720" y="1371600"/>
            <a:ext cx="5943600" cy="4553712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71032" y="149961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tiers (11)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1865376"/>
          <a:ext cx="5349240" cy="914400"/>
        </p:xfrm>
        <a:graphic>
          <a:graphicData uri="http://schemas.openxmlformats.org/drawingml/2006/table">
            <a:tbl>
              <a:tblPr/>
              <a:tblGrid>
                <a:gridCol w="443484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Gene-set table (tier)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FC0.5 Sleep freq 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FC0.5 Sleep freq 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FC0.5 Wake freq 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FC0.5 Wake freq 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FC0.5 Wake freq 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FC0.5 Wake freq 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FC0.5 Wake freq 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FC1 Sleep freq 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FC1 Wake freq 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FC1 Wake freq 3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FC1 Wake freq 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971032" y="55321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= recurrence frequency across experiments; higher tier = stronger / more reproducible signal.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 · TRANSCRIPTOMICS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SleepHistory correlates, overlaps &amp; homeostatic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074920" cy="4553712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4996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schema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180136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Literature-derived correlate sets; AI category / confidence / rationale per gene (per-axis for overlaps).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3957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ext_gene / flybase_gene_id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fly gene + FBgn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31520" y="2889504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816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Confidence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sleep-relevance call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31520" y="3310128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2369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short justification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31520" y="3730752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6576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Supporting_Refs / Ref_*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publications + metadata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31520" y="4151376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078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History_* / Rebound_*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per-axis calls (overlap sets)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31520" y="4572000"/>
            <a:ext cx="118872" cy="118872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4988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homeostatic set  </a:t>
            </a:r>
            <a:pPr indent="0" marL="0">
              <a:buNone/>
            </a:pPr>
            <a:r>
              <a:rPr lang="en-US" sz="98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simple symbol-to-FBgn list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760720" y="1371600"/>
            <a:ext cx="5943600" cy="4553712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71032" y="149961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Gene-set tables (5)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1032" y="1865376"/>
          <a:ext cx="5349240" cy="914400"/>
        </p:xfrm>
        <a:graphic>
          <a:graphicData uri="http://schemas.openxmlformats.org/drawingml/2006/table">
            <a:tbl>
              <a:tblPr/>
              <a:tblGrid>
                <a:gridCol w="443484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Gene-set table (tier)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(neg correlates)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(pos correlates)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History(neg) x Rebound(pos) overlap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History(pos) x Rebound(neg) overlap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homeostatic genes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971032" y="55321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tables across three categories; counts are gene-set sizes as submitted.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COUNTS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Targeted gene-list runs — totals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9893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49961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 / alleles per dataset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865376"/>
          <a:ext cx="557784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868680"/>
                <a:gridCol w="868680"/>
                <a:gridCol w="84124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 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vGAT — GABA gene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BPD-GWAS orthologs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DIOPT Bellenguez/Lambert (AD)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Jordan VCM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Slumber neuropeptides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Slumber RNAi candidates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targeted runs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1371600"/>
            <a:ext cx="50292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0" y="14996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organized per dataset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03720" y="20116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321040" y="2121408"/>
            <a:ext cx="1808362" cy="3291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0"/>
          <p:cNvSpPr/>
          <p:nvPr/>
        </p:nvSpPr>
        <p:spPr>
          <a:xfrm>
            <a:off x="10184266" y="20116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2,048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903720" y="25603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BPD-GWAS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321040" y="2670048"/>
            <a:ext cx="1441922" cy="3291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Text 13"/>
          <p:cNvSpPr/>
          <p:nvPr/>
        </p:nvSpPr>
        <p:spPr>
          <a:xfrm>
            <a:off x="9817826" y="25603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903720" y="31089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DIOPT AD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321040" y="3218688"/>
            <a:ext cx="2313432" cy="3291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Text 16"/>
          <p:cNvSpPr/>
          <p:nvPr/>
        </p:nvSpPr>
        <p:spPr>
          <a:xfrm>
            <a:off x="10689336" y="31089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2,620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03720" y="36576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321040" y="3767328"/>
            <a:ext cx="668423" cy="3291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Text 19"/>
          <p:cNvSpPr/>
          <p:nvPr/>
        </p:nvSpPr>
        <p:spPr>
          <a:xfrm>
            <a:off x="9044327" y="36576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757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903720" y="4206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Slumber NP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321040" y="4315968"/>
            <a:ext cx="1020736" cy="3291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2"/>
          <p:cNvSpPr/>
          <p:nvPr/>
        </p:nvSpPr>
        <p:spPr>
          <a:xfrm>
            <a:off x="9396640" y="4206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1,156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903720" y="4754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Slumber RNAi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321040" y="4864608"/>
            <a:ext cx="198673" cy="3291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8" name="Text 25"/>
          <p:cNvSpPr/>
          <p:nvPr/>
        </p:nvSpPr>
        <p:spPr>
          <a:xfrm>
            <a:off x="8574577" y="47548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02920" y="566928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are de-duplicated within each run (a stock is counted once across the six buckets).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COUNTS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Transcriptomics run — totals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813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gene-set tiers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1371600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14813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017520" y="2048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categories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2120" y="1371600"/>
            <a:ext cx="23774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32120" y="14813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5796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532120" y="2048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organized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514600"/>
            <a:ext cx="553212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26426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dataset category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2980944"/>
          <a:ext cx="51206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6868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CSW FC0.5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CSW FC1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Homeostatic genes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x Rebound overlaps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SleepHistory correlates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217920" y="2514600"/>
            <a:ext cx="548640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9AA6B2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00800" y="26426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priority bucket (all 16 tiers)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0" y="30632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· UAS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01000" y="3151022"/>
            <a:ext cx="599941" cy="263347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22" name="Text 19"/>
          <p:cNvSpPr/>
          <p:nvPr/>
        </p:nvSpPr>
        <p:spPr>
          <a:xfrm>
            <a:off x="8655805" y="306324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0" y="350215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Vienna · UAS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001000" y="3589934"/>
            <a:ext cx="1635945" cy="263347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25" name="Text 22"/>
          <p:cNvSpPr/>
          <p:nvPr/>
        </p:nvSpPr>
        <p:spPr>
          <a:xfrm>
            <a:off x="9691809" y="350215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1,148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0" y="394106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· Allele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001000" y="4028846"/>
            <a:ext cx="1777024" cy="263347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28" name="Text 25"/>
          <p:cNvSpPr/>
          <p:nvPr/>
        </p:nvSpPr>
        <p:spPr>
          <a:xfrm>
            <a:off x="9832888" y="394106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1,247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0" y="437997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Ctr · Allele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001000" y="4467758"/>
            <a:ext cx="666918" cy="263347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31" name="Text 28"/>
          <p:cNvSpPr/>
          <p:nvPr/>
        </p:nvSpPr>
        <p:spPr>
          <a:xfrm>
            <a:off x="8722782" y="43799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00800" y="4818888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Non-SC · UAS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001000" y="4906670"/>
            <a:ext cx="946226" cy="263347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34" name="Text 31"/>
          <p:cNvSpPr/>
          <p:nvPr/>
        </p:nvSpPr>
        <p:spPr>
          <a:xfrm>
            <a:off x="9002090" y="481888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400800" y="52578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Non-SC · Allele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001000" y="5345582"/>
            <a:ext cx="2633472" cy="263347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37" name="Text 34"/>
          <p:cNvSpPr/>
          <p:nvPr/>
        </p:nvSpPr>
        <p:spPr>
          <a:xfrm>
            <a:off x="10689336" y="525780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1,848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598932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Transcriptomics totals are summed across tiers; genes/alleles recur across tiers, so stocks are the headline metric.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example reagent from each category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rows from the GABA gene-list workbook (n=140) — every dataset follows the same six-table structure.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591056"/>
            <a:ext cx="128016" cy="15544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" y="1591056"/>
            <a:ext cx="540410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68249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 · UAS · Phenotype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195681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stocks in this bucket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95528" y="21762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FBst0600261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" y="23957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5528" y="26151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Act5C; Gat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" y="28346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y[1] w[1118]; P{w[+mC]=Act5C-GAL4}25FO1, P{w[+mC]=UAS-GFP.U}2/…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99632" y="1591056"/>
            <a:ext cx="128016" cy="1554480"/>
          </a:xfrm>
          <a:prstGeom prst="rect">
            <a:avLst/>
          </a:prstGeom>
          <a:solidFill>
            <a:srgbClr val="1C6FB0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7648" y="1591056"/>
            <a:ext cx="540410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68249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Vienna (VDRC) · UAS · Phenotype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95681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stocks in this bucket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92240" y="21762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FBst0479639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23957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6151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ATPsynCF6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28346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P{KK108581}VIE-260B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236976"/>
            <a:ext cx="128016" cy="1554480"/>
          </a:xfrm>
          <a:prstGeom prst="rect">
            <a:avLst/>
          </a:prstGeom>
          <a:solidFill>
            <a:srgbClr val="6B4FA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" y="3236976"/>
            <a:ext cx="540410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332841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 · Allele/Insertion · Phenotype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" y="360273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 stocks in this bucket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95528" y="38221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FBst0003954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" y="40416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5528" y="42611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Act5C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" y="44805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y[1] w[*]; P{w[+mC]=Act5C-GAL4}17bFO1/TM6B, Tb[1]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99632" y="3236976"/>
            <a:ext cx="128016" cy="1554480"/>
          </a:xfrm>
          <a:prstGeom prst="rect">
            <a:avLst/>
          </a:prstGeom>
          <a:solidFill>
            <a:srgbClr val="C2792B"/>
          </a:solidFill>
          <a:ln/>
        </p:spPr>
      </p:sp>
      <p:sp>
        <p:nvSpPr>
          <p:cNvPr id="32" name="Shape 30"/>
          <p:cNvSpPr/>
          <p:nvPr/>
        </p:nvSpPr>
        <p:spPr>
          <a:xfrm>
            <a:off x="6327648" y="3236976"/>
            <a:ext cx="540410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32841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· Allele/Insertion · Phenotype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360273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stocks in this bucket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92240" y="38221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FBst0306375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40416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Kyoto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42611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Act5C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44805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y[1] w[*]; P{w[+mC]=Act5C-GAL4}25FO1/CyO, y[+]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4882896"/>
            <a:ext cx="128016" cy="1554480"/>
          </a:xfrm>
          <a:prstGeom prst="rect">
            <a:avLst/>
          </a:prstGeom>
          <a:solidFill>
            <a:srgbClr val="B2415A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" y="4882896"/>
            <a:ext cx="540410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" y="497433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Non-Stock-Center · UAS · Phenotype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5528" y="524865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 stocks in this bucket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95528" y="54681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Scer\GAL4[Act5C.PU]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5528" y="56875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phenotype reagent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5528" y="590702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Act5C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95528" y="61264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Hsap\SOD1[UAS.cPa] Scer\GAL4[Act5C.PU]; Mmus\Prkaca[mC.UAS] Sc…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99632" y="4882896"/>
            <a:ext cx="128016" cy="1554480"/>
          </a:xfrm>
          <a:prstGeom prst="rect">
            <a:avLst/>
          </a:prstGeom>
          <a:solidFill>
            <a:srgbClr val="4F7A2E"/>
          </a:solidFill>
          <a:ln/>
        </p:spPr>
      </p:sp>
      <p:sp>
        <p:nvSpPr>
          <p:cNvPr id="48" name="Shape 46"/>
          <p:cNvSpPr/>
          <p:nvPr/>
        </p:nvSpPr>
        <p:spPr>
          <a:xfrm>
            <a:off x="6327648" y="4882896"/>
            <a:ext cx="5404104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497433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Non-Stock-Center · Allele/Insertion · Phenotype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92240" y="524865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 stocks in this bucket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92240" y="54681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Cep290[mecH]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92240" y="56875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phenotype reagent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92240" y="590702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Cep290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92240" y="61264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Genotype:  </a:t>
            </a:r>
            <a:pPr indent="0" marL="0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Cep290[mecH]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E0A13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tables give you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384048" cy="384048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43230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gene sets, one consistent format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7614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list becomes the same six prioritized, phenotype-filtered stock tables.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384048" cy="384048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30098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by orderability + reagent type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6301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 / Vienna / other centers first; UAS vs classical alleles separated; custom reagents last.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0"/>
            <a:ext cx="384048" cy="384048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literature relevance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498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/ circadian / rhythm / locomotor references and phenotype-similarity scores travel with each stock.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5074920"/>
            <a:ext cx="384048" cy="384048"/>
          </a:xfrm>
          <a:prstGeom prst="oval">
            <a:avLst/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503834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8,300+ phenotype-backed stocks organized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5367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filter down to an orderable shortlist per gene.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Allada Lab  ·  FlyBase Reagent Stocker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20095" y="6547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FlyBase Reagent Stocker — Generated Stock Tables</dc:title>
  <dc:subject>PptxGenJS Presentation</dc:subject>
  <dc:creator>Allada Lab</dc:creator>
  <cp:lastModifiedBy>Allada Lab</cp:lastModifiedBy>
  <cp:revision>1</cp:revision>
  <dcterms:created xsi:type="dcterms:W3CDTF">2026-06-15T19:41:31Z</dcterms:created>
  <dcterms:modified xsi:type="dcterms:W3CDTF">2026-06-15T19:41:31Z</dcterms:modified>
</cp:coreProperties>
</file>