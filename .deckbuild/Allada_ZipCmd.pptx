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 REAGENT STOCKER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Stock Tables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Drosophila reagent tables across three input runs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gene-set tables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runs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buckets / 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8,300+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325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organized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Dr. Ravi Allada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TABLES ARE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gene list to six prioritized stock tables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 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GWAS / transcriptomics list of fly genes (FBgn)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82112" y="17373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47288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78808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0168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stocks + alleles, constructs, phenotypes, references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91656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23176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tier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74536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reagent type, phenotype &amp; sleep-term relevance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70848" y="17373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336024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00616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50061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67544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priority tables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18904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stock lands in the first bucket it qualifies for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06324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priority buckets (applied top-to-bottom; a stock appears in only one)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18872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" y="3456432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29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 ·  UAS / RNAi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Stock-center, overexpression / knockdown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5112" y="3456432"/>
            <a:ext cx="118872" cy="713232"/>
          </a:xfrm>
          <a:prstGeom prst="rect">
            <a:avLst/>
          </a:prstGeom>
          <a:solidFill>
            <a:srgbClr val="1C6FB0"/>
          </a:solidFill>
          <a:ln/>
        </p:spPr>
      </p:sp>
      <p:sp>
        <p:nvSpPr>
          <p:cNvPr id="35" name="Shape 33"/>
          <p:cNvSpPr/>
          <p:nvPr/>
        </p:nvSpPr>
        <p:spPr>
          <a:xfrm>
            <a:off x="4443984" y="3456432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529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(VDRC)  ·  UAS / RNAi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81144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VDRC knockdown collection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47304" y="3456432"/>
            <a:ext cx="118872" cy="713232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39" name="Shape 37"/>
          <p:cNvSpPr/>
          <p:nvPr/>
        </p:nvSpPr>
        <p:spPr>
          <a:xfrm>
            <a:off x="8266176" y="3456432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03336" y="3529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 ·  Allele / Insertion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403336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Stock-center classical alleles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4315968"/>
            <a:ext cx="118872" cy="713232"/>
          </a:xfrm>
          <a:prstGeom prst="rect">
            <a:avLst/>
          </a:prstGeom>
          <a:solidFill>
            <a:srgbClr val="C279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792" y="4315968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 ·  Allele / Insertion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58952" y="4681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orderable centers (Kyoto, etc.)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25112" y="4315968"/>
            <a:ext cx="118872" cy="713232"/>
          </a:xfrm>
          <a:prstGeom prst="rect">
            <a:avLst/>
          </a:prstGeom>
          <a:solidFill>
            <a:srgbClr val="B2415A"/>
          </a:solidFill>
          <a:ln/>
        </p:spPr>
      </p:sp>
      <p:sp>
        <p:nvSpPr>
          <p:cNvPr id="47" name="Shape 45"/>
          <p:cNvSpPr/>
          <p:nvPr/>
        </p:nvSpPr>
        <p:spPr>
          <a:xfrm>
            <a:off x="4443984" y="4315968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 ·  UAS / RNAi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81144" y="4681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reagents (no FBst)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47304" y="4315968"/>
            <a:ext cx="118872" cy="713232"/>
          </a:xfrm>
          <a:prstGeom prst="rect">
            <a:avLst/>
          </a:prstGeom>
          <a:solidFill>
            <a:srgbClr val="4F7A2E"/>
          </a:solidFill>
          <a:ln/>
        </p:spPr>
      </p:sp>
      <p:sp>
        <p:nvSpPr>
          <p:cNvPr id="51" name="Shape 49"/>
          <p:cNvSpPr/>
          <p:nvPr/>
        </p:nvSpPr>
        <p:spPr>
          <a:xfrm>
            <a:off x="8266176" y="4315968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03336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 ·  Allele / Insertion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403336" y="4681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reagents (no FBst)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gate: </a:t>
            </a:r>
            <a:pPr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keeps only stocks with an associated phenotype. Sleep / circadian / rhythm / locomotor terms are used to flag literature-supported reagents.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 datasets at a glance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822960"/>
                <a:gridCol w="3657600"/>
                <a:gridCol w="2240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vGAT 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GABA gene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Bulk-seq vGAT hits (Aldeb)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list (5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BPD-GWAS orthologs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Bipolar GWAS, Nature 2025 S31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ortholog (19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Bellenguez/Lambert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Alzheimer's GWAS orthologs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+ stocks (36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VCM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candidate 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neuropeptides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neuropeptides/transmitters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RNAi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RNAi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Transcriptomics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FC0.5 (7 tiers)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Sleep/wake cycling +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Cycling + AI refs (31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FC1 (4 tiers)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Sleep/wake cycling (stricter FC)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Cycling + AI refs (31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SleepHistory correlates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+/- literature correlates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Lit. category (18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x Rebound overlaps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history/rebound 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Lit. category (14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Homeostatic genes 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homeostasis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input tables in total. Gene counts shown as submitted; the transcriptomics run groups 16 frequency tiers under five dataset categories.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every generated workbook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17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workbook contains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011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 – 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23042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priority bucket (color-coded above)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807208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61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054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publications per stock / allele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557016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112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Phenotypic Stocks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38039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union of phenotype-backed stocks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4306824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2611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45537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rules + per-sheet count breakdown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5212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rule: 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is placed in the first bucket it qualifies for, so the six tables never double-count a stock.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1371600"/>
            <a:ext cx="58064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08192" y="1517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(≈59 total), grouped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08192" y="2029968"/>
            <a:ext cx="146304" cy="146304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975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2494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FBst, stock_number, collection, genotype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8192" y="2688336"/>
            <a:ext cx="146304" cy="146304"/>
          </a:xfrm>
          <a:prstGeom prst="oval">
            <a:avLst/>
          </a:prstGeom>
          <a:solidFill>
            <a:srgbClr val="1C6FB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9077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RNAi, UAS, GAL4, mutant, sgRNA, custom_stock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08192" y="3346704"/>
            <a:ext cx="146304" cy="146304"/>
          </a:xfrm>
          <a:prstGeom prst="oval">
            <a:avLst/>
          </a:prstGeom>
          <a:solidFill>
            <a:srgbClr val="6B4FA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allele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566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gene_symbols, flybase_gene_ids, AlleleSymbol, class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08192" y="4005072"/>
            <a:ext cx="146304" cy="146304"/>
          </a:xfrm>
          <a:prstGeom prst="oval">
            <a:avLst/>
          </a:prstGeom>
          <a:solidFill>
            <a:srgbClr val="C27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950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parts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4224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FBti / FBtp / FBal symbols + IDs, Balancers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08192" y="4663440"/>
            <a:ext cx="146304" cy="146304"/>
          </a:xfrm>
          <a:prstGeom prst="oval">
            <a:avLst/>
          </a:prstGeom>
          <a:solidFill>
            <a:srgbClr val="B2415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608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4882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PMID, total_refs, sleep/circadian ref counts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08192" y="5321808"/>
            <a:ext cx="146304" cy="146304"/>
          </a:xfrm>
          <a:prstGeom prst="oval">
            <a:avLst/>
          </a:prstGeom>
          <a:solidFill>
            <a:srgbClr val="4F7A2E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5266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+ similarity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55412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PHENOTYPE_RELEVANCE_SCORE, cosine similarities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· VGAT SCREEN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GABA gene list (n = 140)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symbol list with FlyBase IDs and a source-dataset tag.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56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 list (e.g. bottom-10% vGAT hits)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5971032" y="5596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Aldeb bulk-seq vGAT hits.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BPD-GWAS DIOPT orthologs (n = 168)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bipolar-disorder GWAS genes mapped to fly orthologs via DIOPT.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GWAS gene (Nature 2025 S31)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ortholog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DIOPT_Score / Weighted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ortholog confidence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56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/ moderate / low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31520" y="541324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Derived From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supporting ortholog tools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DIOPT Bellenguez/Lambert — Alzheimer's (n = 227)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1767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GWAS orthologs (DIOPT) plus pre-pulled BDSC RNAi hints.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Human.Symbol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AD GWAS gene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ortholog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DIOPT.Score / Rank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ortholog confidence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56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total_stock_count / BDSC_RNAi_stock_ids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pre-pulled stock hints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31520" y="541324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genotype_list / symbol_list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candidate RNAi genotypes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 VCM candidates (n = 35)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curated symbol-to-FBgn list (shared by the curated short-lists).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Slumber neuropeptides + transmitters (n = 33)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curated symbol-to-FBgn list of neuropeptide / transmitter genes.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Slumber RNAi candidates (n = 16)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curated symbol-to-FBgn list of RNAi candidate genes.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· TRANSCRIPTOMICS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CSW sleep/wake cycling sets (FC0.5 &amp; FC1)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7492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Per-gene cycling + sleep/wake correlation metrics, with AI literature annotations (flai_*).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3957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/ 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gene + FBgn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28895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/ is_cycling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cycling evidence + recurrence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36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sleep_corr_exps / wake_corr_exps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correlated experiments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7307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657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MechSD3/6/12, THIP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per-condition statistics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415137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078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flai_Category / flai_Confidence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sleep-wake call + confidence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498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flai_Supporting_Refs / flai_Ref_*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supporting publications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760720" y="1371600"/>
            <a:ext cx="594360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71032" y="14996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tiers (11)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1865376"/>
          <a:ext cx="5349240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Gene-set table (tier)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Sleep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Sleep freq 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Sleep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Wake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Wake freq 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Wake freq 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971032" y="5532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= recurrence frequency across experiments; higher tier = stronger / more reproducible signal.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· TRANSCRIPTOMICS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SleepHistory correlates, overlaps &amp; homeostatic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7492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Literature-derived correlate sets; AI category / confidence / rationale per gene (per-axis for overlaps).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3957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/ 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gene + FBgn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28895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Confidence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sleep-relevance call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36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short justification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7307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657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Supporting_Refs / Ref_*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publications + metadata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415137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078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History_* / Rebound_*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per-axis calls (overlap sets)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498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homeostatic set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simple symbol-to-FBgn list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760720" y="1371600"/>
            <a:ext cx="594360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71032" y="14996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Gene-set tables (5)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1865376"/>
          <a:ext cx="5349240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Gene-set table (tier)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(neg correlates)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(pos correlates)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History(neg) x Rebound(pos) overlap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History(pos) x Rebound(neg) overlap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homeostatic genes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971032" y="5532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across three categories; counts are gene-set sizes as submitted.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COUNTS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gene-list runs — totals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9893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996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 / alleles per dataset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865376"/>
          <a:ext cx="55778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868680"/>
                <a:gridCol w="868680"/>
                <a:gridCol w="84124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 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vGAT — GABA gene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BPD-GWAS orthologs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Bellenguez/Lambert (AD)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VCM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neuropeptides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RNAi candidates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targeted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137160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0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organized per dataset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20116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321040" y="2121408"/>
            <a:ext cx="1808362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10184266" y="20116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0372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BPD-GWAS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321040" y="2670048"/>
            <a:ext cx="1441922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/>
          <p:nvPr/>
        </p:nvSpPr>
        <p:spPr>
          <a:xfrm>
            <a:off x="9817826" y="25603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0372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 AD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21040" y="3218688"/>
            <a:ext cx="2313432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10689336" y="3108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03720" y="36576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321040" y="3767328"/>
            <a:ext cx="668423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19"/>
          <p:cNvSpPr/>
          <p:nvPr/>
        </p:nvSpPr>
        <p:spPr>
          <a:xfrm>
            <a:off x="9044327" y="3657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903720" y="4206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Slumber NP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4315968"/>
            <a:ext cx="1020736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2"/>
          <p:cNvSpPr/>
          <p:nvPr/>
        </p:nvSpPr>
        <p:spPr>
          <a:xfrm>
            <a:off x="939664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1,156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03720" y="4754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Slumber RNAi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321040" y="4864608"/>
            <a:ext cx="198673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5"/>
          <p:cNvSpPr/>
          <p:nvPr/>
        </p:nvSpPr>
        <p:spPr>
          <a:xfrm>
            <a:off x="8574577" y="47548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566928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de-duplicated within each run (a stock is counted once across the six buckets).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COUNTS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Transcriptomics run — totals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gene-set tiers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1752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categories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3716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5796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3212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organized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55321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2642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dataset category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980944"/>
          <a:ext cx="51206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6868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Homeostatic genes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x Rebound overlaps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SleepHistory correlates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217920" y="2514600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2642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 bucket (all 16 tiers)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0" y="30632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· UAS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01000" y="3151022"/>
            <a:ext cx="599941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22" name="Text 19"/>
          <p:cNvSpPr/>
          <p:nvPr/>
        </p:nvSpPr>
        <p:spPr>
          <a:xfrm>
            <a:off x="8655805" y="30632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350215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· UAS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01000" y="3589934"/>
            <a:ext cx="1635945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25" name="Text 22"/>
          <p:cNvSpPr/>
          <p:nvPr/>
        </p:nvSpPr>
        <p:spPr>
          <a:xfrm>
            <a:off x="9691809" y="350215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394106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· Allele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001000" y="4028846"/>
            <a:ext cx="1777024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28" name="Text 25"/>
          <p:cNvSpPr/>
          <p:nvPr/>
        </p:nvSpPr>
        <p:spPr>
          <a:xfrm>
            <a:off x="9832888" y="39410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437997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Ctr · Allele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01000" y="4467758"/>
            <a:ext cx="666918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31" name="Text 28"/>
          <p:cNvSpPr/>
          <p:nvPr/>
        </p:nvSpPr>
        <p:spPr>
          <a:xfrm>
            <a:off x="8722782" y="43799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0" y="48188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Non-SC · UAS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001000" y="4906670"/>
            <a:ext cx="946226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34" name="Text 31"/>
          <p:cNvSpPr/>
          <p:nvPr/>
        </p:nvSpPr>
        <p:spPr>
          <a:xfrm>
            <a:off x="9002090" y="481888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0" y="52578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Non-SC · Allele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001000" y="5345582"/>
            <a:ext cx="2633472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37" name="Text 34"/>
          <p:cNvSpPr/>
          <p:nvPr/>
        </p:nvSpPr>
        <p:spPr>
          <a:xfrm>
            <a:off x="10689336" y="52578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59893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Transcriptomics totals are summed across tiers; genes/alleles recur across tiers, so stocks are the headline metric.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example reagent from each category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rows from the GABA gene-list workbook (n=140) — every dataset follows the same six-table structure.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91056"/>
            <a:ext cx="12801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159105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6824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· UAS · Phenotype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19568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stocks in this bucket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" y="21762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FBst0600261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23957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" y="26151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Act5C; Gat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2834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y[1] w[1118]; P{w[+mC]=Act5C-GAL4}25FO1, P{w[+mC]=UAS-GFP.U}2/…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9632" y="1591056"/>
            <a:ext cx="128016" cy="1554480"/>
          </a:xfrm>
          <a:prstGeom prst="rect">
            <a:avLst/>
          </a:prstGeom>
          <a:solidFill>
            <a:srgbClr val="1C6FB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159105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824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(VDRC) · UAS · Phenotype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9568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stocks in this bucket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21762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FBst0479639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3957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6151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ATPsynCF6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P{KK108581}VIE-260B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236976"/>
            <a:ext cx="128016" cy="1554480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" y="323697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3284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· Allele/Insertion · Phenotype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36027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stocks in this bucket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5528" y="3822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FBst0003954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" y="40416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" y="4261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" y="4480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y[1] w[*]; P{w[+mC]=Act5C-GAL4}17bFO1/TM6B, Tb[1]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3236976"/>
            <a:ext cx="128016" cy="1554480"/>
          </a:xfrm>
          <a:prstGeom prst="rect">
            <a:avLst/>
          </a:prstGeom>
          <a:solidFill>
            <a:srgbClr val="C27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27648" y="323697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3284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· Allele/Insertion · Phenotype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6027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stocks in this bucket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3822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FBst0306375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0416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261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4480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y[1] w[*]; P{w[+mC]=Act5C-GAL4}25FO1/CyO, y[+]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882896"/>
            <a:ext cx="128016" cy="1554480"/>
          </a:xfrm>
          <a:prstGeom prst="rect">
            <a:avLst/>
          </a:prstGeom>
          <a:solidFill>
            <a:srgbClr val="B2415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" y="488289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" y="49743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· UAS · Phenotype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" y="524865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stocks in this bucket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" y="54681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Scer\GAL4[Act5C.PU]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" y="56875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5528" y="59070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5528" y="6126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Hsap\SOD1[UAS.cPa] Scer\GAL4[Act5C.PU]; Mmus\Prkaca[mC.UAS] Sc…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99632" y="4882896"/>
            <a:ext cx="128016" cy="1554480"/>
          </a:xfrm>
          <a:prstGeom prst="rect">
            <a:avLst/>
          </a:prstGeom>
          <a:solidFill>
            <a:srgbClr val="4F7A2E"/>
          </a:solidFill>
          <a:ln/>
        </p:spPr>
      </p:sp>
      <p:sp>
        <p:nvSpPr>
          <p:cNvPr id="48" name="Shape 46"/>
          <p:cNvSpPr/>
          <p:nvPr/>
        </p:nvSpPr>
        <p:spPr>
          <a:xfrm>
            <a:off x="6327648" y="488289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9743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· Allele/Insertion · Phenotype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92240" y="524865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stocks in this bucket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92240" y="54681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Cep290[mecH]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92240" y="56875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92240" y="59070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Cep290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6126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Cep290[mecH]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tables give you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gene sets, one consistent format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7614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list becomes the same six prioritized, phenotype-filtered stock tables.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30098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by orderability + reagent 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630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/ Vienna / other centers first; UAS vs classical alleles separated; custom reagents last.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literature relevance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circadian / rhythm / locomotor references and phenotype-similarity scores travel with each stock.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03834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8,300+ phenotype-backed stocks organized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367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filter down to an orderable shortlist per gene.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FlyBase Reagent Stocker — Generated Stock Tables</dc:title>
  <dc:subject>PptxGenJS Presentation</dc:subject>
  <dc:creator>Allada Lab</dc:creator>
  <cp:lastModifiedBy>Allada Lab</cp:lastModifiedBy>
  <cp:revision>1</cp:revision>
  <dcterms:created xsi:type="dcterms:W3CDTF">2026-06-15T19:41:31Z</dcterms:created>
  <dcterms:modified xsi:type="dcterms:W3CDTF">2026-06-15T19:41:31Z</dcterms:modified>
</cp:coreProperties>
</file>