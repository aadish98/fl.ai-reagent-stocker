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255600" cy="685764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255960" y="0"/>
            <a:ext cx="72720" cy="6857640"/>
          </a:xfrm>
          <a:prstGeom prst="rect">
            <a:avLst/>
          </a:prstGeom>
          <a:solidFill>
            <a:srgbClr val="E0A1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 2"/>
          <p:cNvSpPr/>
          <p:nvPr/>
        </p:nvSpPr>
        <p:spPr>
          <a:xfrm>
            <a:off x="914400" y="1234440"/>
            <a:ext cx="10058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00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TX-OMICS FOLLOW-UP v3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ext 3"/>
          <p:cNvSpPr/>
          <p:nvPr/>
        </p:nvSpPr>
        <p:spPr>
          <a:xfrm>
            <a:off x="868680" y="1691640"/>
            <a:ext cx="10606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Gene Set Breakdown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Text 4"/>
          <p:cNvSpPr/>
          <p:nvPr/>
        </p:nvSpPr>
        <p:spPr>
          <a:xfrm>
            <a:off x="914400" y="2697480"/>
            <a:ext cx="10240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7D2DE"/>
                </a:solidFill>
                <a:effectLst/>
                <a:uFillTx/>
                <a:latin typeface="Calibri"/>
                <a:ea typeface="Calibri"/>
              </a:rPr>
              <a:t>Shared transcriptomic responses to sleep–wake manipulations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5"/>
          <p:cNvSpPr/>
          <p:nvPr/>
        </p:nvSpPr>
        <p:spPr>
          <a:xfrm>
            <a:off x="914400" y="315468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Rosensweig, Shah et al. · bioRxiv 2026.02.28.708752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14400" y="4160520"/>
            <a:ext cx="2422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0A13A"/>
                </a:solidFill>
                <a:effectLst/>
                <a:uFillTx/>
                <a:latin typeface="Georgia"/>
                <a:ea typeface="Georgia"/>
              </a:rPr>
              <a:t>17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14400" y="468180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7D2DE"/>
                </a:solidFill>
                <a:effectLst/>
                <a:uFillTx/>
                <a:latin typeface="Calibri"/>
                <a:ea typeface="Calibri"/>
              </a:rPr>
              <a:t>gene-set tiers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520440" y="4160520"/>
            <a:ext cx="2422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0A13A"/>
                </a:solidFill>
                <a:effectLst/>
                <a:uFillTx/>
                <a:latin typeface="Georgia"/>
                <a:ea typeface="Georgia"/>
              </a:rPr>
              <a:t>1162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520440" y="468180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7D2DE"/>
                </a:solidFill>
                <a:effectLst/>
                <a:uFillTx/>
                <a:latin typeface="Calibri"/>
                <a:ea typeface="Calibri"/>
              </a:rPr>
              <a:t>genes (tier sum)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126480" y="4160520"/>
            <a:ext cx="2422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0A13A"/>
                </a:solidFill>
                <a:effectLst/>
                <a:uFillTx/>
                <a:latin typeface="Georgia"/>
                <a:ea typeface="Georgia"/>
              </a:rPr>
              <a:t>2,694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126480" y="468180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7D2DE"/>
                </a:solidFill>
                <a:effectLst/>
                <a:uFillTx/>
                <a:latin typeface="Calibri"/>
                <a:ea typeface="Calibri"/>
              </a:rPr>
              <a:t>FlyBase stocks mapped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732520" y="4160520"/>
            <a:ext cx="24228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0A13A"/>
                </a:solidFill>
                <a:effectLst/>
                <a:uFillTx/>
                <a:latin typeface="Georgia"/>
                <a:ea typeface="Georgia"/>
              </a:rPr>
              <a:t>6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732520" y="468180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7D2DE"/>
                </a:solidFill>
                <a:effectLst/>
                <a:uFillTx/>
                <a:latin typeface="Calibri"/>
                <a:ea typeface="Calibri"/>
              </a:rPr>
              <a:t>homeostatic core + 19 screen candidates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914400" y="598932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Prepared for Dr. Ravi Allada · July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BIOLOGICAL FRAMING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Why these gene sets exist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502920" y="1417320"/>
            <a:ext cx="11155320" cy="13255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502920" y="1417320"/>
            <a:ext cx="109440" cy="132552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777240" y="15271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Question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777240" y="185616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Is there a homeostatic “sleeper” gene battery—analogous to per for circadian timing—that tracks sleep–wake history across diverse manipulations?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502920" y="2926080"/>
            <a:ext cx="11155320" cy="13255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502920" y="2926080"/>
            <a:ext cx="109440" cy="1325520"/>
          </a:xfrm>
          <a:prstGeom prst="rect">
            <a:avLst/>
          </a:prstGeom>
          <a:solidFill>
            <a:srgbClr val="1C6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777240" y="30358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C6FB0"/>
                </a:solidFill>
                <a:effectLst/>
                <a:uFillTx/>
                <a:latin typeface="Calibri"/>
                <a:ea typeface="Calibri"/>
              </a:rPr>
              <a:t>Approach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777240" y="336492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Brain transcriptomics across 7 datasets: mechanical SD, thermo/optogenetic activation, THIP, and baseline cycling. Genes ranked by fold-change consistency (FC ≥ 0.5 or ≥ 1) and cross-dataset frequency.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502920" y="4434840"/>
            <a:ext cx="11155320" cy="132552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502920" y="4434840"/>
            <a:ext cx="109440" cy="1325520"/>
          </a:xfrm>
          <a:prstGeom prst="rect">
            <a:avLst/>
          </a:prstGeom>
          <a:solidFill>
            <a:srgbClr val="6B4F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777240" y="454464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4FA0"/>
                </a:solidFill>
                <a:effectLst/>
                <a:uFillTx/>
                <a:latin typeface="Calibri"/>
                <a:ea typeface="Calibri"/>
              </a:rPr>
              <a:t>This deck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777240" y="487368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17 tiered CSV gene lists in Breakdown/, each with per-set FlyBase stock workbooks. Sets move from broad rebound tiers → history correlates → curated mechanistic priorities.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10820160" y="654696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2 /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ORGANIZATION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Six logical categories · 17 gene-set files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502920" y="1353240"/>
            <a:ext cx="5577480" cy="141696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5"/>
          <p:cNvSpPr/>
          <p:nvPr/>
        </p:nvSpPr>
        <p:spPr>
          <a:xfrm>
            <a:off x="667440" y="1554480"/>
            <a:ext cx="383760" cy="383760"/>
          </a:xfr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667440" y="1554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1161360" y="151776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5233B"/>
                </a:solidFill>
                <a:effectLst/>
                <a:uFillTx/>
                <a:latin typeface="Calibri"/>
                <a:ea typeface="Calibri"/>
              </a:rPr>
              <a:t>FC0.5 · Sleep rebound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1161360" y="182880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2 tiers · 141 genes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704160" y="215784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Genes consistently up/down with sleep rebound (log₂FC ≥ 0.5) across manipulations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0"/>
          <p:cNvSpPr/>
          <p:nvPr/>
        </p:nvSpPr>
        <p:spPr>
          <a:xfrm>
            <a:off x="6309360" y="1353240"/>
            <a:ext cx="5577480" cy="141696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1"/>
          <p:cNvSpPr/>
          <p:nvPr/>
        </p:nvSpPr>
        <p:spPr>
          <a:xfrm>
            <a:off x="6473880" y="1554480"/>
            <a:ext cx="383760" cy="383760"/>
          </a:xfrm>
          <a:solidFill>
            <a:srgbClr val="1C6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2"/>
          <p:cNvSpPr/>
          <p:nvPr/>
        </p:nvSpPr>
        <p:spPr>
          <a:xfrm>
            <a:off x="6473880" y="1554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6967800" y="151776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5233B"/>
                </a:solidFill>
                <a:effectLst/>
                <a:uFillTx/>
                <a:latin typeface="Calibri"/>
                <a:ea typeface="Calibri"/>
              </a:rPr>
              <a:t>FC0.5 · Wake rebound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4"/>
          <p:cNvSpPr/>
          <p:nvPr/>
        </p:nvSpPr>
        <p:spPr>
          <a:xfrm>
            <a:off x="6967800" y="182880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5 tiers · 647 genes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6510600" y="215784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Wake-enriched rebound responders; largest tiered collection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6"/>
          <p:cNvSpPr/>
          <p:nvPr/>
        </p:nvSpPr>
        <p:spPr>
          <a:xfrm>
            <a:off x="502920" y="2926080"/>
            <a:ext cx="5577480" cy="141696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7"/>
          <p:cNvSpPr/>
          <p:nvPr/>
        </p:nvSpPr>
        <p:spPr>
          <a:xfrm>
            <a:off x="667440" y="3127320"/>
            <a:ext cx="383760" cy="383760"/>
          </a:xfrm>
          <a:solidFill>
            <a:srgbClr val="6B4F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8"/>
          <p:cNvSpPr/>
          <p:nvPr/>
        </p:nvSpPr>
        <p:spPr>
          <a:xfrm>
            <a:off x="667440" y="3127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1161360" y="309060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5233B"/>
                </a:solidFill>
                <a:effectLst/>
                <a:uFillTx/>
                <a:latin typeface="Calibri"/>
                <a:ea typeface="Calibri"/>
              </a:rPr>
              <a:t>FC1 · Sleep / Wake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0"/>
          <p:cNvSpPr/>
          <p:nvPr/>
        </p:nvSpPr>
        <p:spPr>
          <a:xfrm>
            <a:off x="1161360" y="340164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4 tiers · 114 genes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1"/>
          <p:cNvSpPr/>
          <p:nvPr/>
        </p:nvSpPr>
        <p:spPr>
          <a:xfrm>
            <a:off x="704160" y="373068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Stricter FC ≥ 1 filter — higher-confidence, smaller lists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2"/>
          <p:cNvSpPr/>
          <p:nvPr/>
        </p:nvSpPr>
        <p:spPr>
          <a:xfrm>
            <a:off x="6309360" y="2926080"/>
            <a:ext cx="5577480" cy="141696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3"/>
          <p:cNvSpPr/>
          <p:nvPr/>
        </p:nvSpPr>
        <p:spPr>
          <a:xfrm>
            <a:off x="6473880" y="3127320"/>
            <a:ext cx="383760" cy="383760"/>
          </a:xfrm>
          <a:solidFill>
            <a:srgbClr val="C27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4"/>
          <p:cNvSpPr/>
          <p:nvPr/>
        </p:nvSpPr>
        <p:spPr>
          <a:xfrm>
            <a:off x="6473880" y="3127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6967800" y="309060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5233B"/>
                </a:solidFill>
                <a:effectLst/>
                <a:uFillTx/>
                <a:latin typeface="Calibri"/>
                <a:ea typeface="Calibri"/>
              </a:rPr>
              <a:t>Sleep history correlates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6"/>
          <p:cNvSpPr/>
          <p:nvPr/>
        </p:nvSpPr>
        <p:spPr>
          <a:xfrm>
            <a:off x="6967800" y="340164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2 sets · 215 genes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7"/>
          <p:cNvSpPr/>
          <p:nvPr/>
        </p:nvSpPr>
        <p:spPr>
          <a:xfrm>
            <a:off x="6510600" y="373068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Expression tracks prior sleep/wake history (± literature via fl.ai)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8"/>
          <p:cNvSpPr/>
          <p:nvPr/>
        </p:nvSpPr>
        <p:spPr>
          <a:xfrm>
            <a:off x="502920" y="4498920"/>
            <a:ext cx="5577480" cy="141696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9"/>
          <p:cNvSpPr/>
          <p:nvPr/>
        </p:nvSpPr>
        <p:spPr>
          <a:xfrm>
            <a:off x="667440" y="4700160"/>
            <a:ext cx="383760" cy="383760"/>
          </a:xfrm>
          <a:solidFill>
            <a:srgbClr val="B241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0"/>
          <p:cNvSpPr/>
          <p:nvPr/>
        </p:nvSpPr>
        <p:spPr>
          <a:xfrm>
            <a:off x="667440" y="4700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1"/>
          <p:cNvSpPr/>
          <p:nvPr/>
        </p:nvSpPr>
        <p:spPr>
          <a:xfrm>
            <a:off x="1161360" y="466344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5233B"/>
                </a:solidFill>
                <a:effectLst/>
                <a:uFillTx/>
                <a:latin typeface="Calibri"/>
                <a:ea typeface="Calibri"/>
              </a:rPr>
              <a:t>History × Rebound overlap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2"/>
          <p:cNvSpPr/>
          <p:nvPr/>
        </p:nvSpPr>
        <p:spPr>
          <a:xfrm>
            <a:off x="1161360" y="497448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2 sets · 20 genes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3"/>
          <p:cNvSpPr/>
          <p:nvPr/>
        </p:nvSpPr>
        <p:spPr>
          <a:xfrm>
            <a:off x="704160" y="530352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Dual homeostatic signature: history correlate ∩ rebound responder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4"/>
          <p:cNvSpPr/>
          <p:nvPr/>
        </p:nvSpPr>
        <p:spPr>
          <a:xfrm>
            <a:off x="6309360" y="4498920"/>
            <a:ext cx="5577480" cy="141696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5"/>
          <p:cNvSpPr/>
          <p:nvPr/>
        </p:nvSpPr>
        <p:spPr>
          <a:xfrm>
            <a:off x="6473880" y="4700160"/>
            <a:ext cx="383760" cy="383760"/>
          </a:xfrm>
          <a:solidFill>
            <a:srgbClr val="4F7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6"/>
          <p:cNvSpPr/>
          <p:nvPr/>
        </p:nvSpPr>
        <p:spPr>
          <a:xfrm>
            <a:off x="6473880" y="4700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7"/>
          <p:cNvSpPr/>
          <p:nvPr/>
        </p:nvSpPr>
        <p:spPr>
          <a:xfrm>
            <a:off x="6967800" y="466344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5233B"/>
                </a:solidFill>
                <a:effectLst/>
                <a:uFillTx/>
                <a:latin typeface="Calibri"/>
                <a:ea typeface="Calibri"/>
              </a:rPr>
              <a:t>Curated priorities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8"/>
          <p:cNvSpPr/>
          <p:nvPr/>
        </p:nvSpPr>
        <p:spPr>
          <a:xfrm>
            <a:off x="6967800" y="497448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2 sets · 25 genes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9"/>
          <p:cNvSpPr/>
          <p:nvPr/>
        </p:nvSpPr>
        <p:spPr>
          <a:xfrm>
            <a:off x="6510600" y="5303520"/>
            <a:ext cx="5166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6-gene homeostatic core + 19 mechanistic screen candidates (nsyb/elav)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0"/>
          <p:cNvSpPr/>
          <p:nvPr/>
        </p:nvSpPr>
        <p:spPr>
          <a:xfrm>
            <a:off x="502920" y="598932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Frequency tiers (freq 2–6): number of datasets in which a gene passes the FC threshold — higher freq = more robust.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1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2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3"/>
          <p:cNvSpPr/>
          <p:nvPr/>
        </p:nvSpPr>
        <p:spPr>
          <a:xfrm>
            <a:off x="10820160" y="654696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3 /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REBOUND TIERS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Consistent sleep/wake responders by FC threshold &amp; frequency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502920" y="1353240"/>
            <a:ext cx="5486040" cy="443448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713160" y="148140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5233B"/>
                </a:solidFill>
                <a:effectLst/>
                <a:uFillTx/>
                <a:latin typeface="Calibri"/>
                <a:ea typeface="Calibri"/>
              </a:rPr>
              <a:t>FC0.5 · genes per frequency tier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713160" y="187452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Sleep freq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1947600" y="1951200"/>
            <a:ext cx="3181680" cy="23004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5184720" y="187452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135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713160" y="225864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Sleep freq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1947600" y="2335320"/>
            <a:ext cx="141120" cy="23004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2143800" y="225864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713160" y="324612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Wake freq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3"/>
          <p:cNvSpPr/>
          <p:nvPr/>
        </p:nvSpPr>
        <p:spPr>
          <a:xfrm>
            <a:off x="1947600" y="3322800"/>
            <a:ext cx="3181680" cy="230040"/>
          </a:xfrm>
          <a:prstGeom prst="rect">
            <a:avLst/>
          </a:prstGeom>
          <a:solidFill>
            <a:srgbClr val="1C6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5184720" y="324612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353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713160" y="363024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Wake freq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6"/>
          <p:cNvSpPr/>
          <p:nvPr/>
        </p:nvSpPr>
        <p:spPr>
          <a:xfrm>
            <a:off x="1947600" y="3706920"/>
            <a:ext cx="1775520" cy="230040"/>
          </a:xfrm>
          <a:prstGeom prst="rect">
            <a:avLst/>
          </a:prstGeom>
          <a:solidFill>
            <a:srgbClr val="1C6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3778560" y="363024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197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8"/>
          <p:cNvSpPr/>
          <p:nvPr/>
        </p:nvSpPr>
        <p:spPr>
          <a:xfrm>
            <a:off x="713160" y="401436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Wake freq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9"/>
          <p:cNvSpPr/>
          <p:nvPr/>
        </p:nvSpPr>
        <p:spPr>
          <a:xfrm>
            <a:off x="1947600" y="4091040"/>
            <a:ext cx="738720" cy="230040"/>
          </a:xfrm>
          <a:prstGeom prst="rect">
            <a:avLst/>
          </a:prstGeom>
          <a:solidFill>
            <a:srgbClr val="1C6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2741760" y="401436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82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1"/>
          <p:cNvSpPr/>
          <p:nvPr/>
        </p:nvSpPr>
        <p:spPr>
          <a:xfrm>
            <a:off x="713160" y="439812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Wake freq 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2"/>
          <p:cNvSpPr/>
          <p:nvPr/>
        </p:nvSpPr>
        <p:spPr>
          <a:xfrm>
            <a:off x="1947600" y="4475160"/>
            <a:ext cx="126000" cy="230040"/>
          </a:xfrm>
          <a:prstGeom prst="rect">
            <a:avLst/>
          </a:prstGeom>
          <a:solidFill>
            <a:srgbClr val="1C6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3"/>
          <p:cNvSpPr/>
          <p:nvPr/>
        </p:nvSpPr>
        <p:spPr>
          <a:xfrm>
            <a:off x="2128680" y="439812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4"/>
          <p:cNvSpPr/>
          <p:nvPr/>
        </p:nvSpPr>
        <p:spPr>
          <a:xfrm>
            <a:off x="713160" y="4782240"/>
            <a:ext cx="1142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Wake freq 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5"/>
          <p:cNvSpPr/>
          <p:nvPr/>
        </p:nvSpPr>
        <p:spPr>
          <a:xfrm>
            <a:off x="1947600" y="4859280"/>
            <a:ext cx="45360" cy="230040"/>
          </a:xfrm>
          <a:prstGeom prst="rect">
            <a:avLst/>
          </a:prstGeom>
          <a:solidFill>
            <a:srgbClr val="1C6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6"/>
          <p:cNvSpPr/>
          <p:nvPr/>
        </p:nvSpPr>
        <p:spPr>
          <a:xfrm>
            <a:off x="2048400" y="4782240"/>
            <a:ext cx="502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7"/>
          <p:cNvSpPr/>
          <p:nvPr/>
        </p:nvSpPr>
        <p:spPr>
          <a:xfrm>
            <a:off x="6172200" y="1353240"/>
            <a:ext cx="5486040" cy="443448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8"/>
          <p:cNvSpPr/>
          <p:nvPr/>
        </p:nvSpPr>
        <p:spPr>
          <a:xfrm>
            <a:off x="6382440" y="148140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5233B"/>
                </a:solidFill>
                <a:effectLst/>
                <a:uFillTx/>
                <a:latin typeface="Calibri"/>
                <a:ea typeface="Calibri"/>
              </a:rPr>
              <a:t>FC1 (stricter) · all tiers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1" name="Table 0"/>
          <p:cNvGraphicFramePr/>
          <p:nvPr/>
        </p:nvGraphicFramePr>
        <p:xfrm>
          <a:off x="6382440" y="1874520"/>
          <a:ext cx="3931560" cy="17370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1097280"/>
              </a:tblGrid>
              <a:tr h="34740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Tier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Genes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Stocks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</a:tr>
              <a:tr h="34740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Wake · freq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Sleep · freq 2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34740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Wake · freq 3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26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Wake · freq 4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112" name="Text 29"/>
          <p:cNvSpPr/>
          <p:nvPr/>
        </p:nvSpPr>
        <p:spPr>
          <a:xfrm>
            <a:off x="502920" y="598932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5233B"/>
                </a:solidFill>
                <a:effectLst/>
                <a:uFillTx/>
                <a:latin typeface="Calibri"/>
                <a:ea typeface="Calibri"/>
              </a:rPr>
              <a:t>Key pattern: </a:t>
            </a: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Wake rebound sets dominate at FC0.5 (353 genes at freq 2 alone). Stricter FC1 collapses to 114 genes — useful for high-confidence follow-up.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0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1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2"/>
          <p:cNvSpPr/>
          <p:nvPr/>
        </p:nvSpPr>
        <p:spPr>
          <a:xfrm>
            <a:off x="10820160" y="654696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4 /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HISTORY &amp; OVERLAP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Homeostatic signatures beyond raw rebound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502920" y="1371600"/>
            <a:ext cx="5348880" cy="21484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502920" y="1508760"/>
            <a:ext cx="5348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E7C7B"/>
                </a:solidFill>
                <a:effectLst/>
                <a:uFillTx/>
                <a:latin typeface="Georgia"/>
                <a:ea typeface="Georgia"/>
              </a:rPr>
              <a:t>215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502920" y="2075760"/>
            <a:ext cx="5348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history-correlate genes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713160" y="2606040"/>
            <a:ext cx="4937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Pos correlates (n=149): genes whose expression rises with prior wake.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Neg correlates (n=66): genes tracking prior sleep.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8"/>
          <p:cNvSpPr/>
          <p:nvPr/>
        </p:nvSpPr>
        <p:spPr>
          <a:xfrm>
            <a:off x="6080760" y="1371600"/>
            <a:ext cx="5577480" cy="21484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6080760" y="1508760"/>
            <a:ext cx="5577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0A13A"/>
                </a:solidFill>
                <a:effectLst/>
                <a:uFillTx/>
                <a:latin typeface="Georgia"/>
                <a:ea typeface="Georgia"/>
              </a:rPr>
              <a:t>20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0"/>
          <p:cNvSpPr/>
          <p:nvPr/>
        </p:nvSpPr>
        <p:spPr>
          <a:xfrm>
            <a:off x="6080760" y="2075760"/>
            <a:ext cx="5577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overlap genes (dual signature)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6291000" y="2606040"/>
            <a:ext cx="5120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History(−) × Rebound(+) → 5 genes (e.g. CG9377)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History(+) × Rebound(−) → 15 genes (e.g. AstA-R2, Mip pathway)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2"/>
          <p:cNvSpPr/>
          <p:nvPr/>
        </p:nvSpPr>
        <p:spPr>
          <a:xfrm>
            <a:off x="502920" y="3703320"/>
            <a:ext cx="11155320" cy="19656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713160" y="3822120"/>
            <a:ext cx="10515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5233B"/>
                </a:solidFill>
                <a:effectLst/>
                <a:uFillTx/>
                <a:latin typeface="Calibri"/>
                <a:ea typeface="Calibri"/>
              </a:rPr>
              <a:t>Interpretation for mechanistic follow-up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4"/>
          <p:cNvSpPr/>
          <p:nvPr/>
        </p:nvSpPr>
        <p:spPr>
          <a:xfrm>
            <a:off x="713160" y="4160520"/>
            <a:ext cx="105152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A37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Overlap sets enrich for genes with opposing history vs. rebound dynamics — prime homeostatic regulators.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A37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fl.ai literature categories (sleep / circadian / both) annotate each gene; high-confidence overlaps feed the mechanistic screen list.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A37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Per-gene CSVs include cycling status, manipulation correlations (MechSD, TrpA1, THIP), and PMC-backed rationales.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5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6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7"/>
          <p:cNvSpPr/>
          <p:nvPr/>
        </p:nvSpPr>
        <p:spPr>
          <a:xfrm>
            <a:off x="10820160" y="654696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5 /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CURATED PRIORITIES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Homeostatic core + mechanistic screen candidates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4"/>
          <p:cNvSpPr/>
          <p:nvPr/>
        </p:nvSpPr>
        <p:spPr>
          <a:xfrm>
            <a:off x="502920" y="1353240"/>
            <a:ext cx="3657240" cy="44802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713160" y="148140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233B"/>
                </a:solidFill>
                <a:effectLst/>
                <a:uFillTx/>
                <a:latin typeface="Calibri"/>
                <a:ea typeface="Calibri"/>
              </a:rPr>
              <a:t>6-gene homeostatic core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713160" y="187452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E7C7B"/>
                </a:solidFill>
                <a:effectLst/>
                <a:uFillTx/>
                <a:latin typeface="Calibri"/>
                <a:ea typeface="Calibri"/>
              </a:rPr>
              <a:t>unc79 · SIFa · rumpel · AstA-R2 · Trhn · RpL23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713160" y="2423160"/>
            <a:ext cx="3200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NALCN channel auxiliaries, neuropeptide signaling, glial transport, serotonin biosynthesis, ribosome biogenesis — convergent homeostatic biology.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713160" y="3520440"/>
            <a:ext cx="3200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0A13A"/>
                </a:solidFill>
                <a:effectLst/>
                <a:uFillTx/>
                <a:latin typeface="Georgia"/>
                <a:ea typeface="Georgia"/>
              </a:rPr>
              <a:t>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713160" y="4087440"/>
            <a:ext cx="3200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FlyBase stocks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0"/>
          <p:cNvSpPr/>
          <p:nvPr/>
        </p:nvSpPr>
        <p:spPr>
          <a:xfrm>
            <a:off x="4343400" y="1353240"/>
            <a:ext cx="7314840" cy="448020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4553640" y="148140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5233B"/>
                </a:solidFill>
                <a:effectLst/>
                <a:uFillTx/>
                <a:latin typeface="Calibri"/>
                <a:ea typeface="Calibri"/>
              </a:rPr>
              <a:t>Top mechanistic screen candidates (nsyb-GAL4 / elav-GAL4)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6" name="Table 0"/>
          <p:cNvGraphicFramePr/>
          <p:nvPr/>
        </p:nvGraphicFramePr>
        <p:xfrm>
          <a:off x="4553640" y="1828800"/>
          <a:ext cx="5166000" cy="3318840"/>
        </p:xfrm>
        <a:graphic>
          <a:graphicData uri="http://schemas.openxmlformats.org/drawingml/2006/table">
            <a:tbl>
              <a:tblPr/>
              <a:tblGrid>
                <a:gridCol w="320040"/>
                <a:gridCol w="777240"/>
                <a:gridCol w="3200400"/>
                <a:gridCol w="868680"/>
              </a:tblGrid>
              <a:tr h="301680"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#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Gene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Mechanism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Priority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5233B"/>
                    </a:solidFill>
                  </a:tcPr>
                </a:tc>
              </a:tr>
              <a:tr h="301680"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unc79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66738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Homeostatic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0E7C7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SIFa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66738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Homeostatic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0E7C7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301680"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rumpel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66738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Homeostatic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0E7C7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AstA-R2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66738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Homeostatic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0E7C7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301680"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Trhn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66738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Homeostatic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0E7C7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RpL23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66738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Homeostatic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0E7C7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301680"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na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66738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Homeostatic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0E7C7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unc80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66738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Homeostatic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0E7C7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  <a:tr h="301680"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BomBc2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66738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Immune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0E7C7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1F2A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Mip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667385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Neuropeptide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 lIns="25200" tIns="25200" r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0E7C7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200" marR="25200" marT="25200" marB="2520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147" name="Text 12"/>
          <p:cNvSpPr/>
          <p:nvPr/>
        </p:nvSpPr>
        <p:spPr>
          <a:xfrm>
            <a:off x="4553640" y="507492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Full ranked list: 19 genes · Tx-Omics_Mechanistic_Screen_Candidates_nsyb_elav.csv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3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10820160" y="654696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6 /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12191400" cy="1078560"/>
          </a:xfrm>
          <a:prstGeom prst="rect">
            <a:avLst/>
          </a:prstGeom>
          <a:solidFill>
            <a:srgbClr val="15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"/>
          <p:cNvSpPr/>
          <p:nvPr/>
        </p:nvSpPr>
        <p:spPr>
          <a:xfrm>
            <a:off x="0" y="1078920"/>
            <a:ext cx="12191400" cy="54360"/>
          </a:xfrm>
          <a:prstGeom prst="rect">
            <a:avLst/>
          </a:prstGeom>
          <a:solidFill>
            <a:srgbClr val="E0A1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502920" y="164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REAGENT COVERAGE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502920" y="40248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FlyBase stocks per gene-set tier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502920" y="1353240"/>
            <a:ext cx="6400440" cy="448020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713160" y="1481400"/>
            <a:ext cx="5943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5233B"/>
                </a:solidFill>
                <a:effectLst/>
                <a:uFillTx/>
                <a:latin typeface="Calibri"/>
                <a:ea typeface="Calibri"/>
              </a:rPr>
              <a:t>Largest tiers by stock count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713160" y="1874520"/>
            <a:ext cx="2468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FC0.5 Wake freq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7"/>
          <p:cNvSpPr/>
          <p:nvPr/>
        </p:nvSpPr>
        <p:spPr>
          <a:xfrm>
            <a:off x="3273480" y="1962360"/>
            <a:ext cx="2633040" cy="26316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5961960" y="1874520"/>
            <a:ext cx="639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760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713160" y="2313360"/>
            <a:ext cx="2468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FC0.5 Sleep freq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0"/>
          <p:cNvSpPr/>
          <p:nvPr/>
        </p:nvSpPr>
        <p:spPr>
          <a:xfrm>
            <a:off x="3273480" y="2401200"/>
            <a:ext cx="1566000" cy="26316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4894560" y="2313360"/>
            <a:ext cx="639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452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713160" y="2752200"/>
            <a:ext cx="2468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FC0.5 Wake freq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3"/>
          <p:cNvSpPr/>
          <p:nvPr/>
        </p:nvSpPr>
        <p:spPr>
          <a:xfrm>
            <a:off x="3273480" y="2840040"/>
            <a:ext cx="1520640" cy="26316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4849560" y="2752200"/>
            <a:ext cx="639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439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713160" y="3191400"/>
            <a:ext cx="2468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History (pos correlates)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6"/>
          <p:cNvSpPr/>
          <p:nvPr/>
        </p:nvSpPr>
        <p:spPr>
          <a:xfrm>
            <a:off x="3273480" y="3278880"/>
            <a:ext cx="1087560" cy="26316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7"/>
          <p:cNvSpPr/>
          <p:nvPr/>
        </p:nvSpPr>
        <p:spPr>
          <a:xfrm>
            <a:off x="4416480" y="3191400"/>
            <a:ext cx="639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314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8"/>
          <p:cNvSpPr/>
          <p:nvPr/>
        </p:nvSpPr>
        <p:spPr>
          <a:xfrm>
            <a:off x="713160" y="3630240"/>
            <a:ext cx="2468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FC0.5 Wake freq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9"/>
          <p:cNvSpPr/>
          <p:nvPr/>
        </p:nvSpPr>
        <p:spPr>
          <a:xfrm>
            <a:off x="3273480" y="3718080"/>
            <a:ext cx="613080" cy="26316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0"/>
          <p:cNvSpPr/>
          <p:nvPr/>
        </p:nvSpPr>
        <p:spPr>
          <a:xfrm>
            <a:off x="3941640" y="3630240"/>
            <a:ext cx="639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177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1"/>
          <p:cNvSpPr/>
          <p:nvPr/>
        </p:nvSpPr>
        <p:spPr>
          <a:xfrm>
            <a:off x="713160" y="4069080"/>
            <a:ext cx="2468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FC1 Wake freq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2"/>
          <p:cNvSpPr/>
          <p:nvPr/>
        </p:nvSpPr>
        <p:spPr>
          <a:xfrm>
            <a:off x="3273480" y="4156920"/>
            <a:ext cx="540360" cy="26316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3"/>
          <p:cNvSpPr/>
          <p:nvPr/>
        </p:nvSpPr>
        <p:spPr>
          <a:xfrm>
            <a:off x="3868920" y="4069080"/>
            <a:ext cx="639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156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4"/>
          <p:cNvSpPr/>
          <p:nvPr/>
        </p:nvSpPr>
        <p:spPr>
          <a:xfrm>
            <a:off x="713160" y="4507920"/>
            <a:ext cx="2468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History (neg correlates)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5"/>
          <p:cNvSpPr/>
          <p:nvPr/>
        </p:nvSpPr>
        <p:spPr>
          <a:xfrm>
            <a:off x="3273480" y="4595760"/>
            <a:ext cx="540360" cy="26316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6"/>
          <p:cNvSpPr/>
          <p:nvPr/>
        </p:nvSpPr>
        <p:spPr>
          <a:xfrm>
            <a:off x="3868920" y="4507920"/>
            <a:ext cx="639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156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7"/>
          <p:cNvSpPr/>
          <p:nvPr/>
        </p:nvSpPr>
        <p:spPr>
          <a:xfrm>
            <a:off x="713160" y="4946760"/>
            <a:ext cx="2468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Mechanistic Screen Candidate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8"/>
          <p:cNvSpPr/>
          <p:nvPr/>
        </p:nvSpPr>
        <p:spPr>
          <a:xfrm>
            <a:off x="3273480" y="5034600"/>
            <a:ext cx="207720" cy="263160"/>
          </a:xfrm>
          <a:prstGeom prst="rect">
            <a:avLst/>
          </a:prstGeom>
          <a:solidFill>
            <a:srgbClr val="0E7C7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9"/>
          <p:cNvSpPr/>
          <p:nvPr/>
        </p:nvSpPr>
        <p:spPr>
          <a:xfrm>
            <a:off x="3536280" y="4946760"/>
            <a:ext cx="639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F2A37"/>
                </a:solidFill>
                <a:effectLst/>
                <a:uFillTx/>
                <a:latin typeface="Calibri"/>
                <a:ea typeface="Calibri"/>
              </a:rPr>
              <a:t>60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0"/>
          <p:cNvSpPr/>
          <p:nvPr/>
        </p:nvSpPr>
        <p:spPr>
          <a:xfrm>
            <a:off x="7086600" y="1353240"/>
            <a:ext cx="4571640" cy="448020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algn="bl" blurRad="88920" dir="8100000" dist="37674" kx="0" ky="0" rotWithShape="0" sx="100000" sy="100000">
              <a:srgbClr val="9AA6B2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1"/>
          <p:cNvSpPr/>
          <p:nvPr/>
        </p:nvSpPr>
        <p:spPr>
          <a:xfrm>
            <a:off x="7269480" y="1691640"/>
            <a:ext cx="4205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0A13A"/>
                </a:solidFill>
                <a:effectLst/>
                <a:uFillTx/>
                <a:latin typeface="Georgia"/>
                <a:ea typeface="Georgia"/>
              </a:rPr>
              <a:t>2,694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2"/>
          <p:cNvSpPr/>
          <p:nvPr/>
        </p:nvSpPr>
        <p:spPr>
          <a:xfrm>
            <a:off x="7269480" y="2176200"/>
            <a:ext cx="4205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stocks across all tiers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3"/>
          <p:cNvSpPr/>
          <p:nvPr/>
        </p:nvSpPr>
        <p:spPr>
          <a:xfrm>
            <a:off x="7269480" y="2697480"/>
            <a:ext cx="4205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7C7B"/>
                </a:solidFill>
                <a:effectLst/>
                <a:uFillTx/>
                <a:latin typeface="Georgia"/>
                <a:ea typeface="Georgia"/>
              </a:rPr>
              <a:t>2,504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4"/>
          <p:cNvSpPr/>
          <p:nvPr/>
        </p:nvSpPr>
        <p:spPr>
          <a:xfrm>
            <a:off x="7269480" y="3182040"/>
            <a:ext cx="4205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alleles mapped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5"/>
          <p:cNvSpPr/>
          <p:nvPr/>
        </p:nvSpPr>
        <p:spPr>
          <a:xfrm>
            <a:off x="7269480" y="3840480"/>
            <a:ext cx="4205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Each tier → 6 priority stock tables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(Bloomington / VDRC RNAi, alleles, non-stock-center)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6"/>
          <p:cNvSpPr/>
          <p:nvPr/>
        </p:nvSpPr>
        <p:spPr>
          <a:xfrm>
            <a:off x="502920" y="598932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67385"/>
                </a:solidFill>
                <a:effectLst/>
                <a:uFillTx/>
                <a:latin typeface="Calibri"/>
                <a:ea typeface="Calibri"/>
              </a:rPr>
              <a:t>Workbooks live in Breakdown/Per Gene Set Runs/ · summary in combination_counts_summary.csv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7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8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Allada Lab  ·  FlyBase Reagent Stocker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9"/>
          <p:cNvSpPr/>
          <p:nvPr/>
        </p:nvSpPr>
        <p:spPr>
          <a:xfrm>
            <a:off x="10820160" y="654696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7 /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E0A1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685800" y="109728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Takeaways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"/>
          <p:cNvSpPr/>
          <p:nvPr/>
        </p:nvSpPr>
        <p:spPr>
          <a:xfrm>
            <a:off x="685800" y="1828800"/>
            <a:ext cx="105152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C7D2D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C7D2DE"/>
                </a:solidFill>
                <a:effectLst/>
                <a:uFillTx/>
                <a:latin typeface="Calibri"/>
                <a:ea typeface="Calibri"/>
              </a:rPr>
              <a:t>17 tiered gene lists span rebound consistency (FC0.5/FC1), sleep-history correlates, and dual-signature overlaps.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C7D2D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C7D2DE"/>
                </a:solidFill>
                <a:effectLst/>
                <a:uFillTx/>
                <a:latin typeface="Calibri"/>
                <a:ea typeface="Calibri"/>
              </a:rPr>
              <a:t>Frequency bins prioritize robust responders across 7 manipulation datasets — wake tiers are largest; FC1 narrows to high-confidence targets.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C7D2D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C7D2DE"/>
                </a:solidFill>
                <a:effectLst/>
                <a:uFillTx/>
                <a:latin typeface="Calibri"/>
                <a:ea typeface="Calibri"/>
              </a:rPr>
              <a:t>6-gene homeostatic core + 19 ranked mechanistic candidates are ready for nsyb/elav RNAi screening with mapped FlyBase reagents.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C7D2D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C7D2DE"/>
                </a:solidFill>
                <a:effectLst/>
                <a:uFillTx/>
                <a:latin typeface="Calibri"/>
                <a:ea typeface="Calibri"/>
              </a:rPr>
              <a:t>Next: prioritize overlap + high-freq FC1 wake genes for behavioral validation; stock tables are generated per tier.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685800" y="566928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data/gene_sets/Tx-Omics-FollowUp_v3/Breakdown/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4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1523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457200" y="654696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Allada Lab  ·  FlyBase Reagent Stocker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10820160" y="654696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CFCD"/>
                </a:solidFill>
                <a:effectLst/>
                <a:uFillTx/>
                <a:latin typeface="Calibri"/>
                <a:ea typeface="Calibri"/>
              </a:rPr>
              <a:t>8 / 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LibreOffice/26.2.2.2$MacOSX_AARCH64 LibreOffice_project/1f77d10d6938fd34972958f64b2bcfa54f8b1ba5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2026-07-06T19:34:08Z</dcterms:created>
  <dc:creator>Allada Lab</dc:creator>
  <dc:description/>
  <dc:language>en-US</dc:language>
  <cp:lastModifiedBy>Allada Lab</cp:lastModifiedBy>
  <dcterms:modified xsi:type="dcterms:W3CDTF">2026-07-06T19:34:08Z</dcterms:modified>
  <cp:revision>1</cp:revision>
  <dc:subject>PptxGenJS Presentation</dc:subject>
  <dc:title>Tx-Omics Follow-Up v3 — Gene Set Breakdown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